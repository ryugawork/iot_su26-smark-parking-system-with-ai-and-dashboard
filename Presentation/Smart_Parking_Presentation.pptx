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0" r:id="rId4"/>
    <p:sldId id="258" r:id="rId5"/>
    <p:sldId id="259" r:id="rId6"/>
    <p:sldId id="260" r:id="rId7"/>
    <p:sldId id="261" r:id="rId8"/>
    <p:sldId id="262" r:id="rId9"/>
    <p:sldId id="276" r:id="rId10"/>
    <p:sldId id="274" r:id="rId11"/>
    <p:sldId id="275" r:id="rId12"/>
    <p:sldId id="263" r:id="rId13"/>
    <p:sldId id="269" r:id="rId14"/>
    <p:sldId id="264" r:id="rId15"/>
    <p:sldId id="265" r:id="rId16"/>
    <p:sldId id="268" r:id="rId17"/>
    <p:sldId id="271" r:id="rId18"/>
    <p:sldId id="266" r:id="rId19"/>
    <p:sldId id="267" r:id="rId20"/>
    <p:sldId id="273" r:id="rId21"/>
    <p:sldId id="272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83" autoAdjust="0"/>
    <p:restoredTop sz="93083" autoAdjust="0"/>
  </p:normalViewPr>
  <p:slideViewPr>
    <p:cSldViewPr snapToGrid="0" snapToObjects="1">
      <p:cViewPr>
        <p:scale>
          <a:sx n="100" d="100"/>
          <a:sy n="100" d="100"/>
        </p:scale>
        <p:origin x="77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0260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07564-7012-DC00-6C0A-9B4CB004D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A9524-E6B9-4605-6448-9D28C57B24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75F81-A4AE-D9F4-50AE-01127533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1905D-A5CF-6D6C-4C4A-197B0140BD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314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66509-C7E3-E404-12A6-403823B72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19AE5-4F21-6312-64BA-73FAC0F05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93320-91FE-5174-A291-8E4DA969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025F31-3D77-D97C-98ED-9F83F975CB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028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9E349-6475-BAA3-8A55-03F1E9ACB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A26103-9BA2-0365-33E7-A5487A6CF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65CF2-32DF-E519-D2B3-39B7E8134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B76C7-AABB-F585-E714-2CBADBC702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802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AE299-EDF1-338A-6264-E3D15E1BF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BEABC-7694-2583-D33E-403BE7AB6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75BC9-CCF7-255A-1F20-60C6DFAD9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0BA75-C886-29BA-2772-6A569E836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3850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F452F-E252-68EE-0F69-9D334A85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99262-529F-3ED4-0656-30630D06B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B919B3-E244-9606-CD70-F07E501D8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56652-7239-2D4B-FF78-C3E0E94B02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526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A9C50-AA79-3502-EEFB-1020121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9AD7-D86F-8C7F-E18C-42BDB108B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E299F7-1DFB-9CB7-A576-2F11B0FC7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0B4A6-9957-27B8-DEC3-1D2AA9D168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72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B307-05DA-FA3B-238A-2208D9C8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07D863-74ED-227B-0A68-90E68A2C6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71262-FAF1-77D8-309B-0D551559C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2A0852-6879-A0DB-445D-AD2CB17ABF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6730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DF4BC-B121-3781-8081-AC569735B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49B0A-9C04-84D4-73A6-7143801037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E17A2-C641-4C91-3C7D-7AC0AFC70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FFF4B-342D-F286-2543-BD88BA3F7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2492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57DF-89C1-9A87-207E-47DDA4282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E1A0E-86B0-7BF7-6EA6-3B8B76FFE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0BC25-E59D-2AB3-ACAE-43BC347A6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53ADC-7782-ABC0-5673-DCEF40991F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601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F4119-8158-337A-A551-EB66BFEBA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3921D0-9A14-A23A-B6B7-C089807FC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FB8D62-963D-7682-ED91-90FFCC312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DD5F2-84A0-09F8-B279-7A55A9FD9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68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0584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Smart Parking System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Vehicle Detection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Barrier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3232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77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IoT102 Project – Group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13232" y="5532120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Members: </a:t>
            </a:r>
            <a:r>
              <a:rPr lang="en-US" sz="1250" b="1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Nguyễn Sỹ Minh Mẫn, Đỗ Thành Triết, Trần Đăng Khoa, Bùi Đình Long</a:t>
            </a:r>
            <a:endParaRPr lang="en-US" sz="1250" b="1" dirty="0"/>
          </a:p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Instructor: </a:t>
            </a:r>
            <a:r>
              <a:rPr lang="en-US" sz="1250" dirty="0"/>
              <a:t>Nguyễn </a:t>
            </a:r>
            <a:r>
              <a:rPr lang="en-US" sz="1250"/>
              <a:t>Đức Lợi – Class: SE2045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720840" y="960120"/>
            <a:ext cx="4663440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8209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/ BARRIER IMAGE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03720" y="32049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a clean image of a parking gate, barrier, or smart parking system.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626364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</a:t>
            </a:r>
            <a:endParaRPr lang="en-US" sz="900" dirty="0"/>
          </a:p>
        </p:txBody>
      </p:sp>
      <p:pic>
        <p:nvPicPr>
          <p:cNvPr id="9" name="Picture 8" descr="44,671 Vehicle Barriers Royalty-Free Images, Stock Photos ...">
            <a:extLst>
              <a:ext uri="{FF2B5EF4-FFF2-40B4-BE49-F238E27FC236}">
                <a16:creationId xmlns:a16="http://schemas.microsoft.com/office/drawing/2014/main" id="{34ABDC93-9FC1-DD5A-3C04-797647E789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593" b="7286"/>
          <a:stretch>
            <a:fillRect/>
          </a:stretch>
        </p:blipFill>
        <p:spPr>
          <a:xfrm>
            <a:off x="6782867" y="1005839"/>
            <a:ext cx="4526363" cy="40492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B7053D-E9B6-6809-7A1A-122AF571359F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B3E397-EE3F-D7D1-195F-6316A93A5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444019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Members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members and their main roles, sub roles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2/20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6F1882-743C-6DFB-2881-ABCEC2B96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16AD224E-A3C8-59E9-AF5D-EEC4F77DF3EC}"/>
              </a:ext>
            </a:extLst>
          </p:cNvPr>
          <p:cNvSpPr/>
          <p:nvPr/>
        </p:nvSpPr>
        <p:spPr>
          <a:xfrm>
            <a:off x="530352" y="6080760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Members: </a:t>
            </a:r>
            <a:r>
              <a:rPr lang="en-US" sz="1250" b="1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Nguyễn Sỹ Minh Mẫn, Đỗ Thành Triết, Trần Đăng Khoa, Bùi Đình Long</a:t>
            </a:r>
            <a:endParaRPr lang="en-US" sz="1250" b="1" dirty="0"/>
          </a:p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Instructor: </a:t>
            </a:r>
            <a:r>
              <a:rPr lang="en-US" sz="1250" dirty="0"/>
              <a:t>Nguyễn Đức Lợi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C1F5E9-FA58-3CD5-ECA8-ADC384D24066}"/>
              </a:ext>
            </a:extLst>
          </p:cNvPr>
          <p:cNvSpPr txBox="1"/>
          <p:nvPr/>
        </p:nvSpPr>
        <p:spPr>
          <a:xfrm>
            <a:off x="487680" y="1338212"/>
            <a:ext cx="575767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SE201643 Bùi </a:t>
            </a:r>
            <a:r>
              <a:rPr lang="en-US" b="1" dirty="0" err="1">
                <a:solidFill>
                  <a:srgbClr val="0070C0"/>
                </a:solidFill>
              </a:rPr>
              <a:t>Đình</a:t>
            </a:r>
            <a:r>
              <a:rPr lang="en-US" b="1" dirty="0">
                <a:solidFill>
                  <a:srgbClr val="0070C0"/>
                </a:solidFill>
              </a:rPr>
              <a:t> Long 	</a:t>
            </a:r>
          </a:p>
          <a:p>
            <a:pPr algn="r"/>
            <a:r>
              <a:rPr lang="en-US" i="1" dirty="0"/>
              <a:t>Hardware &amp; Arduino</a:t>
            </a:r>
          </a:p>
          <a:p>
            <a:pPr algn="r"/>
            <a:r>
              <a:rPr lang="en-US" i="1" dirty="0"/>
              <a:t>Report writing</a:t>
            </a:r>
          </a:p>
          <a:p>
            <a:endParaRPr lang="en-US" dirty="0"/>
          </a:p>
          <a:p>
            <a:r>
              <a:rPr lang="en-US" b="1" dirty="0"/>
              <a:t>SE201632 </a:t>
            </a:r>
            <a:r>
              <a:rPr lang="en-US" b="1" dirty="0" err="1"/>
              <a:t>Đỗ</a:t>
            </a:r>
            <a:r>
              <a:rPr lang="en-US" b="1" dirty="0"/>
              <a:t> Thanh </a:t>
            </a:r>
            <a:r>
              <a:rPr lang="en-US" b="1" dirty="0" err="1"/>
              <a:t>Triết</a:t>
            </a:r>
            <a:endParaRPr lang="en-US" b="1" dirty="0"/>
          </a:p>
          <a:p>
            <a:pPr algn="r"/>
            <a:r>
              <a:rPr lang="en-US" i="1" dirty="0"/>
              <a:t>Hardware &amp; Arduino</a:t>
            </a:r>
          </a:p>
          <a:p>
            <a:pPr algn="r"/>
            <a:r>
              <a:rPr lang="en-US" i="1" dirty="0"/>
              <a:t>Server &amp; Yolo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SE201631 Nguyễn </a:t>
            </a:r>
            <a:r>
              <a:rPr lang="en-US" b="1" dirty="0" err="1"/>
              <a:t>Sỹ</a:t>
            </a:r>
            <a:r>
              <a:rPr lang="en-US" b="1" dirty="0"/>
              <a:t> Minh Mẫn</a:t>
            </a:r>
          </a:p>
          <a:p>
            <a:pPr algn="r"/>
            <a:r>
              <a:rPr lang="en-US" i="1" dirty="0"/>
              <a:t>Web Dashboard &amp; SQL </a:t>
            </a:r>
          </a:p>
          <a:p>
            <a:pPr algn="r"/>
            <a:r>
              <a:rPr lang="en-US" i="1" dirty="0"/>
              <a:t>Server</a:t>
            </a:r>
          </a:p>
          <a:p>
            <a:pPr algn="r"/>
            <a:endParaRPr lang="en-US" dirty="0"/>
          </a:p>
          <a:p>
            <a:r>
              <a:rPr lang="en-US" b="1" dirty="0"/>
              <a:t>SE201635 </a:t>
            </a:r>
            <a:r>
              <a:rPr lang="en-US" b="1" dirty="0" err="1"/>
              <a:t>Trần</a:t>
            </a:r>
            <a:r>
              <a:rPr lang="en-US" b="1" dirty="0"/>
              <a:t> </a:t>
            </a:r>
            <a:r>
              <a:rPr lang="en-US" b="1" dirty="0" err="1"/>
              <a:t>Đăng</a:t>
            </a:r>
            <a:r>
              <a:rPr lang="en-US" b="1" dirty="0"/>
              <a:t> Khoa</a:t>
            </a:r>
          </a:p>
          <a:p>
            <a:pPr algn="r"/>
            <a:r>
              <a:rPr lang="en-US" i="1" dirty="0"/>
              <a:t>Web Dashboard &amp; SQL </a:t>
            </a:r>
          </a:p>
          <a:p>
            <a:pPr algn="r"/>
            <a:r>
              <a:rPr lang="en-US" i="1" dirty="0"/>
              <a:t>Report writing</a:t>
            </a:r>
          </a:p>
          <a:p>
            <a:endParaRPr lang="en-US" dirty="0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7DC5212C-AAB7-1F91-2CBE-DDFBA201EA9B}"/>
              </a:ext>
            </a:extLst>
          </p:cNvPr>
          <p:cNvSpPr/>
          <p:nvPr/>
        </p:nvSpPr>
        <p:spPr>
          <a:xfrm>
            <a:off x="6995160" y="1732788"/>
            <a:ext cx="4663440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D8DE1EEE-CC08-DC8B-45AB-3CAE47EA7AA9}"/>
              </a:ext>
            </a:extLst>
          </p:cNvPr>
          <p:cNvSpPr/>
          <p:nvPr/>
        </p:nvSpPr>
        <p:spPr>
          <a:xfrm>
            <a:off x="6858000" y="28209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/ BARRIER IMAGE</a:t>
            </a:r>
            <a:endParaRPr lang="en-US" sz="16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A42DD4DF-8574-CF58-2015-B3D574A63523}"/>
              </a:ext>
            </a:extLst>
          </p:cNvPr>
          <p:cNvSpPr/>
          <p:nvPr/>
        </p:nvSpPr>
        <p:spPr>
          <a:xfrm>
            <a:off x="6903720" y="32049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a clean image of a parking gate, barrier, or smart parking system.</a:t>
            </a:r>
            <a:endParaRPr lang="en-US" sz="1050" dirty="0"/>
          </a:p>
        </p:txBody>
      </p:sp>
      <p:pic>
        <p:nvPicPr>
          <p:cNvPr id="27" name="Picture 26" descr="44,671 Vehicle Barriers Royalty-Free Images, Stock Photos ...">
            <a:extLst>
              <a:ext uri="{FF2B5EF4-FFF2-40B4-BE49-F238E27FC236}">
                <a16:creationId xmlns:a16="http://schemas.microsoft.com/office/drawing/2014/main" id="{CAE73288-8493-B9EB-C403-711B18221F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593" b="7286"/>
          <a:stretch>
            <a:fillRect/>
          </a:stretch>
        </p:blipFill>
        <p:spPr>
          <a:xfrm>
            <a:off x="7057187" y="1778507"/>
            <a:ext cx="4526363" cy="4049239"/>
          </a:xfrm>
          <a:prstGeom prst="rect">
            <a:avLst/>
          </a:prstGeom>
        </p:spPr>
      </p:pic>
      <p:sp>
        <p:nvSpPr>
          <p:cNvPr id="28" name="Text 1">
            <a:extLst>
              <a:ext uri="{FF2B5EF4-FFF2-40B4-BE49-F238E27FC236}">
                <a16:creationId xmlns:a16="http://schemas.microsoft.com/office/drawing/2014/main" id="{325FDB6D-D0B2-4283-FA0E-B4C77689DB09}"/>
              </a:ext>
            </a:extLst>
          </p:cNvPr>
          <p:cNvSpPr/>
          <p:nvPr/>
        </p:nvSpPr>
        <p:spPr>
          <a:xfrm>
            <a:off x="4778807" y="1355174"/>
            <a:ext cx="2124913" cy="408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Main role &amp; sub role</a:t>
            </a:r>
            <a:endParaRPr lang="en-US" sz="1250" dirty="0"/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A1566CCE-831B-2156-F5CE-5F5FFBDA90F8}"/>
              </a:ext>
            </a:extLst>
          </p:cNvPr>
          <p:cNvSpPr/>
          <p:nvPr/>
        </p:nvSpPr>
        <p:spPr>
          <a:xfrm>
            <a:off x="6995160" y="131178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77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IoT102 Project – Group 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BD235-BA0D-5660-C591-E48628A5E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809201D-52AB-EB83-4196-A7D86AD49096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 / Problem Context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6DC3D2-AF50-7350-ACA1-2442C1C52840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is this system needed?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2DD7025-6C57-DD0E-39C2-F66CF77CC72A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F941954-B725-E012-2C52-2F9DEDCC552D}"/>
              </a:ext>
            </a:extLst>
          </p:cNvPr>
          <p:cNvSpPr/>
          <p:nvPr/>
        </p:nvSpPr>
        <p:spPr>
          <a:xfrm>
            <a:off x="777240" y="1508760"/>
            <a:ext cx="5394960" cy="3794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control is still mostly manual.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Entry and exit checking can be slow.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is limited.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records are difficult to manage.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and efficiency can be improved.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52A642-D180-C665-FA9D-5974BDABC184}"/>
              </a:ext>
            </a:extLst>
          </p:cNvPr>
          <p:cNvSpPr/>
          <p:nvPr/>
        </p:nvSpPr>
        <p:spPr>
          <a:xfrm>
            <a:off x="777240" y="55778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Therefore, a smart parking system is needed to automate detection, barrier control, and monitoring.</a:t>
            </a:r>
            <a:endParaRPr lang="en-US" sz="17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D9A2074-F1FD-EA9D-1886-81C5A671513E}"/>
              </a:ext>
            </a:extLst>
          </p:cNvPr>
          <p:cNvSpPr/>
          <p:nvPr/>
        </p:nvSpPr>
        <p:spPr>
          <a:xfrm>
            <a:off x="6492240" y="1417320"/>
            <a:ext cx="4983480" cy="379476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C3C23AB-9539-3160-95FB-1AB659FF3648}"/>
              </a:ext>
            </a:extLst>
          </p:cNvPr>
          <p:cNvSpPr/>
          <p:nvPr/>
        </p:nvSpPr>
        <p:spPr>
          <a:xfrm>
            <a:off x="6629400" y="309524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CONTEXT IMAGE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9B270D-3F34-B6D6-467F-714046F0C5B6}"/>
              </a:ext>
            </a:extLst>
          </p:cNvPr>
          <p:cNvSpPr/>
          <p:nvPr/>
        </p:nvSpPr>
        <p:spPr>
          <a:xfrm>
            <a:off x="6675120" y="347929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Example: crowded parking gate, manual checkpoint, or parking entrance.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D5EA1F9-F5AB-BBE6-1967-A03F09AB9A92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3/20</a:t>
            </a:r>
            <a:endParaRPr lang="en-US" sz="850" dirty="0"/>
          </a:p>
        </p:txBody>
      </p:sp>
      <p:pic>
        <p:nvPicPr>
          <p:cNvPr id="12" name="Picture 11" descr="TOP 10 BEST 24 Hour Parking Garage in Annapolis, MD - Updated 2026 -  Quality &amp; Affordability - Yelp">
            <a:extLst>
              <a:ext uri="{FF2B5EF4-FFF2-40B4-BE49-F238E27FC236}">
                <a16:creationId xmlns:a16="http://schemas.microsoft.com/office/drawing/2014/main" id="{99510C22-8209-62DC-E475-43D97A11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941"/>
          <a:stretch>
            <a:fillRect/>
          </a:stretch>
        </p:blipFill>
        <p:spPr>
          <a:xfrm>
            <a:off x="6572250" y="1508760"/>
            <a:ext cx="4842510" cy="36347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DEE5E7-CB53-47F5-9F59-26D76EB8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21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 of the Traditional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parking control creates operational and management problems.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Traditional System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checking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Delayed response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image verification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 record management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dashboard monitoring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Problems Caused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congestion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 error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Weak security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 to review incidents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Inefficient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Main message: the old system lacks automation, storage, and remote monitoring.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4/20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8B821E-CC90-C740-875D-2CB5EEC5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Objectives and Key 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can the proposed system do?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5/20</a:t>
            </a:r>
            <a:endParaRPr lang="en-US" sz="8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69D156-12D4-D183-F1A6-BDC036288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5D286DA-BFFC-5245-5801-6CEC019EBE5D}"/>
              </a:ext>
            </a:extLst>
          </p:cNvPr>
          <p:cNvSpPr txBox="1"/>
          <p:nvPr/>
        </p:nvSpPr>
        <p:spPr>
          <a:xfrm>
            <a:off x="457203" y="1681902"/>
            <a:ext cx="53277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</a:t>
            </a:r>
            <a:r>
              <a:rPr lang="en-US" b="1" dirty="0"/>
              <a:t>Small-scale public</a:t>
            </a:r>
            <a:r>
              <a:rPr lang="en-US" dirty="0"/>
              <a:t> parking areas.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Automate</a:t>
            </a:r>
            <a:r>
              <a:rPr lang="en-US" dirty="0"/>
              <a:t> vehicle detection and barrier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Improve</a:t>
            </a:r>
            <a:r>
              <a:rPr lang="en-US" dirty="0"/>
              <a:t> vehicle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</a:t>
            </a:r>
            <a:r>
              <a:rPr lang="en-US" b="1" dirty="0"/>
              <a:t>centralized</a:t>
            </a:r>
            <a:r>
              <a:rPr lang="en-US" dirty="0"/>
              <a:t>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Record</a:t>
            </a:r>
            <a:r>
              <a:rPr lang="en-US" dirty="0"/>
              <a:t> parking events</a:t>
            </a: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946E6C50-3982-1E63-B3DB-37949A5D6FCF}"/>
              </a:ext>
            </a:extLst>
          </p:cNvPr>
          <p:cNvSpPr/>
          <p:nvPr/>
        </p:nvSpPr>
        <p:spPr>
          <a:xfrm>
            <a:off x="777242" y="46310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1B51B44E-A899-DB14-EFFE-73D10948DF43}"/>
              </a:ext>
            </a:extLst>
          </p:cNvPr>
          <p:cNvSpPr/>
          <p:nvPr/>
        </p:nvSpPr>
        <p:spPr>
          <a:xfrm>
            <a:off x="777242" y="4921721"/>
            <a:ext cx="2971800" cy="91440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 vehicle by HC-SR04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image by ESP32-CAM</a:t>
            </a:r>
            <a:endParaRPr lang="en-US" sz="1800" dirty="0"/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E5D5988A-7E5C-4A5A-2543-0F83978A2CBD}"/>
              </a:ext>
            </a:extLst>
          </p:cNvPr>
          <p:cNvSpPr/>
          <p:nvPr/>
        </p:nvSpPr>
        <p:spPr>
          <a:xfrm>
            <a:off x="4023362" y="4612732"/>
            <a:ext cx="0" cy="1357503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FCF11B69-4A45-BE21-872D-A860EFD6EF6A}"/>
              </a:ext>
            </a:extLst>
          </p:cNvPr>
          <p:cNvSpPr/>
          <p:nvPr/>
        </p:nvSpPr>
        <p:spPr>
          <a:xfrm>
            <a:off x="4343402" y="46310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Processing</a:t>
            </a:r>
            <a:endParaRPr lang="en-US" sz="18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E79C004-4D41-7A1C-60C1-7D5F6992E8B1}"/>
              </a:ext>
            </a:extLst>
          </p:cNvPr>
          <p:cNvSpPr/>
          <p:nvPr/>
        </p:nvSpPr>
        <p:spPr>
          <a:xfrm>
            <a:off x="4343402" y="4868382"/>
            <a:ext cx="2971800" cy="93345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 image to YOLO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 OPEN/CLOSE decision</a:t>
            </a:r>
            <a:endParaRPr lang="en-US" sz="1800" dirty="0"/>
          </a:p>
        </p:txBody>
      </p:sp>
      <p:sp>
        <p:nvSpPr>
          <p:cNvPr id="50" name="Shape 8">
            <a:extLst>
              <a:ext uri="{FF2B5EF4-FFF2-40B4-BE49-F238E27FC236}">
                <a16:creationId xmlns:a16="http://schemas.microsoft.com/office/drawing/2014/main" id="{6580AB3D-9D73-D788-7FD1-BC6D7A27541D}"/>
              </a:ext>
            </a:extLst>
          </p:cNvPr>
          <p:cNvSpPr/>
          <p:nvPr/>
        </p:nvSpPr>
        <p:spPr>
          <a:xfrm>
            <a:off x="7589522" y="4612731"/>
            <a:ext cx="0" cy="1357503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2" name="Text 9">
            <a:extLst>
              <a:ext uri="{FF2B5EF4-FFF2-40B4-BE49-F238E27FC236}">
                <a16:creationId xmlns:a16="http://schemas.microsoft.com/office/drawing/2014/main" id="{4A6BA935-F62F-7AF3-B6F3-CB094563E815}"/>
              </a:ext>
            </a:extLst>
          </p:cNvPr>
          <p:cNvSpPr/>
          <p:nvPr/>
        </p:nvSpPr>
        <p:spPr>
          <a:xfrm>
            <a:off x="7909562" y="46310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54" name="Text 10">
            <a:extLst>
              <a:ext uri="{FF2B5EF4-FFF2-40B4-BE49-F238E27FC236}">
                <a16:creationId xmlns:a16="http://schemas.microsoft.com/office/drawing/2014/main" id="{CD783630-2746-5A9B-AE6B-E9482AE4F65F}"/>
              </a:ext>
            </a:extLst>
          </p:cNvPr>
          <p:cNvSpPr/>
          <p:nvPr/>
        </p:nvSpPr>
        <p:spPr>
          <a:xfrm>
            <a:off x="7818123" y="4866477"/>
            <a:ext cx="2971800" cy="85725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barrier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logs to SQL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 on dashboard</a:t>
            </a:r>
            <a:endParaRPr lang="en-US" sz="1800" dirty="0"/>
          </a:p>
        </p:txBody>
      </p:sp>
      <p:sp>
        <p:nvSpPr>
          <p:cNvPr id="56" name="Shape 11">
            <a:extLst>
              <a:ext uri="{FF2B5EF4-FFF2-40B4-BE49-F238E27FC236}">
                <a16:creationId xmlns:a16="http://schemas.microsoft.com/office/drawing/2014/main" id="{EE7F076A-8D6E-FD22-03FA-425AA7DE4461}"/>
              </a:ext>
            </a:extLst>
          </p:cNvPr>
          <p:cNvSpPr/>
          <p:nvPr/>
        </p:nvSpPr>
        <p:spPr>
          <a:xfrm>
            <a:off x="502919" y="6071200"/>
            <a:ext cx="11064243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Shape 2">
            <a:extLst>
              <a:ext uri="{FF2B5EF4-FFF2-40B4-BE49-F238E27FC236}">
                <a16:creationId xmlns:a16="http://schemas.microsoft.com/office/drawing/2014/main" id="{416DFF33-67B9-3C23-4511-5A65598DA2CC}"/>
              </a:ext>
            </a:extLst>
          </p:cNvPr>
          <p:cNvSpPr/>
          <p:nvPr/>
        </p:nvSpPr>
        <p:spPr>
          <a:xfrm>
            <a:off x="502919" y="4505177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5FF9EC7-AFAA-C4BA-C5C0-548D34D1AEE2}"/>
              </a:ext>
            </a:extLst>
          </p:cNvPr>
          <p:cNvSpPr/>
          <p:nvPr/>
        </p:nvSpPr>
        <p:spPr>
          <a:xfrm>
            <a:off x="530352" y="12752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Scope</a:t>
            </a: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223E-874D-502C-A25D-9A4103A2C64A}"/>
              </a:ext>
            </a:extLst>
          </p:cNvPr>
          <p:cNvSpPr txBox="1"/>
          <p:nvPr/>
        </p:nvSpPr>
        <p:spPr>
          <a:xfrm>
            <a:off x="6407021" y="1629522"/>
            <a:ext cx="60975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License plate recognition.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Parking-slot detection.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Reservation and payment.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Mobile application.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Real-world public deployment.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A70E5A2-DC35-8A58-C5BA-B80DC9FAA18F}"/>
              </a:ext>
            </a:extLst>
          </p:cNvPr>
          <p:cNvSpPr/>
          <p:nvPr/>
        </p:nvSpPr>
        <p:spPr>
          <a:xfrm>
            <a:off x="6505054" y="1308185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 of Scope</a:t>
            </a:r>
            <a:endParaRPr lang="en-US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Block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modules and communication paths.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533400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2" y="142196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Explanation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2" y="921759"/>
            <a:ext cx="3703320" cy="3383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Slave handles sensor and camera.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controls output devices.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I2C is used between Master and Slave.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UART is used between Slave and ESP32-CAM.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Servo opens/closes the barrier.</a:t>
            </a:r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LCD is used for debug only</a:t>
            </a:r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6/20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B7AA69-F7F5-B933-C4D5-A971A995E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45C479-0A2B-30D9-0AB0-33DF1017C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87220"/>
            <a:ext cx="5334000" cy="4586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ADE236-CC22-0E2C-A386-90A7BBD482A5}"/>
              </a:ext>
            </a:extLst>
          </p:cNvPr>
          <p:cNvSpPr txBox="1"/>
          <p:nvPr/>
        </p:nvSpPr>
        <p:spPr>
          <a:xfrm>
            <a:off x="6202680" y="4419340"/>
            <a:ext cx="54559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SzPct val="100000"/>
            </a:pPr>
            <a:r>
              <a:rPr lang="en-US" sz="1600" dirty="0"/>
              <a:t>Arduino Slave handles </a:t>
            </a:r>
            <a:r>
              <a:rPr lang="en-US" sz="1600" b="1" dirty="0"/>
              <a:t>real-time sensor reading and local communication</a:t>
            </a:r>
            <a:r>
              <a:rPr lang="en-US" sz="1600" dirty="0"/>
              <a:t>, while ESP32-CAM focuses on </a:t>
            </a:r>
            <a:r>
              <a:rPr lang="en-US" sz="1600" b="1" i="1" dirty="0"/>
              <a:t>image capture and Wi-Fi transmission</a:t>
            </a:r>
            <a:r>
              <a:rPr lang="en-US" sz="1600" dirty="0"/>
              <a:t>. This separation </a:t>
            </a:r>
            <a:r>
              <a:rPr lang="en-US" sz="1600" b="1" i="1" dirty="0"/>
              <a:t>avoids GPIO limitations, reduces processing conflicts, and improves system stability</a:t>
            </a:r>
            <a:r>
              <a:rPr lang="en-US" sz="1600" i="1" dirty="0"/>
              <a:t> </a:t>
            </a:r>
            <a:r>
              <a:rPr lang="en-US" sz="1600" dirty="0"/>
              <a:t>when camera or network operations are delayed.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Hardware, AI server, database, and dashboard integration.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53312"/>
            <a:ext cx="1083564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236976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OVERALL SYSTEM ARCHITECTURE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2102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full architecture diagram showing Device Layer, Server Layer, and Application Layer.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580644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system connects embedded hardware, AI image processing, SQL Server database, and a web dashboard.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7/20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0C498B-2F97-7ED4-7D92-FF1A6AB80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19902"/>
            <a:ext cx="10561320" cy="38913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4DEB5A-CD3A-D23B-CFB1-E4CF4AF2C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Circuit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1101852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8/20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D00ACFD-71CC-7778-8DE7-939AC4393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16" y="1426464"/>
            <a:ext cx="10772136" cy="4530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5C3610-92D2-A978-5770-4144C6496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2641C-B4CF-1D6B-3A9E-FEB42217F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1E7D831-7444-8F55-7CDC-2B8DDDDBDC74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Master-Slave Hardware Circuit Diagram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E2EBCD-AE94-4320-680A-B0DBBD776BDC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F2ED89B-2DF5-2B9B-8297-126CA7B6552D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381BBE1-C118-08FF-E134-BA39EA59D2D5}"/>
              </a:ext>
            </a:extLst>
          </p:cNvPr>
          <p:cNvSpPr/>
          <p:nvPr/>
        </p:nvSpPr>
        <p:spPr>
          <a:xfrm>
            <a:off x="640080" y="1325880"/>
            <a:ext cx="5941695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8FEF123-9FE7-7469-FFB8-5FA8F75C91A2}"/>
              </a:ext>
            </a:extLst>
          </p:cNvPr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6720884-192F-62DA-769A-33556E6544F2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9/20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C7FEB3-DAEE-BEF9-08A8-9DBA416B7C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539" t="295" r="16408" b="-295"/>
          <a:stretch>
            <a:fillRect/>
          </a:stretch>
        </p:blipFill>
        <p:spPr>
          <a:xfrm>
            <a:off x="752476" y="1426464"/>
            <a:ext cx="5715000" cy="4530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A6EE45-CDBC-DEFE-4A99-FC9C1E10A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27113F16-7212-5D73-84AC-2E4196AF8763}"/>
              </a:ext>
            </a:extLst>
          </p:cNvPr>
          <p:cNvSpPr/>
          <p:nvPr/>
        </p:nvSpPr>
        <p:spPr>
          <a:xfrm>
            <a:off x="6764019" y="135195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Used</a:t>
            </a:r>
            <a:endParaRPr lang="en-US" sz="18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357DBA1-4DE8-2BEA-EC77-81BACAB184C2}"/>
              </a:ext>
            </a:extLst>
          </p:cNvPr>
          <p:cNvSpPr/>
          <p:nvPr/>
        </p:nvSpPr>
        <p:spPr>
          <a:xfrm>
            <a:off x="6764019" y="1472184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Arduino 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27018F5-BFA9-5231-4D76-DB05CC0F2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239190"/>
              </p:ext>
            </p:extLst>
          </p:nvPr>
        </p:nvGraphicFramePr>
        <p:xfrm>
          <a:off x="6764019" y="2171790"/>
          <a:ext cx="5020542" cy="10103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39764">
                  <a:extLst>
                    <a:ext uri="{9D8B030D-6E8A-4147-A177-3AD203B41FA5}">
                      <a16:colId xmlns:a16="http://schemas.microsoft.com/office/drawing/2014/main" val="312300522"/>
                    </a:ext>
                  </a:extLst>
                </a:gridCol>
                <a:gridCol w="2159646">
                  <a:extLst>
                    <a:ext uri="{9D8B030D-6E8A-4147-A177-3AD203B41FA5}">
                      <a16:colId xmlns:a16="http://schemas.microsoft.com/office/drawing/2014/main" val="2507997342"/>
                    </a:ext>
                  </a:extLst>
                </a:gridCol>
                <a:gridCol w="1421132">
                  <a:extLst>
                    <a:ext uri="{9D8B030D-6E8A-4147-A177-3AD203B41FA5}">
                      <a16:colId xmlns:a16="http://schemas.microsoft.com/office/drawing/2014/main" val="2641889986"/>
                    </a:ext>
                  </a:extLst>
                </a:gridCol>
              </a:tblGrid>
              <a:tr h="216969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1000" kern="100">
                          <a:effectLst/>
                        </a:rPr>
                        <a:t>Arduino Master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1000" kern="100">
                          <a:effectLst/>
                        </a:rPr>
                        <a:t>Arduino Slave 0x08 / 0x09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1000" kern="100">
                          <a:effectLst/>
                        </a:rPr>
                        <a:t>Function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5002021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Common ground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00687990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A4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A4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I2C SDA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29050059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I2C SCL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45444504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D13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D2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Sync signal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9626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8078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5A199-9D39-A961-CE6B-29740EF50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78335B-53AA-DE5B-CC13-7ACE023C7230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Master Hardware Circuit Diagram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BC1E73-170D-82C3-7EA9-B663A58319D1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A9D5B5C-C5CA-B30B-B6A9-8C7D70835A18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BBB55D4-1758-B279-E43D-687EEC81A91F}"/>
              </a:ext>
            </a:extLst>
          </p:cNvPr>
          <p:cNvSpPr/>
          <p:nvPr/>
        </p:nvSpPr>
        <p:spPr>
          <a:xfrm>
            <a:off x="640080" y="1325880"/>
            <a:ext cx="5941695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352FF5-EEDB-BB08-3C8D-0BA4DA3BF622}"/>
              </a:ext>
            </a:extLst>
          </p:cNvPr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16B29-11D3-3662-CE1E-32F88145167B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10/20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258F70-6C85-FA75-3178-E924EA6F25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747"/>
          <a:stretch>
            <a:fillRect/>
          </a:stretch>
        </p:blipFill>
        <p:spPr>
          <a:xfrm>
            <a:off x="731016" y="1426464"/>
            <a:ext cx="5736459" cy="4530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9D9CF9-BAFE-7016-5D3B-B5721B6EE5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156E128-C6E6-FCEA-1F2E-775E0605B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723740"/>
              </p:ext>
            </p:extLst>
          </p:nvPr>
        </p:nvGraphicFramePr>
        <p:xfrm>
          <a:off x="6764019" y="2256608"/>
          <a:ext cx="5020543" cy="10440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262">
                  <a:extLst>
                    <a:ext uri="{9D8B030D-6E8A-4147-A177-3AD203B41FA5}">
                      <a16:colId xmlns:a16="http://schemas.microsoft.com/office/drawing/2014/main" val="1697011895"/>
                    </a:ext>
                  </a:extLst>
                </a:gridCol>
                <a:gridCol w="1796023">
                  <a:extLst>
                    <a:ext uri="{9D8B030D-6E8A-4147-A177-3AD203B41FA5}">
                      <a16:colId xmlns:a16="http://schemas.microsoft.com/office/drawing/2014/main" val="108303599"/>
                    </a:ext>
                  </a:extLst>
                </a:gridCol>
                <a:gridCol w="1599258">
                  <a:extLst>
                    <a:ext uri="{9D8B030D-6E8A-4147-A177-3AD203B41FA5}">
                      <a16:colId xmlns:a16="http://schemas.microsoft.com/office/drawing/2014/main" val="2801264279"/>
                    </a:ext>
                  </a:extLst>
                </a:gridCol>
              </a:tblGrid>
              <a:tr h="261024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Arduino Master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45720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Device Pin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Device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92000868"/>
                  </a:ext>
                </a:extLst>
              </a:tr>
              <a:tr h="261024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D11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SIG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Servo SG90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7382526"/>
                  </a:ext>
                </a:extLst>
              </a:tr>
              <a:tr h="261024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5V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PWR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Servo SG90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78414591"/>
                  </a:ext>
                </a:extLst>
              </a:tr>
              <a:tr h="261024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GND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Servo SG90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30551300"/>
                  </a:ext>
                </a:extLst>
              </a:tr>
            </a:tbl>
          </a:graphicData>
        </a:graphic>
      </p:graphicFrame>
      <p:sp>
        <p:nvSpPr>
          <p:cNvPr id="16" name="Text 6">
            <a:extLst>
              <a:ext uri="{FF2B5EF4-FFF2-40B4-BE49-F238E27FC236}">
                <a16:creationId xmlns:a16="http://schemas.microsoft.com/office/drawing/2014/main" id="{2A5F7C43-8480-06E9-97F6-785FF5E32DC2}"/>
              </a:ext>
            </a:extLst>
          </p:cNvPr>
          <p:cNvSpPr/>
          <p:nvPr/>
        </p:nvSpPr>
        <p:spPr>
          <a:xfrm>
            <a:off x="6764019" y="135195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Used</a:t>
            </a:r>
            <a:endParaRPr lang="en-US" sz="18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594945FE-641F-1153-7096-79CD40699283}"/>
              </a:ext>
            </a:extLst>
          </p:cNvPr>
          <p:cNvSpPr/>
          <p:nvPr/>
        </p:nvSpPr>
        <p:spPr>
          <a:xfrm>
            <a:off x="6764019" y="1472184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Servo SG90</a:t>
            </a: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6FCED7AD-F40B-E58A-2183-7D23FBC2805F}"/>
              </a:ext>
            </a:extLst>
          </p:cNvPr>
          <p:cNvSpPr/>
          <p:nvPr/>
        </p:nvSpPr>
        <p:spPr>
          <a:xfrm>
            <a:off x="6764018" y="3267020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LCD A1602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76A4D-8CB1-BA06-9C29-D01602E0EC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034320"/>
              </p:ext>
            </p:extLst>
          </p:nvPr>
        </p:nvGraphicFramePr>
        <p:xfrm>
          <a:off x="6764017" y="4049436"/>
          <a:ext cx="5020544" cy="20770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2018">
                  <a:extLst>
                    <a:ext uri="{9D8B030D-6E8A-4147-A177-3AD203B41FA5}">
                      <a16:colId xmlns:a16="http://schemas.microsoft.com/office/drawing/2014/main" val="1029933600"/>
                    </a:ext>
                  </a:extLst>
                </a:gridCol>
                <a:gridCol w="2350052">
                  <a:extLst>
                    <a:ext uri="{9D8B030D-6E8A-4147-A177-3AD203B41FA5}">
                      <a16:colId xmlns:a16="http://schemas.microsoft.com/office/drawing/2014/main" val="215843133"/>
                    </a:ext>
                  </a:extLst>
                </a:gridCol>
                <a:gridCol w="1698474">
                  <a:extLst>
                    <a:ext uri="{9D8B030D-6E8A-4147-A177-3AD203B41FA5}">
                      <a16:colId xmlns:a16="http://schemas.microsoft.com/office/drawing/2014/main" val="1397414351"/>
                    </a:ext>
                  </a:extLst>
                </a:gridCol>
              </a:tblGrid>
              <a:tr h="158627"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Arduino Master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LCD1602 Pin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Function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3168601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5V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VDD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LCD power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4311789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VSS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Ground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24103069"/>
                  </a:ext>
                </a:extLst>
              </a:tr>
              <a:tr h="33214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Potentiometer output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VO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Contrast control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5804708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D9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RS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Register select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5904036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R/W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Read/write control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66619241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D10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E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Enable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6688663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DB4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Data bit 4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76277694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D6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DB5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Data bit 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9895391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D7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DB6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Data bit 6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89794046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D8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DB7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Data bit 7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3144399"/>
                  </a:ext>
                </a:extLst>
              </a:tr>
              <a:tr h="158627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5V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LED+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Backlight power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44918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728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9D57-B2EA-65F4-FB5E-78443918A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2906F4-9CC5-185A-D060-7B05F7983CBD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Slave Hardware Circuit Diagram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C53765-42AD-D8F5-FBA2-39B7993E8C9A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29D3FA-45F0-DBA4-053F-6086726CD948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227FB0-3D21-8AC5-F909-FC0C0419AA07}"/>
              </a:ext>
            </a:extLst>
          </p:cNvPr>
          <p:cNvSpPr/>
          <p:nvPr/>
        </p:nvSpPr>
        <p:spPr>
          <a:xfrm>
            <a:off x="640080" y="1325880"/>
            <a:ext cx="5941695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8E9486-4273-15E1-3620-EE6C0F021645}"/>
              </a:ext>
            </a:extLst>
          </p:cNvPr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1428490-DD47-1711-D571-7B930993CA77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11/20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967D24-4C7D-C304-D4EA-01A6F9BD4B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733" r="-216"/>
          <a:stretch>
            <a:fillRect/>
          </a:stretch>
        </p:blipFill>
        <p:spPr>
          <a:xfrm>
            <a:off x="1190625" y="1451992"/>
            <a:ext cx="5114925" cy="4530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E8A2C3-3CE2-1CC7-B8EF-304412D3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53F5760F-9E40-EC3E-FCCE-4943752DDE61}"/>
              </a:ext>
            </a:extLst>
          </p:cNvPr>
          <p:cNvSpPr/>
          <p:nvPr/>
        </p:nvSpPr>
        <p:spPr>
          <a:xfrm>
            <a:off x="6764019" y="135195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Used</a:t>
            </a:r>
            <a:endParaRPr lang="en-US" sz="18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436F8FD7-F259-EFC5-0D76-64C35C23BD31}"/>
              </a:ext>
            </a:extLst>
          </p:cNvPr>
          <p:cNvSpPr/>
          <p:nvPr/>
        </p:nvSpPr>
        <p:spPr>
          <a:xfrm>
            <a:off x="6764019" y="1472184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HC-SR04</a:t>
            </a: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6934B544-E15F-6E44-4E4D-9A26A7AD497C}"/>
              </a:ext>
            </a:extLst>
          </p:cNvPr>
          <p:cNvSpPr/>
          <p:nvPr/>
        </p:nvSpPr>
        <p:spPr>
          <a:xfrm>
            <a:off x="6764019" y="4189209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ESP32-CAM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628E9E-F5D0-91EA-7D3F-7DC0B0A05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008872"/>
              </p:ext>
            </p:extLst>
          </p:nvPr>
        </p:nvGraphicFramePr>
        <p:xfrm>
          <a:off x="6764019" y="2182993"/>
          <a:ext cx="5020542" cy="9271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3514">
                  <a:extLst>
                    <a:ext uri="{9D8B030D-6E8A-4147-A177-3AD203B41FA5}">
                      <a16:colId xmlns:a16="http://schemas.microsoft.com/office/drawing/2014/main" val="3451888432"/>
                    </a:ext>
                  </a:extLst>
                </a:gridCol>
                <a:gridCol w="1673514">
                  <a:extLst>
                    <a:ext uri="{9D8B030D-6E8A-4147-A177-3AD203B41FA5}">
                      <a16:colId xmlns:a16="http://schemas.microsoft.com/office/drawing/2014/main" val="409108252"/>
                    </a:ext>
                  </a:extLst>
                </a:gridCol>
                <a:gridCol w="1673514">
                  <a:extLst>
                    <a:ext uri="{9D8B030D-6E8A-4147-A177-3AD203B41FA5}">
                      <a16:colId xmlns:a16="http://schemas.microsoft.com/office/drawing/2014/main" val="2184754935"/>
                    </a:ext>
                  </a:extLst>
                </a:gridCol>
              </a:tblGrid>
              <a:tr h="18543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Arduino Slave 0x08 / 0x09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HC-SR04 Pin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Function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275893"/>
                  </a:ext>
                </a:extLst>
              </a:tr>
              <a:tr h="18543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5V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VCC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Sensor power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4720789"/>
                  </a:ext>
                </a:extLst>
              </a:tr>
              <a:tr h="18543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Ground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17259625"/>
                  </a:ext>
                </a:extLst>
              </a:tr>
              <a:tr h="18543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D6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TRIG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Trigger signal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2749373"/>
                  </a:ext>
                </a:extLst>
              </a:tr>
              <a:tr h="185436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D5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>
                          <a:effectLst/>
                        </a:rPr>
                        <a:t>ECHO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  <a:tabLst>
                          <a:tab pos="1548765" algn="l"/>
                        </a:tabLst>
                      </a:pPr>
                      <a:r>
                        <a:rPr lang="en-US" sz="800" kern="100" dirty="0">
                          <a:effectLst/>
                        </a:rPr>
                        <a:t>Echo signal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802296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108852-EDC9-6801-9E13-8A7104427A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0068906"/>
              </p:ext>
            </p:extLst>
          </p:nvPr>
        </p:nvGraphicFramePr>
        <p:xfrm>
          <a:off x="6764018" y="4976074"/>
          <a:ext cx="5020542" cy="11637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3514">
                  <a:extLst>
                    <a:ext uri="{9D8B030D-6E8A-4147-A177-3AD203B41FA5}">
                      <a16:colId xmlns:a16="http://schemas.microsoft.com/office/drawing/2014/main" val="3376723535"/>
                    </a:ext>
                  </a:extLst>
                </a:gridCol>
                <a:gridCol w="1673514">
                  <a:extLst>
                    <a:ext uri="{9D8B030D-6E8A-4147-A177-3AD203B41FA5}">
                      <a16:colId xmlns:a16="http://schemas.microsoft.com/office/drawing/2014/main" val="2078547929"/>
                    </a:ext>
                  </a:extLst>
                </a:gridCol>
                <a:gridCol w="1673514">
                  <a:extLst>
                    <a:ext uri="{9D8B030D-6E8A-4147-A177-3AD203B41FA5}">
                      <a16:colId xmlns:a16="http://schemas.microsoft.com/office/drawing/2014/main" val="3308316495"/>
                    </a:ext>
                  </a:extLst>
                </a:gridCol>
              </a:tblGrid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Arduino Slave 0x08 / 0x09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ESP32-CAM Pin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Function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25788026"/>
                  </a:ext>
                </a:extLst>
              </a:tr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5V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5V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Camera power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77452641"/>
                  </a:ext>
                </a:extLst>
              </a:tr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GND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Ground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4617732"/>
                  </a:ext>
                </a:extLst>
              </a:tr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D3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GPIO1 / TX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UART receive line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72636748"/>
                  </a:ext>
                </a:extLst>
              </a:tr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D4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GPIO3 / RX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UART transmit line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03195691"/>
                  </a:ext>
                </a:extLst>
              </a:tr>
              <a:tr h="193962"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5V Arduino signal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3.3V ESP32 signal</a:t>
                      </a:r>
                      <a:endParaRPr lang="en-US" sz="1050" kern="1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12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Logic conversion</a:t>
                      </a:r>
                      <a:endParaRPr lang="en-US" sz="1050" kern="1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73805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30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High-level System Flowchart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operation from detection to gate control.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8C8F556-8934-A902-10FE-5DC43ED56CBE}"/>
              </a:ext>
            </a:extLst>
          </p:cNvPr>
          <p:cNvGrpSpPr/>
          <p:nvPr/>
        </p:nvGrpSpPr>
        <p:grpSpPr>
          <a:xfrm>
            <a:off x="673895" y="1267048"/>
            <a:ext cx="2743200" cy="3345497"/>
            <a:chOff x="8869680" y="1536192"/>
            <a:chExt cx="2743200" cy="3345497"/>
          </a:xfrm>
        </p:grpSpPr>
        <p:sp>
          <p:nvSpPr>
            <p:cNvPr id="8" name="Text 6"/>
            <p:cNvSpPr/>
            <p:nvPr/>
          </p:nvSpPr>
          <p:spPr>
            <a:xfrm>
              <a:off x="8869680" y="1536192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F77B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Decision logic</a:t>
              </a:r>
              <a:endParaRPr lang="en-US" sz="1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887968" y="2139696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2E7D3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OPEN</a:t>
              </a:r>
              <a:endParaRPr lang="en-US" sz="17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869680" y="2439751"/>
              <a:ext cx="2651760" cy="100584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Open barrier</a:t>
              </a:r>
              <a:endParaRPr lang="en-US" sz="1550" dirty="0"/>
            </a:p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Update LCD</a:t>
              </a:r>
              <a:endParaRPr lang="en-US" sz="1550" dirty="0"/>
            </a:p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Save log</a:t>
              </a:r>
              <a:endParaRPr lang="en-US" sz="15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869680" y="3568576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C62828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CLOSE</a:t>
              </a:r>
              <a:endParaRPr lang="en-US" sz="17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869680" y="3875849"/>
              <a:ext cx="2651760" cy="100584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Keep gate closed</a:t>
              </a:r>
              <a:endParaRPr lang="en-US" sz="1550" dirty="0"/>
            </a:p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Show status</a:t>
              </a:r>
              <a:endParaRPr lang="en-US" sz="1550" dirty="0"/>
            </a:p>
            <a:p>
              <a:pPr marL="177800" indent="-177800">
                <a:buSzPct val="100000"/>
                <a:buChar char="•"/>
              </a:pPr>
              <a:r>
                <a:rPr lang="en-US" sz="1550" dirty="0">
                  <a:solidFill>
                    <a:srgbClr val="1A1A1A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Save log</a:t>
              </a:r>
              <a:endParaRPr lang="en-US" sz="1550" dirty="0"/>
            </a:p>
          </p:txBody>
        </p:sp>
      </p:grpSp>
      <p:sp>
        <p:nvSpPr>
          <p:cNvPr id="13" name="Text 11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12/20</a:t>
            </a:r>
            <a:endParaRPr lang="en-US" sz="85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71B820D-9F6A-ED13-BA9F-E92FC73725CC}"/>
              </a:ext>
            </a:extLst>
          </p:cNvPr>
          <p:cNvGrpSpPr/>
          <p:nvPr/>
        </p:nvGrpSpPr>
        <p:grpSpPr>
          <a:xfrm>
            <a:off x="5167222" y="1195450"/>
            <a:ext cx="6008298" cy="5029198"/>
            <a:chOff x="8107036" y="128016"/>
            <a:chExt cx="3919864" cy="6601968"/>
          </a:xfrm>
        </p:grpSpPr>
        <p:sp>
          <p:nvSpPr>
            <p:cNvPr id="5" name="Shape 3"/>
            <p:cNvSpPr/>
            <p:nvPr/>
          </p:nvSpPr>
          <p:spPr>
            <a:xfrm flipH="1">
              <a:off x="8107036" y="128016"/>
              <a:ext cx="3919864" cy="6601968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19050">
              <a:solidFill>
                <a:srgbClr val="1F77B4"/>
              </a:solidFill>
              <a:prstDash val="solid"/>
            </a:ln>
          </p:spPr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8E9A458-9BC5-89D8-3C32-351669DD5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8476" y="221856"/>
              <a:ext cx="3721902" cy="6436119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3A4B5E3C-1453-E31E-BB60-2F9649D54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17" name="Text 6">
            <a:extLst>
              <a:ext uri="{FF2B5EF4-FFF2-40B4-BE49-F238E27FC236}">
                <a16:creationId xmlns:a16="http://schemas.microsoft.com/office/drawing/2014/main" id="{69F21460-8598-3F96-9333-6B341A09656E}"/>
              </a:ext>
            </a:extLst>
          </p:cNvPr>
          <p:cNvSpPr/>
          <p:nvPr/>
        </p:nvSpPr>
        <p:spPr>
          <a:xfrm>
            <a:off x="628175" y="463221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Closing logic</a:t>
            </a:r>
            <a:endParaRPr lang="en-US" sz="18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EC81D6AC-7CFB-7EED-1CA4-43835161AEF4}"/>
              </a:ext>
            </a:extLst>
          </p:cNvPr>
          <p:cNvSpPr/>
          <p:nvPr/>
        </p:nvSpPr>
        <p:spPr>
          <a:xfrm>
            <a:off x="692183" y="4877116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After 3s, if no object is detected by sensors 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14933-0581-C9C9-3F85-121DBEEBE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8B6EA9-84E9-4150-3325-B333B1279095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ERD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5E8256-557B-7D70-E80C-120E1ED5E5B3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operation from detection to gate control.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9BCB63A-9E65-D013-DD65-98A045DC5F91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79D8D6E-4D78-6D70-C111-21A14F64B675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13/20</a:t>
            </a:r>
            <a:endParaRPr lang="en-US" sz="8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B52A22-B25B-51F5-6667-5F63B65BD74F}"/>
              </a:ext>
            </a:extLst>
          </p:cNvPr>
          <p:cNvSpPr/>
          <p:nvPr/>
        </p:nvSpPr>
        <p:spPr>
          <a:xfrm flipH="1">
            <a:off x="5167222" y="1195450"/>
            <a:ext cx="6008298" cy="5029198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A4E7C9-2549-A838-2179-5774C793C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8662" y="1328296"/>
            <a:ext cx="5894361" cy="475246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7FA41B1-A470-B775-4A0A-763EA693A10F}"/>
              </a:ext>
            </a:extLst>
          </p:cNvPr>
          <p:cNvSpPr txBox="1"/>
          <p:nvPr/>
        </p:nvSpPr>
        <p:spPr>
          <a:xfrm>
            <a:off x="502920" y="1285854"/>
            <a:ext cx="609600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solidFill>
                  <a:schemeClr val="accent5"/>
                </a:solidFill>
              </a:rPr>
              <a:t>Gates</a:t>
            </a:r>
          </a:p>
          <a:p>
            <a:pPr>
              <a:buNone/>
            </a:pPr>
            <a:r>
              <a:rPr lang="en-US" sz="1400" dirty="0"/>
              <a:t>Stores the current status of each parking gate.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Identifies ENTRY and EXIT gates.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Stores the current gate state.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Records the latest </a:t>
            </a:r>
            <a:r>
              <a:rPr lang="en-US" sz="1200" i="1" dirty="0">
                <a:latin typeface="Courier New" panose="02070309020205020404" pitchFamily="49" charset="0"/>
              </a:rPr>
              <a:t>OPEN</a:t>
            </a:r>
            <a:r>
              <a:rPr lang="en-US" sz="1200" i="1" dirty="0"/>
              <a:t> or </a:t>
            </a:r>
            <a:r>
              <a:rPr lang="en-US" sz="1200" i="1" dirty="0">
                <a:latin typeface="Courier New" panose="02070309020205020404" pitchFamily="49" charset="0"/>
              </a:rPr>
              <a:t>CLOSE</a:t>
            </a:r>
            <a:r>
              <a:rPr lang="en-US" sz="1200" i="1" dirty="0"/>
              <a:t> decision.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Tracks the most recent update time.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/>
                </a:solidFill>
              </a:rPr>
              <a:t>Detection Events</a:t>
            </a:r>
          </a:p>
          <a:p>
            <a:pPr>
              <a:buNone/>
            </a:pPr>
            <a:r>
              <a:rPr lang="en-US" sz="1400" dirty="0"/>
              <a:t>Stores the history of every vehicle-detection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Sensor distance and object-detection result.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Raw and YOLO-annotated image paths.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Detected vehicle class and confidence score.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Final gate decision and processing status.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Vehicle count before and after each event.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Error details when processing fails. </a:t>
            </a:r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/>
                </a:solidFill>
              </a:rPr>
              <a:t>Parking Occupancy</a:t>
            </a:r>
          </a:p>
          <a:p>
            <a:pPr>
              <a:buNone/>
            </a:pPr>
            <a:r>
              <a:rPr lang="en-US" sz="1400" dirty="0"/>
              <a:t>Stores the current parking-space status.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Maximum parking capacity.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Current number of vehicles inside.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i="1" dirty="0"/>
              <a:t>Last occupancy update time.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B1DB73-1BA5-BCF4-2C7F-9CE3AD0AC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0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Dashboard Interface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for parking management.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744200" cy="42976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14096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WEB DASHBOARD SCREENSHOT / MOCKUP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525012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Insert the final dashboard image, or a mockup if the implementation is not finished.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57881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Dashboard includes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5779008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vehicles  •  Entries today  •  Exits today  •  Parking logs  •  Latest captured images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14/20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7A1791-30B7-FBC1-1BD7-0152B236F3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800"/>
          <a:stretch>
            <a:fillRect/>
          </a:stretch>
        </p:blipFill>
        <p:spPr>
          <a:xfrm>
            <a:off x="800100" y="1353312"/>
            <a:ext cx="10591800" cy="417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6897B2-A190-C30B-DF03-C1FB419B46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200" b="1" dirty="0"/>
              <a:t>YOLO Model and Experimental Results</a:t>
            </a:r>
            <a:endParaRPr lang="en-US" sz="3000" b="1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used and prototype results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5950" y="1156335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used</a:t>
            </a:r>
            <a:endParaRPr lang="en-US" b="1" dirty="0"/>
          </a:p>
        </p:txBody>
      </p:sp>
      <p:sp>
        <p:nvSpPr>
          <p:cNvPr id="6" name="Text 4"/>
          <p:cNvSpPr/>
          <p:nvPr/>
        </p:nvSpPr>
        <p:spPr>
          <a:xfrm>
            <a:off x="485950" y="1636777"/>
            <a:ext cx="5857816" cy="245554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00" b="1" dirty="0"/>
              <a:t>YOLO26l</a:t>
            </a:r>
            <a:r>
              <a:rPr lang="en-US" sz="1600" dirty="0"/>
              <a:t> was selected as the final server-side vehicle detection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Total Image: </a:t>
            </a:r>
            <a:r>
              <a:rPr lang="en-US" sz="1600" b="1" dirty="0"/>
              <a:t>146</a:t>
            </a:r>
            <a:r>
              <a:rPr lang="en-US" sz="1600" dirty="0"/>
              <a:t> 	Input size: </a:t>
            </a:r>
            <a:r>
              <a:rPr lang="en-US" sz="1600" b="1" dirty="0"/>
              <a:t>640 × 640 pixels</a:t>
            </a:r>
            <a:r>
              <a:rPr lang="en-US" sz="1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Open/Close: </a:t>
            </a:r>
            <a:r>
              <a:rPr lang="en-US" sz="1600" b="1" dirty="0"/>
              <a:t>66/80	</a:t>
            </a:r>
            <a:r>
              <a:rPr lang="en-US" sz="1600" dirty="0"/>
              <a:t>Confidence threshold: </a:t>
            </a:r>
            <a:r>
              <a:rPr lang="en-US" sz="1600" b="1" dirty="0"/>
              <a:t>0.45</a:t>
            </a:r>
            <a:r>
              <a:rPr lang="en-US" sz="1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Accepted classes: </a:t>
            </a:r>
            <a:r>
              <a:rPr lang="en-US" sz="1600" b="1" dirty="0"/>
              <a:t>car, motorcycle, bus, truck</a:t>
            </a:r>
            <a:r>
              <a:rPr lang="en-US" sz="1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Processing location: </a:t>
            </a:r>
            <a:r>
              <a:rPr lang="en-US" sz="1600" b="1" dirty="0" err="1"/>
              <a:t>FastAPI</a:t>
            </a:r>
            <a:r>
              <a:rPr lang="en-US" sz="1600" b="1" dirty="0"/>
              <a:t> backend server</a:t>
            </a:r>
            <a:r>
              <a:rPr lang="en-US" sz="1600" dirty="0"/>
              <a:t> </a:t>
            </a:r>
          </a:p>
          <a:p>
            <a:pPr marL="177800" indent="-177800">
              <a:buSzPct val="100000"/>
              <a:buChar char="•"/>
            </a:pPr>
            <a:r>
              <a:rPr lang="en-US" sz="1600" dirty="0"/>
              <a:t>   Accepted classes: </a:t>
            </a:r>
            <a:r>
              <a:rPr lang="en-US" sz="1600" b="1" dirty="0"/>
              <a:t>43 trucks and 23 cars</a:t>
            </a:r>
          </a:p>
          <a:p>
            <a:pPr marL="177800" indent="-177800">
              <a:buSzPct val="100000"/>
              <a:buFontTx/>
              <a:buChar char="•"/>
            </a:pPr>
            <a:r>
              <a:rPr lang="en-US" sz="1600" dirty="0"/>
              <a:t>   Average inference time: </a:t>
            </a:r>
            <a:r>
              <a:rPr lang="en-US" sz="1600" b="1" dirty="0"/>
              <a:t>432.23 </a:t>
            </a:r>
            <a:r>
              <a:rPr lang="en-US" sz="1600" b="1" dirty="0" err="1"/>
              <a:t>ms</a:t>
            </a:r>
            <a:r>
              <a:rPr lang="en-US" sz="1600" dirty="0"/>
              <a:t> 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90598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9542" y="115214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YOLO26l annotated result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15/20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990DE6-08A3-0434-2522-06F27D84E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543" y="2734129"/>
            <a:ext cx="3192781" cy="16367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66B35D-B7D6-EF3D-C509-52FC6B6685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8818"/>
          <a:stretch>
            <a:fillRect/>
          </a:stretch>
        </p:blipFill>
        <p:spPr>
          <a:xfrm>
            <a:off x="6939545" y="4719142"/>
            <a:ext cx="3192780" cy="1684020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47117CA4-7BF5-DBAA-A293-FDDF9A5D0F16}"/>
              </a:ext>
            </a:extLst>
          </p:cNvPr>
          <p:cNvSpPr/>
          <p:nvPr/>
        </p:nvSpPr>
        <p:spPr>
          <a:xfrm>
            <a:off x="6939543" y="2434666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image: detect car with confident: 0.95</a:t>
            </a:r>
            <a:endParaRPr lang="en-US" sz="12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C0E7620-6603-23F4-52E0-31D33A131A12}"/>
              </a:ext>
            </a:extLst>
          </p:cNvPr>
          <p:cNvSpPr/>
          <p:nvPr/>
        </p:nvSpPr>
        <p:spPr>
          <a:xfrm>
            <a:off x="6939545" y="440367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Prototype income image: detect truck with confident: 0.80</a:t>
            </a:r>
            <a:endParaRPr lang="en-US" sz="12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9E8EFA82-9943-F0AF-C626-B0E5D9C9A334}"/>
              </a:ext>
            </a:extLst>
          </p:cNvPr>
          <p:cNvSpPr/>
          <p:nvPr/>
        </p:nvSpPr>
        <p:spPr>
          <a:xfrm>
            <a:off x="6939545" y="2138249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Allowed classes for OPEN: ['bus', 'car', 'motorcycle', 'truck’] </a:t>
            </a:r>
          </a:p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Confident threshold: 0.45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3CCA8AB-8C83-4563-B015-D8959A1B3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EBE615-66A0-1CF9-7532-5F63C38D00B5}"/>
                  </a:ext>
                </a:extLst>
              </p:cNvPr>
              <p:cNvSpPr txBox="1"/>
              <p:nvPr/>
            </p:nvSpPr>
            <p:spPr>
              <a:xfrm>
                <a:off x="337004" y="3579478"/>
                <a:ext cx="5285967" cy="1156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rgbClr val="1F77B4"/>
                    </a:solidFill>
                    <a:latin typeface="Montserrat" pitchFamily="34" charset="0"/>
                    <a:ea typeface="Montserrat" pitchFamily="34" charset="-122"/>
                    <a:cs typeface="Montserrat" pitchFamily="34" charset="-120"/>
                  </a:rPr>
                  <a:t>Calculations</a:t>
                </a:r>
                <a:endParaRPr lang="en-US" b="1" dirty="0"/>
              </a:p>
              <a:p>
                <a:pPr>
                  <a:buNone/>
                </a:pPr>
                <a:r>
                  <a:rPr lang="en-US" dirty="0"/>
                  <a:t>Detection rate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66</m:t>
                        </m:r>
                      </m:num>
                      <m:den>
                        <m:r>
                          <a:rPr lang="en-US" i="0">
                            <a:latin typeface="Cambria Math" panose="02040503050406030204" pitchFamily="18" charset="0"/>
                          </a:rPr>
                          <m:t>146</m:t>
                        </m:r>
                      </m:den>
                    </m:f>
                    <m:r>
                      <a:rPr lang="en-US" i="0">
                        <a:latin typeface="Cambria Math" panose="02040503050406030204" pitchFamily="18" charset="0"/>
                      </a:rPr>
                      <m:t>×100%=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𝟒𝟓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𝟐𝟏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en-US" dirty="0"/>
              </a:p>
              <a:p>
                <a:pPr>
                  <a:buNone/>
                </a:pPr>
                <a:r>
                  <a:rPr lang="en-US" dirty="0"/>
                  <a:t>Miss rate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80</m:t>
                        </m:r>
                      </m:num>
                      <m:den>
                        <m:r>
                          <a:rPr lang="en-US" i="0">
                            <a:latin typeface="Cambria Math" panose="02040503050406030204" pitchFamily="18" charset="0"/>
                          </a:rPr>
                          <m:t>146</m:t>
                        </m:r>
                      </m:den>
                    </m:f>
                    <m:r>
                      <a:rPr lang="en-US" i="0">
                        <a:latin typeface="Cambria Math" panose="02040503050406030204" pitchFamily="18" charset="0"/>
                      </a:rPr>
                      <m:t>×100%=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𝟓𝟒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𝟕𝟗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EBE615-66A0-1CF9-7532-5F63C38D0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004" y="3579478"/>
                <a:ext cx="5285967" cy="1156214"/>
              </a:xfrm>
              <a:prstGeom prst="rect">
                <a:avLst/>
              </a:prstGeom>
              <a:blipFill>
                <a:blip r:embed="rId6"/>
                <a:stretch>
                  <a:fillRect l="-923" t="-2105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9FF6982-BD9E-4CFB-634D-CFE6EB7FD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456332"/>
              </p:ext>
            </p:extLst>
          </p:nvPr>
        </p:nvGraphicFramePr>
        <p:xfrm>
          <a:off x="485950" y="5115000"/>
          <a:ext cx="6155704" cy="124968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538926">
                  <a:extLst>
                    <a:ext uri="{9D8B030D-6E8A-4147-A177-3AD203B41FA5}">
                      <a16:colId xmlns:a16="http://schemas.microsoft.com/office/drawing/2014/main" val="4227023164"/>
                    </a:ext>
                  </a:extLst>
                </a:gridCol>
                <a:gridCol w="1538926">
                  <a:extLst>
                    <a:ext uri="{9D8B030D-6E8A-4147-A177-3AD203B41FA5}">
                      <a16:colId xmlns:a16="http://schemas.microsoft.com/office/drawing/2014/main" val="3364084318"/>
                    </a:ext>
                  </a:extLst>
                </a:gridCol>
                <a:gridCol w="1538926">
                  <a:extLst>
                    <a:ext uri="{9D8B030D-6E8A-4147-A177-3AD203B41FA5}">
                      <a16:colId xmlns:a16="http://schemas.microsoft.com/office/drawing/2014/main" val="1538313437"/>
                    </a:ext>
                  </a:extLst>
                </a:gridCol>
                <a:gridCol w="1538926">
                  <a:extLst>
                    <a:ext uri="{9D8B030D-6E8A-4147-A177-3AD203B41FA5}">
                      <a16:colId xmlns:a16="http://schemas.microsoft.com/office/drawing/2014/main" val="992850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Detection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Mean Inference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600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YOLOv8n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80.43%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93.42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9205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YOLO26l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94.23%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421.39 </a:t>
                      </a:r>
                      <a:r>
                        <a:rPr lang="en-US" sz="1600" dirty="0" err="1"/>
                        <a:t>ms</a:t>
                      </a:r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5372436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979EADAB-863E-2562-6774-F55B63475B65}"/>
              </a:ext>
            </a:extLst>
          </p:cNvPr>
          <p:cNvSpPr txBox="1"/>
          <p:nvPr/>
        </p:nvSpPr>
        <p:spPr>
          <a:xfrm>
            <a:off x="337004" y="4680405"/>
            <a:ext cx="895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77B4"/>
                </a:solidFill>
                <a:latin typeface="Montserrat" pitchFamily="34" charset="0"/>
              </a:rPr>
              <a:t>Model </a:t>
            </a:r>
            <a:r>
              <a:rPr lang="en-US" b="1" dirty="0" err="1">
                <a:solidFill>
                  <a:srgbClr val="1F77B4"/>
                </a:solidFill>
                <a:latin typeface="Montserrat" pitchFamily="34" charset="0"/>
              </a:rPr>
              <a:t>Comparision</a:t>
            </a:r>
            <a:endParaRPr lang="en-US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C6E70-D580-3452-9E10-0EC04A413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B9BD1F4-D93E-89FE-6091-F22E9EB4BF2D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 and Benefits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C2EBC8-1AB6-E0A2-8E4C-9CA08666C991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Expected technical output and practical value.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7CCC94B-5B66-B635-9AD9-D0ECD2BC2153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35BD503-8C04-F662-F964-2DB3093E1C6C}"/>
              </a:ext>
            </a:extLst>
          </p:cNvPr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Results</a:t>
            </a:r>
            <a:endParaRPr lang="en-US" sz="1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94CB4D-A8AE-F71C-EDCA-9ADC28CC59B2}"/>
              </a:ext>
            </a:extLst>
          </p:cNvPr>
          <p:cNvSpPr/>
          <p:nvPr/>
        </p:nvSpPr>
        <p:spPr>
          <a:xfrm>
            <a:off x="731520" y="2145791"/>
            <a:ext cx="500888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77800" indent="-177800" algn="just">
              <a:buSzPct val="100000"/>
              <a:buChar char="•"/>
            </a:pPr>
            <a:r>
              <a:rPr lang="en-US" sz="1400" dirty="0"/>
              <a:t>Successfully detected vehicles using ultrasonic sensors. </a:t>
            </a:r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ESP32-CAM modules captured and transmitted vehicle images </a:t>
            </a:r>
          </a:p>
          <a:p>
            <a:pPr algn="just">
              <a:buSzPct val="100000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YOLO26l achieved a </a:t>
            </a:r>
            <a:r>
              <a:rPr lang="en-US" sz="1400" b="1" dirty="0"/>
              <a:t>94.23% positive-sample detection rate</a:t>
            </a:r>
            <a:endParaRPr lang="en-US" sz="1400" dirty="0"/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Average YOLO26l inference time was approximately </a:t>
            </a:r>
            <a:r>
              <a:rPr lang="en-US" sz="1400" b="1" dirty="0"/>
              <a:t>421.39 </a:t>
            </a:r>
            <a:r>
              <a:rPr lang="en-US" sz="1400" b="1" dirty="0" err="1"/>
              <a:t>ms</a:t>
            </a:r>
            <a:r>
              <a:rPr lang="en-US" sz="1400" dirty="0" err="1"/>
              <a:t>.</a:t>
            </a:r>
            <a:r>
              <a:rPr lang="en-US" sz="1400" dirty="0"/>
              <a:t> </a:t>
            </a:r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The system automatically generated </a:t>
            </a:r>
            <a:r>
              <a:rPr lang="en-US" sz="1400" b="1" dirty="0"/>
              <a:t>OPEN/CLOSE</a:t>
            </a:r>
            <a:r>
              <a:rPr lang="en-US" sz="1400" dirty="0"/>
              <a:t> decisions</a:t>
            </a:r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The servo barrier responded to backend decisions commands. </a:t>
            </a:r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Entry, exit, gate status, detection results, confidence scores, and images were stored in the database. </a:t>
            </a:r>
          </a:p>
          <a:p>
            <a:pPr marL="177800" indent="-177800" algn="just">
              <a:buSzPct val="100000"/>
              <a:buChar char="•"/>
            </a:pPr>
            <a:endParaRPr lang="en-US" sz="1400" dirty="0"/>
          </a:p>
          <a:p>
            <a:pPr marL="177800" indent="-177800" algn="just">
              <a:buSzPct val="100000"/>
              <a:buChar char="•"/>
            </a:pPr>
            <a:r>
              <a:rPr lang="en-US" sz="1400" dirty="0"/>
              <a:t>The web dashboard displayed current occupancy, latest images, and parking-event history.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9CB1336-00EC-066A-49DD-F47E1835A6CA}"/>
              </a:ext>
            </a:extLst>
          </p:cNvPr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BF2DD4-1660-6C9A-A827-5C5E9F34D2E1}"/>
              </a:ext>
            </a:extLst>
          </p:cNvPr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Benefits</a:t>
            </a:r>
            <a:endParaRPr lang="en-US" sz="1800" dirty="0">
              <a:solidFill>
                <a:schemeClr val="accent6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BD360A4-5197-4CAF-703F-BBA9D7D6F824}"/>
              </a:ext>
            </a:extLst>
          </p:cNvPr>
          <p:cNvSpPr/>
          <p:nvPr/>
        </p:nvSpPr>
        <p:spPr>
          <a:xfrm>
            <a:off x="6355079" y="2249424"/>
            <a:ext cx="5506719" cy="35112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b="1" dirty="0"/>
              <a:t>Reduced manual operation:</a:t>
            </a:r>
            <a:r>
              <a:rPr lang="en-US" sz="1400" dirty="0"/>
              <a:t> Vehicle detection and barrier control are automated.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Improved verification:</a:t>
            </a:r>
            <a:r>
              <a:rPr lang="en-US" sz="1400" dirty="0"/>
              <a:t> Camera and YOLO detection reduce reliance on ultrasonic sensing alone.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Centralized monitoring:</a:t>
            </a:r>
            <a:r>
              <a:rPr lang="en-US" sz="1400" dirty="0"/>
              <a:t> Administrators can view system status and parking events from one dashboard.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Visual evidence:</a:t>
            </a:r>
            <a:r>
              <a:rPr lang="en-US" sz="1400" dirty="0"/>
              <a:t> Captured images support event verification and later review.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Occupancy management:</a:t>
            </a:r>
            <a:r>
              <a:rPr lang="en-US" sz="1400" dirty="0"/>
              <a:t> The system tracks vehicles inside and prevents entry when capacity is full.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Modular architecture:</a:t>
            </a:r>
            <a:r>
              <a:rPr lang="en-US" sz="1400" dirty="0"/>
              <a:t> Entry and exit modules can be maintained or extended independently.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b="1" dirty="0"/>
              <a:t>Low-cost implementation:</a:t>
            </a:r>
            <a:r>
              <a:rPr lang="en-US" sz="1400" dirty="0"/>
              <a:t> The prototype uses commonly available Arduino, ESP32-CAM, HC-SR04, and servo components.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95286AD-6909-F611-6200-46C2A49FAF13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16/20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FADE7D-D596-7288-4400-63E3A7382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6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EADC7-9411-56A0-9353-3948BD80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F03BBB0-E0A5-9E49-A2D6-62AE9B59BEB1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3200" b="1" dirty="0"/>
              <a:t>AI Used</a:t>
            </a:r>
            <a:endParaRPr lang="en-US" sz="3000" b="1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9E3A98-978C-6540-910E-2604191BE676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support and human contribution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8DBA5A-2514-8A06-7281-81D496CB9134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35DCCCA-9E9F-4DB7-23C5-0902560EDF3F}"/>
              </a:ext>
            </a:extLst>
          </p:cNvPr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AI Support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055FC5B-CE67-A944-3160-F10FAC4B8D87}"/>
              </a:ext>
            </a:extLst>
          </p:cNvPr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04CD48-F019-CE4F-615E-7CA2C80CA3F8}"/>
              </a:ext>
            </a:extLst>
          </p:cNvPr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 verification</a:t>
            </a:r>
            <a:endParaRPr lang="en-US" sz="1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D89FEA9-F73F-7681-3B39-4CB491F9F218}"/>
              </a:ext>
            </a:extLst>
          </p:cNvPr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17/20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8057FB-6089-C354-7CE9-313AC198D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F9A104-6EBB-18CC-1FBB-92D31AF18080}"/>
              </a:ext>
            </a:extLst>
          </p:cNvPr>
          <p:cNvSpPr txBox="1"/>
          <p:nvPr/>
        </p:nvSpPr>
        <p:spPr>
          <a:xfrm>
            <a:off x="731520" y="2029967"/>
            <a:ext cx="516445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Assisted with literature review, system architecture, metric selection, coding, debugging, and result interpretation.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Suggested YOLO model comparisons and improvements for Arduino, ESP32-CAM, backend, and dashboard modules.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E07EA1-C7AB-8D97-35AE-35C34B3B808E}"/>
              </a:ext>
            </a:extLst>
          </p:cNvPr>
          <p:cNvSpPr txBox="1"/>
          <p:nvPr/>
        </p:nvSpPr>
        <p:spPr>
          <a:xfrm>
            <a:off x="6355080" y="2029967"/>
            <a:ext cx="53701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references and technical claims.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Tested code and hardware changes on the real prototype.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Recalculated experimental results.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Removed unsupported AI-generated assumptions.</a:t>
            </a:r>
          </a:p>
        </p:txBody>
      </p:sp>
    </p:spTree>
    <p:extLst>
      <p:ext uri="{BB962C8B-B14F-4D97-AF65-F5344CB8AC3E}">
        <p14:creationId xmlns:p14="http://schemas.microsoft.com/office/powerpoint/2010/main" val="777869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Summary and possible improvements.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208276"/>
            <a:ext cx="512064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/>
              <a:t>Developed a low-cost smart parking prototype.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/>
              <a:t>Integrated vehicle detection, camera verification, barrier control, occupancy tracking, database storage, and web monitoring. 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/>
              <a:t>The modular architecture allowed the hardware and software components to operate as one complete system.</a:t>
            </a:r>
          </a:p>
          <a:p>
            <a:pPr marL="177800" indent="-177800">
              <a:buSzPct val="100000"/>
              <a:buChar char="•"/>
            </a:pP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/>
              <a:t> The system reduced manual operation and improved parking-event monitoring.</a:t>
            </a:r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0" cy="425196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491741"/>
            <a:ext cx="475488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/>
              <a:t>Add license plate recognition. 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/>
              <a:t>Improve camera quality and low-light performance. 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/>
              <a:t>Reduce YOLO inference and gate response time. 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/>
              <a:t>Improve communication and offline reliability. 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/>
              <a:t>Test with more vehicles, objects, lighting conditions, and camera angles.</a:t>
            </a:r>
          </a:p>
          <a:p>
            <a:pPr marL="177800" indent="-177800">
              <a:buSzPct val="100000"/>
              <a:buChar char="•"/>
            </a:pP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/>
              <a:t> Extend the system with slot management, reservations, and payment.</a:t>
            </a:r>
          </a:p>
        </p:txBody>
      </p:sp>
      <p:sp>
        <p:nvSpPr>
          <p:cNvPr id="10" name="Text 8"/>
          <p:cNvSpPr/>
          <p:nvPr/>
        </p:nvSpPr>
        <p:spPr>
          <a:xfrm>
            <a:off x="777240" y="57424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proposed system provides a </a:t>
            </a:r>
            <a:r>
              <a:rPr lang="en-US" sz="1550" b="1" dirty="0">
                <a:solidFill>
                  <a:srgbClr val="FF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foundation</a:t>
            </a: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for smart parking automation and future AI-based expansion.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18/20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CECF1D-79CA-F355-5E2B-0B0DF4C6F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A262-3486-6711-E79D-6C0B34B25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5091F1-588D-EDD0-A8A5-705F4775E96E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hardware prototype 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F31122F-35B4-BA7E-E9C0-67C3A4B7612C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wiring and functional prototype 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7705E8B-BFC1-8322-5AF8-1A4FC49DDEB2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7899FD2-D77A-7039-F78E-8208F7CED933}"/>
              </a:ext>
            </a:extLst>
          </p:cNvPr>
          <p:cNvSpPr/>
          <p:nvPr/>
        </p:nvSpPr>
        <p:spPr>
          <a:xfrm>
            <a:off x="731520" y="1325880"/>
            <a:ext cx="10744200" cy="42976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E11D54-B39B-D817-C75C-E79B5437C515}"/>
              </a:ext>
            </a:extLst>
          </p:cNvPr>
          <p:cNvSpPr/>
          <p:nvPr/>
        </p:nvSpPr>
        <p:spPr>
          <a:xfrm>
            <a:off x="868680" y="314096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WEB DASHBOARD SCREENSHOT / MOCKUP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5B89FE4-AEF4-D370-8203-DD09FAB188F0}"/>
              </a:ext>
            </a:extLst>
          </p:cNvPr>
          <p:cNvSpPr/>
          <p:nvPr/>
        </p:nvSpPr>
        <p:spPr>
          <a:xfrm>
            <a:off x="914400" y="3525012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Insert the final dashboard image, or a mockup if the implementation is not finished.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6191108-3FE1-BBCA-9E81-E9E7753758FA}"/>
              </a:ext>
            </a:extLst>
          </p:cNvPr>
          <p:cNvSpPr/>
          <p:nvPr/>
        </p:nvSpPr>
        <p:spPr>
          <a:xfrm>
            <a:off x="530352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19/20</a:t>
            </a:r>
            <a:endParaRPr lang="en-US" sz="8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A2A7D17-02D6-1087-CB48-6643D409C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1426465"/>
            <a:ext cx="10485120" cy="410565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2EC055-109D-FEA3-96F7-BF3B3CFB4262}"/>
              </a:ext>
            </a:extLst>
          </p:cNvPr>
          <p:cNvSpPr txBox="1"/>
          <p:nvPr/>
        </p:nvSpPr>
        <p:spPr>
          <a:xfrm>
            <a:off x="600075" y="57657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Prototype</a:t>
            </a: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includes</a:t>
            </a:r>
            <a:endParaRPr lang="en-US" sz="18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57A45F9E-F279-1CD7-13C1-DF965F0EED4B}"/>
              </a:ext>
            </a:extLst>
          </p:cNvPr>
          <p:cNvSpPr/>
          <p:nvPr/>
        </p:nvSpPr>
        <p:spPr>
          <a:xfrm>
            <a:off x="3429000" y="5779008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module, Slave modules + ESP32-Cam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993B82-F066-1210-1D73-91EC1CF1D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8747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71D10-D5D5-B790-E3EE-FEC7041C2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73177D-045F-4A9E-3176-61E18967A11E}"/>
              </a:ext>
            </a:extLst>
          </p:cNvPr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Demonstration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62ACA6-4282-000B-6EDF-715523D60D18}"/>
              </a:ext>
            </a:extLst>
          </p:cNvPr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function demonstration</a:t>
            </a:r>
            <a:endParaRPr lang="en-US" sz="12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B52FE3E-949C-EE64-F0ED-19A906D50B9B}"/>
              </a:ext>
            </a:extLst>
          </p:cNvPr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5E503FA-70CF-98EA-E818-4A881628FA29}"/>
              </a:ext>
            </a:extLst>
          </p:cNvPr>
          <p:cNvSpPr/>
          <p:nvPr/>
        </p:nvSpPr>
        <p:spPr>
          <a:xfrm>
            <a:off x="530352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20/20</a:t>
            </a:r>
            <a:endParaRPr lang="en-US" sz="8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EFB98E-F211-8B00-3232-77F3866A4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4550" y="44112"/>
            <a:ext cx="2356685" cy="920580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E28058F6-0509-6152-F649-B768E568CA81}"/>
              </a:ext>
            </a:extLst>
          </p:cNvPr>
          <p:cNvGrpSpPr/>
          <p:nvPr/>
        </p:nvGrpSpPr>
        <p:grpSpPr>
          <a:xfrm>
            <a:off x="723900" y="1300231"/>
            <a:ext cx="6096000" cy="3258731"/>
            <a:chOff x="400050" y="1300231"/>
            <a:chExt cx="6096000" cy="325873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04EC33-072C-4ED9-B9AF-1BF672F9F0F0}"/>
                </a:ext>
              </a:extLst>
            </p:cNvPr>
            <p:cNvSpPr txBox="1"/>
            <p:nvPr/>
          </p:nvSpPr>
          <p:spPr>
            <a:xfrm>
              <a:off x="400050" y="1300231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F77B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Demo flow</a:t>
              </a:r>
              <a:endParaRPr lang="en-US" sz="18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0E6BB4-3996-2CC5-3176-958E8985D959}"/>
                </a:ext>
              </a:extLst>
            </p:cNvPr>
            <p:cNvSpPr txBox="1"/>
            <p:nvPr/>
          </p:nvSpPr>
          <p:spPr>
            <a:xfrm>
              <a:off x="502920" y="2527637"/>
              <a:ext cx="4412625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Vehicle detected 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Image captured 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YOLO verification 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Gate decision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Barrier control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Database update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Dashboard display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2C7A0A-A6D2-0E06-9C0E-34831AF0B25C}"/>
              </a:ext>
            </a:extLst>
          </p:cNvPr>
          <p:cNvGrpSpPr/>
          <p:nvPr/>
        </p:nvGrpSpPr>
        <p:grpSpPr>
          <a:xfrm>
            <a:off x="6231916" y="1300231"/>
            <a:ext cx="5664097" cy="3258731"/>
            <a:chOff x="502920" y="3694200"/>
            <a:chExt cx="9850958" cy="325873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A50E960-E8B0-3302-C02A-0D39C40557DE}"/>
                </a:ext>
              </a:extLst>
            </p:cNvPr>
            <p:cNvSpPr txBox="1"/>
            <p:nvPr/>
          </p:nvSpPr>
          <p:spPr>
            <a:xfrm>
              <a:off x="530351" y="4921606"/>
              <a:ext cx="982352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 Detect the vehicle at the entry or exit gate.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 Capture and process the vehicle image.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 Open or close the barrier based on the detection result.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 Update parking occupancy. 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/>
                <a:t> Store and display the latest event on the dashboard.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A94EFE4-31A6-462A-96BB-7AF8A38D42E1}"/>
                </a:ext>
              </a:extLst>
            </p:cNvPr>
            <p:cNvSpPr txBox="1"/>
            <p:nvPr/>
          </p:nvSpPr>
          <p:spPr>
            <a:xfrm>
              <a:off x="502920" y="3694200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chemeClr val="accent6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Demo result expectation</a:t>
              </a:r>
              <a:endParaRPr lang="en-US" sz="1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2" name="Shape 5">
            <a:extLst>
              <a:ext uri="{FF2B5EF4-FFF2-40B4-BE49-F238E27FC236}">
                <a16:creationId xmlns:a16="http://schemas.microsoft.com/office/drawing/2014/main" id="{EEBEA62F-BDB0-A585-55EA-EFE7501033C2}"/>
              </a:ext>
            </a:extLst>
          </p:cNvPr>
          <p:cNvSpPr/>
          <p:nvPr/>
        </p:nvSpPr>
        <p:spPr>
          <a:xfrm>
            <a:off x="6126480" y="1417320"/>
            <a:ext cx="0" cy="425196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725116-9E7E-88DF-1235-021D4F6C8645}"/>
              </a:ext>
            </a:extLst>
          </p:cNvPr>
          <p:cNvSpPr txBox="1"/>
          <p:nvPr/>
        </p:nvSpPr>
        <p:spPr>
          <a:xfrm>
            <a:off x="599363" y="5787257"/>
            <a:ext cx="11296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The demonstration shows the complete operation from vehicle detection to automatic gate control and web monitoring.</a:t>
            </a:r>
          </a:p>
        </p:txBody>
      </p:sp>
    </p:spTree>
    <p:extLst>
      <p:ext uri="{BB962C8B-B14F-4D97-AF65-F5344CB8AC3E}">
        <p14:creationId xmlns:p14="http://schemas.microsoft.com/office/powerpoint/2010/main" val="4327732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F4117F-02B5-5E5E-976B-55AAF97F2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B406549-B99B-54C4-EF00-FF3D05EA2616}"/>
              </a:ext>
            </a:extLst>
          </p:cNvPr>
          <p:cNvSpPr/>
          <p:nvPr/>
        </p:nvSpPr>
        <p:spPr>
          <a:xfrm>
            <a:off x="685800" y="141732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Thanks for listening</a:t>
            </a:r>
          </a:p>
          <a:p>
            <a:pPr marL="0" indent="0" algn="ctr">
              <a:buNone/>
            </a:pPr>
            <a:endParaRPr lang="en-US" sz="3600" b="1" dirty="0">
              <a:solidFill>
                <a:srgbClr val="0B1F3A"/>
              </a:solidFill>
              <a:latin typeface="Montserrat" pitchFamily="34" charset="0"/>
              <a:ea typeface="Montserrat" pitchFamily="34" charset="-122"/>
              <a:cs typeface="Montserrat" pitchFamily="34" charset="-120"/>
            </a:endParaRPr>
          </a:p>
          <a:p>
            <a:pPr marL="0" indent="0" algn="ctr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</a:rPr>
              <a:t>Q&amp;A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29804E-007E-647E-EA39-FE6000D53D0B}"/>
              </a:ext>
            </a:extLst>
          </p:cNvPr>
          <p:cNvSpPr/>
          <p:nvPr/>
        </p:nvSpPr>
        <p:spPr>
          <a:xfrm>
            <a:off x="685800" y="3685049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77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IoT102 Project – Group 7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322191-609C-5CCC-012B-1776BB662BB0}"/>
              </a:ext>
            </a:extLst>
          </p:cNvPr>
          <p:cNvSpPr/>
          <p:nvPr/>
        </p:nvSpPr>
        <p:spPr>
          <a:xfrm>
            <a:off x="713232" y="5532120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Members: </a:t>
            </a:r>
            <a:r>
              <a:rPr lang="en-US" sz="1250" b="1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Nguyễn Sỹ Minh Mẫn, Đỗ Thành Triết, Trần Đăng Khoa, Bùi Đình Long</a:t>
            </a:r>
            <a:endParaRPr lang="en-US" sz="1250" b="1" dirty="0"/>
          </a:p>
          <a:p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Instructor: </a:t>
            </a:r>
            <a:r>
              <a:rPr lang="en-US" sz="1250" dirty="0"/>
              <a:t>Nguyễn </a:t>
            </a:r>
            <a:r>
              <a:rPr lang="en-US" sz="1250"/>
              <a:t>Đức Lợi – Class: SE2045</a:t>
            </a:r>
            <a:endParaRPr lang="en-US" sz="12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E76E11-B506-6ABF-47A0-2A1064775BAD}"/>
              </a:ext>
            </a:extLst>
          </p:cNvPr>
          <p:cNvSpPr/>
          <p:nvPr/>
        </p:nvSpPr>
        <p:spPr>
          <a:xfrm>
            <a:off x="6720840" y="960120"/>
            <a:ext cx="4663440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123930B-1468-E1A7-5CA0-056350161C80}"/>
              </a:ext>
            </a:extLst>
          </p:cNvPr>
          <p:cNvSpPr/>
          <p:nvPr/>
        </p:nvSpPr>
        <p:spPr>
          <a:xfrm>
            <a:off x="6858000" y="28209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/ BARRIER IMAGE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AB2052-ABA1-428A-FD20-56C0C5E8A309}"/>
              </a:ext>
            </a:extLst>
          </p:cNvPr>
          <p:cNvSpPr/>
          <p:nvPr/>
        </p:nvSpPr>
        <p:spPr>
          <a:xfrm>
            <a:off x="6903720" y="32049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a clean image of a parking gate, barrier, or smart parking system.</a:t>
            </a:r>
            <a:endParaRPr lang="en-US" sz="10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539341-B79E-0DD5-E9CC-260A4790AB51}"/>
              </a:ext>
            </a:extLst>
          </p:cNvPr>
          <p:cNvSpPr/>
          <p:nvPr/>
        </p:nvSpPr>
        <p:spPr>
          <a:xfrm>
            <a:off x="713232" y="626364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</a:t>
            </a:r>
            <a:endParaRPr lang="en-US" sz="900" dirty="0"/>
          </a:p>
        </p:txBody>
      </p:sp>
      <p:pic>
        <p:nvPicPr>
          <p:cNvPr id="9" name="Picture 8" descr="44,671 Vehicle Barriers Royalty-Free Images, Stock Photos ...">
            <a:extLst>
              <a:ext uri="{FF2B5EF4-FFF2-40B4-BE49-F238E27FC236}">
                <a16:creationId xmlns:a16="http://schemas.microsoft.com/office/drawing/2014/main" id="{E4B525D6-1824-9936-5878-D9E7F30CEA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593" b="7286"/>
          <a:stretch>
            <a:fillRect/>
          </a:stretch>
        </p:blipFill>
        <p:spPr>
          <a:xfrm>
            <a:off x="6782867" y="1005839"/>
            <a:ext cx="4526363" cy="40492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8E6CF45-6665-C424-8F35-DB41702B6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444019"/>
            <a:ext cx="2356685" cy="92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99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1868</Words>
  <Application>Microsoft Office PowerPoint</Application>
  <PresentationFormat>Widescreen</PresentationFormat>
  <Paragraphs>429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Cambria Math</vt:lpstr>
      <vt:lpstr>Courier New</vt:lpstr>
      <vt:lpstr>Georgia</vt:lpstr>
      <vt:lpstr>Montserrat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Smart Parking System with Vehicle Detection and Barrier Control</dc:title>
  <dc:subject>Smart Parking System Presentation</dc:subject>
  <dc:creator>OpenAI</dc:creator>
  <cp:lastModifiedBy>Ryuga Shirakami</cp:lastModifiedBy>
  <cp:revision>461</cp:revision>
  <dcterms:created xsi:type="dcterms:W3CDTF">2026-06-26T06:34:30Z</dcterms:created>
  <dcterms:modified xsi:type="dcterms:W3CDTF">2026-07-18T13:17:49Z</dcterms:modified>
</cp:coreProperties>
</file>