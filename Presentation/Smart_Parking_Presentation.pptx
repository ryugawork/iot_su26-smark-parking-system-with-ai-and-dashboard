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3"/>
  </p:notesMasterIdLst>
  <p:sldIdLst>
    <p:sldId id="256" r:id="rId2"/>
    <p:sldId id="257" r:id="rId3"/>
    <p:sldId id="270" r:id="rId4"/>
    <p:sldId id="258" r:id="rId5"/>
    <p:sldId id="259" r:id="rId6"/>
    <p:sldId id="260" r:id="rId7"/>
    <p:sldId id="261" r:id="rId8"/>
    <p:sldId id="262" r:id="rId9"/>
    <p:sldId id="276" r:id="rId10"/>
    <p:sldId id="274" r:id="rId11"/>
    <p:sldId id="275" r:id="rId12"/>
    <p:sldId id="263" r:id="rId13"/>
    <p:sldId id="269" r:id="rId14"/>
    <p:sldId id="264" r:id="rId15"/>
    <p:sldId id="265" r:id="rId16"/>
    <p:sldId id="268" r:id="rId17"/>
    <p:sldId id="271" r:id="rId18"/>
    <p:sldId id="266" r:id="rId19"/>
    <p:sldId id="267" r:id="rId20"/>
    <p:sldId id="273" r:id="rId21"/>
    <p:sldId id="272" r:id="rId22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793D81CF-94F2-401A-BA57-92F5A7B2D0C5}" styleName="Medium Style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783" autoAdjust="0"/>
    <p:restoredTop sz="43083" autoAdjust="0"/>
  </p:normalViewPr>
  <p:slideViewPr>
    <p:cSldViewPr snapToGrid="0" snapToObjects="1">
      <p:cViewPr varScale="1">
        <p:scale>
          <a:sx n="47" d="100"/>
          <a:sy n="47" d="100"/>
        </p:scale>
        <p:origin x="468" y="54"/>
      </p:cViewPr>
      <p:guideLst/>
    </p:cSldViewPr>
  </p:slideViewPr>
  <p:notesTextViewPr>
    <p:cViewPr>
      <p:scale>
        <a:sx n="125" d="100"/>
        <a:sy n="125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3026060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Wingdings" panose="05000000000000000000" pitchFamily="2" charset="2"/>
              <a:buChar char="Ø"/>
            </a:pP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Em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xin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chào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thầy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và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các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bạn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Nhóm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em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là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Group 7,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và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đề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tài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của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nhóm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là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**A Smart Parking System with Vehicle Detection and Barrier Control**.  </a:t>
            </a:r>
          </a:p>
          <a:p>
            <a:pPr marL="171450" indent="-171450">
              <a:buFont typeface="Wingdings" panose="05000000000000000000" pitchFamily="2" charset="2"/>
              <a:buChar char="Ø"/>
            </a:pPr>
            <a:endParaRPr 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171450" indent="-171450">
              <a:buFont typeface="Wingdings" panose="05000000000000000000" pitchFamily="2" charset="2"/>
              <a:buChar char="Ø"/>
            </a:pP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Mục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tiêu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của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nhóm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là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xây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dựng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một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prototype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bãi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xe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thông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minh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quy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mô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nhỏ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có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khả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năng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phát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hiện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phương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tiện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tại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cổng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vào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và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cổng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ra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chụp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ảnh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xác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minh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phương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tiện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bằng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mô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hình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YOLO,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điều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khiển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barrier,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cập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nhật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số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lượng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xe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và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hiển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thị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thông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tin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trên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web dashboard.  </a:t>
            </a:r>
          </a:p>
          <a:p>
            <a:pPr marL="171450" indent="-171450">
              <a:buFont typeface="Wingdings" panose="05000000000000000000" pitchFamily="2" charset="2"/>
              <a:buChar char="Ø"/>
            </a:pPr>
            <a:endParaRPr 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171450" indent="-171450">
              <a:buFont typeface="Wingdings" panose="05000000000000000000" pitchFamily="2" charset="2"/>
              <a:buChar char="Ø"/>
            </a:pP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Hệ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thống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được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phát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triển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trong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môn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IOT102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và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tập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trung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vào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việc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kết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hợp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phần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cứng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IoT, AI server,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cơ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sở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dữ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liệu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và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giao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diện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web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thành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một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quy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trình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hoàn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chỉnh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507564-7012-DC00-6C0A-9B4CB004DF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C3A9524-E6B9-4605-6448-9D28C57B24D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1375F81-A4AE-D9F4-50AE-01127533094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Wingdings" panose="05000000000000000000" pitchFamily="2" charset="2"/>
              <a:buChar char="Ø"/>
            </a:pP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Trong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các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bãi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xe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nhỏ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việc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kiểm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soát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xe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ra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vào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vẫn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thường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phụ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thuộc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vào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nhân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viên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vận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hành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Quá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trình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kiểm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tra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có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thể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chậm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dữ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liệu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không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được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lưu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đầy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đủ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và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người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quản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lý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khó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theo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dõi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trạng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thái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theo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thời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gian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thực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 </a:t>
            </a:r>
          </a:p>
          <a:p>
            <a:endParaRPr 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171450" indent="-171450">
              <a:buFont typeface="Wingdings" panose="05000000000000000000" pitchFamily="2" charset="2"/>
              <a:buChar char="Ø"/>
            </a:pP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Ngoài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ra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nếu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chỉ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dùng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một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cơ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chế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mở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cổng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đơn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giản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thì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hệ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thống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không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có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ảnh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xác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minh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không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có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lịch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sử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sự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kiện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và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khó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kiểm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tra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lại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khi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có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vấn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đề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 </a:t>
            </a:r>
          </a:p>
          <a:p>
            <a:endParaRPr 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171450" indent="-171450">
              <a:buFont typeface="Wingdings" panose="05000000000000000000" pitchFamily="2" charset="2"/>
              <a:buChar char="Ø"/>
            </a:pP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Vì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vậy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nhóm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đề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xuất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một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hệ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thống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có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thể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tự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động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phát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hiện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xác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minh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điều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khiển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barrier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và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lưu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dữ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liệu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tập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trung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pPr marL="0" indent="0">
              <a:buFont typeface="Wingdings" panose="05000000000000000000" pitchFamily="2" charset="2"/>
              <a:buNone/>
            </a:pPr>
            <a:endParaRPr 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br>
              <a:rPr lang="en-US" dirty="0"/>
            </a:b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C11905D-A5CF-6D6C-4C4A-197B0140BDA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131409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Wingdings" panose="05000000000000000000" pitchFamily="2" charset="2"/>
              <a:buChar char="Ø"/>
            </a:pP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Hệ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thống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truyền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thống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có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năm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hạn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chế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chính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 </a:t>
            </a:r>
          </a:p>
          <a:p>
            <a:endParaRPr 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171450" indent="-171450">
              <a:buFont typeface="Wingdings" panose="05000000000000000000" pitchFamily="2" charset="2"/>
              <a:buChar char="Ø"/>
            </a:pP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Thứ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nhất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việc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kiểm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tra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thủ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công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dễ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gây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chậm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tại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cổng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 </a:t>
            </a:r>
          </a:p>
          <a:p>
            <a:pPr marL="171450" indent="-171450">
              <a:buFont typeface="Wingdings" panose="05000000000000000000" pitchFamily="2" charset="2"/>
              <a:buChar char="Ø"/>
            </a:pP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Thứ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hai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trạng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thái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cổng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và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lịch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sử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xe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thường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không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được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lưu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tự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động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 </a:t>
            </a:r>
          </a:p>
          <a:p>
            <a:pPr marL="171450" indent="-171450">
              <a:buFont typeface="Wingdings" panose="05000000000000000000" pitchFamily="2" charset="2"/>
              <a:buChar char="Ø"/>
            </a:pP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Thứ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ba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hệ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thống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thiếu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hình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ảnh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để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xác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minh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sự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kiện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 </a:t>
            </a:r>
          </a:p>
          <a:p>
            <a:pPr marL="171450" indent="-171450">
              <a:buFont typeface="Wingdings" panose="05000000000000000000" pitchFamily="2" charset="2"/>
              <a:buChar char="Ø"/>
            </a:pP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Thứ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tư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người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quản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lý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không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có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dashboard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để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theo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dõi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từ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một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nơi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tập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trung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</a:p>
          <a:p>
            <a:pPr marL="171450" indent="-171450">
              <a:buFont typeface="Wingdings" panose="05000000000000000000" pitchFamily="2" charset="2"/>
              <a:buChar char="Ø"/>
            </a:pP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Và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cuối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cùng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việc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kiểm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tra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lại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sự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cố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hoặc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đối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chiếu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lịch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sử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mất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nhiều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thời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gian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 </a:t>
            </a:r>
          </a:p>
          <a:p>
            <a:pPr marL="171450" indent="-171450">
              <a:buFont typeface="Wingdings" panose="05000000000000000000" pitchFamily="2" charset="2"/>
              <a:buChar char="Ø"/>
            </a:pPr>
            <a:endParaRPr 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171450" indent="-171450">
              <a:buFont typeface="Wingdings" panose="05000000000000000000" pitchFamily="2" charset="2"/>
              <a:buChar char="Ø"/>
            </a:pP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Những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hạn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chế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này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dẫn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đến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ùn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tắc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tại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cổng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sai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sót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con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người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và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khả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năng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truy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vết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thấp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Wingdings" panose="05000000000000000000" pitchFamily="2" charset="2"/>
              <a:buChar char="Ø"/>
            </a:pP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Mục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tiêu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của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nhóm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là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phát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triển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một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prototype IoT chi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phí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thấp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cho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bãi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xe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quy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mô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nhỏ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 </a:t>
            </a:r>
          </a:p>
          <a:p>
            <a:pPr marL="171450" indent="-171450">
              <a:buFont typeface="Wingdings" panose="05000000000000000000" pitchFamily="2" charset="2"/>
              <a:buChar char="Ø"/>
            </a:pPr>
            <a:endParaRPr 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171450" indent="-171450">
              <a:buFont typeface="Wingdings" panose="05000000000000000000" pitchFamily="2" charset="2"/>
              <a:buChar char="Ø"/>
            </a:pP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Scope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của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hệ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thống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gồm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gate-level detection, camera verification, barrier control, occupancy tracking, event logging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và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dashboard monitoring.  </a:t>
            </a:r>
          </a:p>
          <a:p>
            <a:pPr marL="171450" indent="-171450">
              <a:buFont typeface="Wingdings" panose="05000000000000000000" pitchFamily="2" charset="2"/>
              <a:buChar char="Ø"/>
            </a:pPr>
            <a:endParaRPr 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171450" indent="-171450">
              <a:buFont typeface="Wingdings" panose="05000000000000000000" pitchFamily="2" charset="2"/>
              <a:buChar char="Ø"/>
            </a:pP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Các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chức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năng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như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nhận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diện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biển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số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xác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định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từng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slot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đỗ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xe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reservation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và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payment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chưa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nằm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trong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phạm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vi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hiện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tại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pPr marL="171450" indent="-171450">
              <a:buFont typeface="Wingdings" panose="05000000000000000000" pitchFamily="2" charset="2"/>
              <a:buChar char="Ø"/>
            </a:pPr>
            <a:endParaRPr 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171450" indent="-171450">
              <a:buFont typeface="Wingdings" panose="05000000000000000000" pitchFamily="2" charset="2"/>
              <a:buChar char="Ø"/>
            </a:pP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Hệ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thống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có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ba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nhóm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chức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năng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chính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</a:p>
          <a:p>
            <a:pPr marL="171450" indent="-171450">
              <a:buFont typeface="Wingdings" panose="05000000000000000000" pitchFamily="2" charset="2"/>
              <a:buChar char="Ø"/>
            </a:pPr>
            <a:endParaRPr 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171450" indent="-171450">
              <a:buFont typeface="Wingdings" panose="05000000000000000000" pitchFamily="2" charset="2"/>
              <a:buChar char="Ø"/>
            </a:pP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Nhóm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đầu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tiên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là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**Detection**,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sử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dụng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HC-SR04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để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phát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hiện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vật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thể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và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ESP32-CAM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để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chụp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ảnh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 </a:t>
            </a:r>
          </a:p>
          <a:p>
            <a:endParaRPr 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171450" indent="-171450">
              <a:buFont typeface="Wingdings" panose="05000000000000000000" pitchFamily="2" charset="2"/>
              <a:buChar char="Ø"/>
            </a:pP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Nhóm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thứ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hai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là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**Processing**,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ảnh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được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gửi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đến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FastAPI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server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để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YOLO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xác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minh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xem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có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phương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tiện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thuộc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class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được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chấp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nhận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hay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không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Server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sau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đó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trả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về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quyết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định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OPEN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hoặc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CLOSE.  </a:t>
            </a:r>
          </a:p>
          <a:p>
            <a:endParaRPr 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171450" indent="-171450">
              <a:buFont typeface="Wingdings" panose="05000000000000000000" pitchFamily="2" charset="2"/>
              <a:buChar char="Ø"/>
            </a:pP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Nhóm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thứ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ba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là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**Management**, Arduino Master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điều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khiển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barrier,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dữ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liệu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được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lưu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trong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SQL Server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và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hiển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thị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trên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dashboard. </a:t>
            </a:r>
          </a:p>
          <a:p>
            <a:endParaRPr 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171450" indent="-171450">
              <a:buFont typeface="Wingdings" panose="05000000000000000000" pitchFamily="2" charset="2"/>
              <a:buChar char="Ø"/>
            </a:pPr>
            <a:endParaRPr 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Wingdings" panose="05000000000000000000" pitchFamily="2" charset="2"/>
              <a:buChar char="Ø"/>
            </a:pP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Hệ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thống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phần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cứng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được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chia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thành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ba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nhóm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chính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pPr marL="0" indent="0">
              <a:buFont typeface="Wingdings" panose="05000000000000000000" pitchFamily="2" charset="2"/>
              <a:buNone/>
            </a:pPr>
            <a:endParaRPr 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171450" indent="-171450">
              <a:buFont typeface="Wingdings" panose="05000000000000000000" pitchFamily="2" charset="2"/>
              <a:buChar char="Ø"/>
            </a:pP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Arduino Master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là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bộ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điều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khiển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trung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tâm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phụ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trách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servo barrier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và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LCD status display.  </a:t>
            </a:r>
          </a:p>
          <a:p>
            <a:pPr marL="171450" indent="-171450">
              <a:buFont typeface="Wingdings" panose="05000000000000000000" pitchFamily="2" charset="2"/>
              <a:buChar char="Ø"/>
            </a:pPr>
            <a:endParaRPr 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171450" indent="-171450">
              <a:buFont typeface="Wingdings" panose="05000000000000000000" pitchFamily="2" charset="2"/>
              <a:buChar char="Ø"/>
            </a:pP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Hai Arduino Slave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tương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ứng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với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cổng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ENTRY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và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EXIT.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Mỗi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Slave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đọc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HC-SR04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và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giao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tiếp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với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một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ESP32-CAM. </a:t>
            </a:r>
          </a:p>
          <a:p>
            <a:pPr marL="171450" indent="-171450">
              <a:buFont typeface="Wingdings" panose="05000000000000000000" pitchFamily="2" charset="2"/>
              <a:buChar char="Ø"/>
            </a:pP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</a:p>
          <a:p>
            <a:pPr marL="171450" indent="-171450">
              <a:buFont typeface="Wingdings" panose="05000000000000000000" pitchFamily="2" charset="2"/>
              <a:buChar char="Ø"/>
            </a:pP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Master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giao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tiếp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với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các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Slave qua I2C. Slave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và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ESP32-CAM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giao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tiếp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qua UART. ESP32-CAM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gửi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ảnh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đến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server qua Wi-Fi.  </a:t>
            </a:r>
          </a:p>
          <a:p>
            <a:endParaRPr 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171450" indent="-171450">
              <a:buFont typeface="Wingdings" panose="05000000000000000000" pitchFamily="2" charset="2"/>
              <a:buChar char="Ø"/>
            </a:pP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Nhóm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không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dùng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ESP32-CAM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để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thay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toàn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bộ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Arduino Slave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vì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camera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và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Wi-Fi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có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thể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gây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blocking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hoặc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delay. Slave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giúp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sensor polling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và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giao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tiếp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local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ổn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định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hơn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pPr marL="171450" indent="-171450">
              <a:buFont typeface="Wingdings" panose="05000000000000000000" pitchFamily="2" charset="2"/>
              <a:buChar char="Ø"/>
            </a:pPr>
            <a:endParaRPr 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Wingdings" panose="05000000000000000000" pitchFamily="2" charset="2"/>
              <a:buChar char="Ø"/>
            </a:pP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Kiến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trúc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hệ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thống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gồm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ba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layer.  </a:t>
            </a:r>
          </a:p>
          <a:p>
            <a:pPr marL="171450" indent="-171450">
              <a:buFont typeface="Wingdings" panose="05000000000000000000" pitchFamily="2" charset="2"/>
              <a:buChar char="Ø"/>
            </a:pPr>
            <a:endParaRPr 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171450" indent="-171450">
              <a:buFont typeface="Wingdings" panose="05000000000000000000" pitchFamily="2" charset="2"/>
              <a:buChar char="Ø"/>
            </a:pP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Device Layer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gồm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Arduino Master, Arduino Slave, HC-SR04, ESP32-CAM, servo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và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LCD.  </a:t>
            </a:r>
          </a:p>
          <a:p>
            <a:pPr marL="171450" indent="-171450">
              <a:buFont typeface="Wingdings" panose="05000000000000000000" pitchFamily="2" charset="2"/>
              <a:buChar char="Ø"/>
            </a:pPr>
            <a:endParaRPr 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171450" indent="-171450">
              <a:buFont typeface="Wingdings" panose="05000000000000000000" pitchFamily="2" charset="2"/>
              <a:buChar char="Ø"/>
            </a:pP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Server Layer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gồm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FastAPI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backend, YOLO model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và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SQL Server. Server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tiếp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nhận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ảnh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thực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hiện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detection,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tạo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quyết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định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và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lưu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dữ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liệu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 </a:t>
            </a:r>
          </a:p>
          <a:p>
            <a:pPr marL="171450" indent="-171450">
              <a:buFont typeface="Wingdings" panose="05000000000000000000" pitchFamily="2" charset="2"/>
              <a:buChar char="Ø"/>
            </a:pPr>
            <a:endParaRPr 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171450" indent="-171450">
              <a:buFont typeface="Wingdings" panose="05000000000000000000" pitchFamily="2" charset="2"/>
              <a:buChar char="Ø"/>
            </a:pP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Application Layer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là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Java Web dashboard,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dùng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để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hiển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thị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occupancy,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trạng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thái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gate, sensor,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ảnh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mới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nhất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và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lịch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sử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sự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kiện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 </a:t>
            </a:r>
          </a:p>
          <a:p>
            <a:pPr marL="171450" indent="-171450">
              <a:buFont typeface="Wingdings" panose="05000000000000000000" pitchFamily="2" charset="2"/>
              <a:buChar char="Ø"/>
            </a:pPr>
            <a:endParaRPr 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171450" indent="-171450">
              <a:buFont typeface="Wingdings" panose="05000000000000000000" pitchFamily="2" charset="2"/>
              <a:buChar char="Ø"/>
            </a:pP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Luồng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dữ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liệu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đi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từ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thiết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bị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đến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server,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sau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đó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kết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quả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được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trả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về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phần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cứng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và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đồng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thời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lưu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vào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database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để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dashboard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truy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xuất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pPr marL="171450" indent="-171450">
              <a:buFont typeface="Wingdings" panose="05000000000000000000" pitchFamily="2" charset="2"/>
              <a:buChar char="Ø"/>
            </a:pPr>
            <a:endParaRPr 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Wingdings" panose="05000000000000000000" pitchFamily="2" charset="2"/>
              <a:buChar char="Ø"/>
            </a:pP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Đây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là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sơ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đồ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tổng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thể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của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toàn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bộ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mạch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Nó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thể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hiện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Arduino Master,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hai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Slave,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hai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HC-SR04,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hai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ESP32-CAM, servo, LCD, I2C bus, UART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và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common ground.  </a:t>
            </a:r>
          </a:p>
          <a:p>
            <a:endParaRPr 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171450" indent="-171450">
              <a:buFont typeface="Wingdings" panose="05000000000000000000" pitchFamily="2" charset="2"/>
              <a:buChar char="Ø"/>
            </a:pP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Vì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sơ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đồ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tổng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thể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có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nhiều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kết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nối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các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slide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tiếp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theo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sẽ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tách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phần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Master–Slave, Master module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và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Slave module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để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giải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thích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rõ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hơn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pPr marL="171450" indent="-171450">
              <a:buFont typeface="Wingdings" panose="05000000000000000000" pitchFamily="2" charset="2"/>
              <a:buChar char="Ø"/>
            </a:pPr>
            <a:endParaRPr 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D66509-C7E3-E404-12A6-403823B722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6719AE5-4F21-6312-64BA-73FAC0F05A6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CC93320-91FE-5174-A291-8E4DA969DDC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Wingdings" panose="05000000000000000000" pitchFamily="2" charset="2"/>
              <a:buChar char="Ø"/>
            </a:pP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Master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giao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tiếp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với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hai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Slave qua I2C. A4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là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SDA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và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A5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là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SCL. Hai Slave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có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địa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chỉ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riêng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ENTRY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là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0x08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và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EXIT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là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0x09.  </a:t>
            </a:r>
          </a:p>
          <a:p>
            <a:pPr marL="171450" indent="-171450">
              <a:buFont typeface="Wingdings" panose="05000000000000000000" pitchFamily="2" charset="2"/>
              <a:buChar char="Ø"/>
            </a:pPr>
            <a:endParaRPr 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171450" indent="-171450">
              <a:buFont typeface="Wingdings" panose="05000000000000000000" pitchFamily="2" charset="2"/>
              <a:buChar char="Ø"/>
            </a:pP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Ngoài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I2C,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hệ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thống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có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một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sync signal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từ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Master D13 sang Slave D2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để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đồng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bộ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một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số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trạng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thái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điều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khiển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 </a:t>
            </a:r>
          </a:p>
          <a:p>
            <a:pPr marL="171450" indent="-171450">
              <a:buFont typeface="Wingdings" panose="05000000000000000000" pitchFamily="2" charset="2"/>
              <a:buChar char="Ø"/>
            </a:pPr>
            <a:endParaRPr 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171450" indent="-171450">
              <a:buFont typeface="Wingdings" panose="05000000000000000000" pitchFamily="2" charset="2"/>
              <a:buChar char="Ø"/>
            </a:pP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Tất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cả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các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board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phải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dùng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common ground.</a:t>
            </a:r>
          </a:p>
          <a:p>
            <a:pPr marL="171450" indent="-171450">
              <a:buFont typeface="Wingdings" panose="05000000000000000000" pitchFamily="2" charset="2"/>
              <a:buChar char="Ø"/>
            </a:pPr>
            <a:endParaRPr 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2025F31-3D77-D97C-98ED-9F83F975CBC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802827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69E349-6475-BAA3-8A55-03F1E9ACB7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CA26103-9BA2-0365-33E7-A5487A6CFF4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6265CF2-32DF-E519-D2B3-39B7E81349B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Wingdings" panose="05000000000000000000" pitchFamily="2" charset="2"/>
              <a:buChar char="Ø"/>
            </a:pP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Arduino Master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điều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khiển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servo SG90 qua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chân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D11. Servo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được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dùng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để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mở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và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đóng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barrier.  </a:t>
            </a:r>
          </a:p>
          <a:p>
            <a:endParaRPr 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171450" indent="-171450">
              <a:buFont typeface="Wingdings" panose="05000000000000000000" pitchFamily="2" charset="2"/>
              <a:buChar char="Ø"/>
            </a:pP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LCD1602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được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kết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nối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ở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chế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độ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parallel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và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chỉ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dùng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làm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local debugging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hoặc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status display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trong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quá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trình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kiểm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thử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Dashboard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mới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là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giao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diện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giám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sát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chính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 </a:t>
            </a:r>
          </a:p>
          <a:p>
            <a:endParaRPr 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171450" indent="-171450">
              <a:buFont typeface="Wingdings" panose="05000000000000000000" pitchFamily="2" charset="2"/>
              <a:buChar char="Ø"/>
            </a:pP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Master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cũng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quản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lý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I2C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với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các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Slave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và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nhận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quyết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định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OPEN/CLOSE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để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điều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khiển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barrier.</a:t>
            </a:r>
          </a:p>
          <a:p>
            <a:pPr marL="171450" indent="-171450">
              <a:buFont typeface="Wingdings" panose="05000000000000000000" pitchFamily="2" charset="2"/>
              <a:buChar char="Ø"/>
            </a:pPr>
            <a:endParaRPr 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C3B76C7-AABB-F585-E714-2CBADBC7023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148028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7AE299-EDF1-338A-6264-E3D15E1BF0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CBBEABC-7694-2583-D33E-403BE7AB652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B875BC9-CCF7-255A-1F20-60C6DFAD97A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Wingdings" panose="05000000000000000000" pitchFamily="2" charset="2"/>
              <a:buChar char="Ø"/>
            </a:pP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Mỗi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Slave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kết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nối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với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một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HC-SR04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và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một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ESP32-CAM.  </a:t>
            </a:r>
          </a:p>
          <a:p>
            <a:endParaRPr 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171450" indent="-171450">
              <a:buFont typeface="Wingdings" panose="05000000000000000000" pitchFamily="2" charset="2"/>
              <a:buChar char="Ø"/>
            </a:pP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HC-SR04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sử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dụng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TRIG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và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ECHO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để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đo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khoảng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cách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Khi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khoảng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cách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nhỏ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hơn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ngưỡng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Slave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xác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định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có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vật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thể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và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yêu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cầu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camera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chụp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ảnh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 </a:t>
            </a:r>
          </a:p>
          <a:p>
            <a:pPr marL="171450" indent="-171450">
              <a:buFont typeface="Wingdings" panose="05000000000000000000" pitchFamily="2" charset="2"/>
              <a:buChar char="Ø"/>
            </a:pPr>
            <a:endParaRPr 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171450" indent="-171450">
              <a:buFont typeface="Wingdings" panose="05000000000000000000" pitchFamily="2" charset="2"/>
              <a:buChar char="Ø"/>
            </a:pP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Slave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và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ESP32-CAM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giao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tiếp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qua UART.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Vì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Arduino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dùng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logic 5V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trong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khi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ESP32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dùng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3.3V,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đường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tín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hiệu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từ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Arduino sang ESP32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phải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có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logic-level conversion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phù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hợp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 </a:t>
            </a:r>
          </a:p>
          <a:p>
            <a:endParaRPr 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171450" indent="-171450">
              <a:buFont typeface="Wingdings" panose="05000000000000000000" pitchFamily="2" charset="2"/>
              <a:buChar char="Ø"/>
            </a:pP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Hai module ENTRY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và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EXIT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có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cấu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trúc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giống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nhau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pPr marL="171450" indent="-171450">
              <a:buFont typeface="Wingdings" panose="05000000000000000000" pitchFamily="2" charset="2"/>
              <a:buChar char="Ø"/>
            </a:pPr>
            <a:endParaRPr 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A20BA75-C886-29BA-2772-6A569E8367F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538503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Wingdings" panose="05000000000000000000" pitchFamily="2" charset="2"/>
              <a:buChar char="Ø"/>
            </a:pP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Luồng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hoạt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động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bắt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đầu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khi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sensor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phát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hiện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vật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thể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Slave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yêu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cầu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ESP32-CAM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chụp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ảnh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và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gửi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ảnh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đến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server.  </a:t>
            </a:r>
          </a:p>
          <a:p>
            <a:pPr marL="171450" indent="-171450">
              <a:buFont typeface="Wingdings" panose="05000000000000000000" pitchFamily="2" charset="2"/>
              <a:buChar char="Ø"/>
            </a:pPr>
            <a:endParaRPr 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171450" indent="-171450">
              <a:buFont typeface="Wingdings" panose="05000000000000000000" pitchFamily="2" charset="2"/>
              <a:buChar char="Ø"/>
            </a:pP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YOLO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kiểm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tra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xem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ảnh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có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chứa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phương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tiện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thuộc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class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được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chấp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nhận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hay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không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Nếu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hợp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lệ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và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điều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kiện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occupancy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cho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phép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server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trả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về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OPEN.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Nếu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không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server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trả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về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CLOSE.  </a:t>
            </a:r>
          </a:p>
          <a:p>
            <a:pPr marL="171450" indent="-171450">
              <a:buFont typeface="Wingdings" panose="05000000000000000000" pitchFamily="2" charset="2"/>
              <a:buChar char="Ø"/>
            </a:pPr>
            <a:endParaRPr 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171450" indent="-171450">
              <a:buFont typeface="Wingdings" panose="05000000000000000000" pitchFamily="2" charset="2"/>
              <a:buChar char="Ø"/>
            </a:pP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Master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mở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barrier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khi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nhận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OPEN,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cập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nhật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trạng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thái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LCD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và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lưu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sự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kiện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Sau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ít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nhất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3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giây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barrier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chỉ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đóng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khi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sensor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không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còn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phát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hiện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vật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thể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 </a:t>
            </a:r>
          </a:p>
          <a:p>
            <a:endParaRPr 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171450" indent="-171450">
              <a:buFont typeface="Wingdings" panose="05000000000000000000" pitchFamily="2" charset="2"/>
              <a:buChar char="Ø"/>
            </a:pP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Nếu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confidence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thấp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bãi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đầy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hoặc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server timeout,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hệ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thống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giữ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trạng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thái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an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toàn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là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CLOSE.</a:t>
            </a:r>
          </a:p>
          <a:p>
            <a:pPr marL="171450" indent="-171450">
              <a:buFont typeface="Wingdings" panose="05000000000000000000" pitchFamily="2" charset="2"/>
              <a:buChar char="Ø"/>
            </a:pPr>
            <a:endParaRPr 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6F452F-E252-68EE-0F69-9D334A8518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B599262-529F-3ED4-0656-30630D06BEB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8B919B3-E244-9606-CD70-F07E501D808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Wingdings" panose="05000000000000000000" pitchFamily="2" charset="2"/>
              <a:buChar char="Ø"/>
            </a:pP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Hệ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thống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sử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dụng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ba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nhóm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dữ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liệu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chính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 </a:t>
            </a:r>
          </a:p>
          <a:p>
            <a:pPr marL="171450" indent="-171450">
              <a:buFont typeface="Wingdings" panose="05000000000000000000" pitchFamily="2" charset="2"/>
              <a:buChar char="Ø"/>
            </a:pPr>
            <a:endParaRPr 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171450" indent="-171450">
              <a:buFont typeface="Wingdings" panose="05000000000000000000" pitchFamily="2" charset="2"/>
              <a:buChar char="Ø"/>
            </a:pP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Bảng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`gates`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lưu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trạng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thái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hiện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tại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của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cổng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ENTRY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và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EXIT, bao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gồm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trạng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thái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mở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hoặc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đóng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quyết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định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gần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nhất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và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thời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gian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cập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nhật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 </a:t>
            </a:r>
          </a:p>
          <a:p>
            <a:pPr marL="171450" indent="-171450">
              <a:buFont typeface="Wingdings" panose="05000000000000000000" pitchFamily="2" charset="2"/>
              <a:buChar char="Ø"/>
            </a:pPr>
            <a:endParaRPr 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171450" indent="-171450">
              <a:buFont typeface="Wingdings" panose="05000000000000000000" pitchFamily="2" charset="2"/>
              <a:buChar char="Ø"/>
            </a:pP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Bảng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`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detection_events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`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lưu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lịch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sử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từng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lần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xử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lý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Mỗi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event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có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sensor distance,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kết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quả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detection, raw image, annotated image, class, confidence,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quyết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định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cuối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trạng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thái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xử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lý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occupancy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trước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và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sau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cùng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thông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tin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lỗi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nếu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có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 </a:t>
            </a:r>
          </a:p>
          <a:p>
            <a:endParaRPr 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171450" indent="-171450">
              <a:buFont typeface="Wingdings" panose="05000000000000000000" pitchFamily="2" charset="2"/>
              <a:buChar char="Ø"/>
            </a:pP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Bảng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`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parking_occupancy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`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lưu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capacity,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số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xe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hiện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tại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và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thời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gian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cập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nhật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gần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nhất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 </a:t>
            </a:r>
          </a:p>
          <a:p>
            <a:endParaRPr 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171450" indent="-171450">
              <a:buFont typeface="Wingdings" panose="05000000000000000000" pitchFamily="2" charset="2"/>
              <a:buChar char="Ø"/>
            </a:pP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`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detection_events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`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là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dữ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liệu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lịch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sử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trong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khi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`gates`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và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`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parking_occupancy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`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thể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hiện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trạng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thái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hiện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tại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pPr marL="171450" indent="-171450">
              <a:buFont typeface="Wingdings" panose="05000000000000000000" pitchFamily="2" charset="2"/>
              <a:buChar char="Ø"/>
            </a:pPr>
            <a:endParaRPr 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BD56652-7239-2D4B-FF78-C3E0E94B022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7526744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Wingdings" panose="05000000000000000000" pitchFamily="2" charset="2"/>
              <a:buChar char="Ø"/>
            </a:pP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Dashboard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là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giao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diện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giám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sát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chính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của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hệ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thống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 </a:t>
            </a:r>
          </a:p>
          <a:p>
            <a:endParaRPr 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171450" indent="-171450">
              <a:buFont typeface="Wingdings" panose="05000000000000000000" pitchFamily="2" charset="2"/>
              <a:buChar char="Ø"/>
            </a:pP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Phần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trên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hiển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thị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tổng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số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xe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đang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ở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trong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bãi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số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lượt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vào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trong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ngày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số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lượt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ra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và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trạng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thái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gate.  </a:t>
            </a:r>
          </a:p>
          <a:p>
            <a:endParaRPr 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171450" indent="-171450">
              <a:buFont typeface="Wingdings" panose="05000000000000000000" pitchFamily="2" charset="2"/>
              <a:buChar char="Ø"/>
            </a:pP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Khu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vực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tiếp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theo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hiển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thị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trạng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thái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camera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và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sensor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tại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ENTRY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và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EXIT.  </a:t>
            </a:r>
          </a:p>
          <a:p>
            <a:endParaRPr 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171450" indent="-171450">
              <a:buFont typeface="Wingdings" panose="05000000000000000000" pitchFamily="2" charset="2"/>
              <a:buChar char="Ø"/>
            </a:pP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Phần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dưới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hiển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thị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latest entry image, latest exit image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và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lịch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sử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parking event.  </a:t>
            </a:r>
          </a:p>
          <a:p>
            <a:pPr marL="171450" indent="-171450">
              <a:buFont typeface="Wingdings" panose="05000000000000000000" pitchFamily="2" charset="2"/>
              <a:buChar char="Ø"/>
            </a:pPr>
            <a:endParaRPr 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171450" indent="-171450">
              <a:buFont typeface="Wingdings" panose="05000000000000000000" pitchFamily="2" charset="2"/>
              <a:buChar char="Ø"/>
            </a:pP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Dashboard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không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trực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tiếp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chạy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YOLO.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Nó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đọc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dữ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liệu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đã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được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backend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lưu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trong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SQL Server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và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trình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bày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lại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cho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người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quản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lý</a:t>
            </a:r>
            <a:endParaRPr 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171450" indent="-171450">
              <a:buFont typeface="Wingdings" panose="05000000000000000000" pitchFamily="2" charset="2"/>
              <a:buChar char="Ø"/>
            </a:pPr>
            <a:endParaRPr 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Wingdings" panose="05000000000000000000" pitchFamily="2" charset="2"/>
              <a:buChar char="Ø"/>
            </a:pP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Hệ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thống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sử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dụng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mô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hình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YOLO ở backend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để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xác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minh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phương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tiện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từ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ảnh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do ESP32-CAM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gửi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lên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 </a:t>
            </a:r>
          </a:p>
          <a:p>
            <a:pPr marL="171450" indent="-171450">
              <a:buFont typeface="Wingdings" panose="05000000000000000000" pitchFamily="2" charset="2"/>
              <a:buChar char="Ø"/>
            </a:pPr>
            <a:endParaRPr 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171450" indent="-171450">
              <a:buFont typeface="Wingdings" panose="05000000000000000000" pitchFamily="2" charset="2"/>
              <a:buChar char="Ø"/>
            </a:pP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Ảnh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được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resize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về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640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nhân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640 pixel. Confidence threshold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được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đặt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là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0.45. Các class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được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chấp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nhận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gồm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car, motorcycle, bus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và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truck.  </a:t>
            </a:r>
          </a:p>
          <a:p>
            <a:pPr marL="171450" indent="-171450">
              <a:buFont typeface="Wingdings" panose="05000000000000000000" pitchFamily="2" charset="2"/>
              <a:buChar char="Ø"/>
            </a:pPr>
            <a:endParaRPr 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171450" indent="-171450">
              <a:buFont typeface="Wingdings" panose="05000000000000000000" pitchFamily="2" charset="2"/>
              <a:buChar char="Ø"/>
            </a:pP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Trong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tập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dữ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liệu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hiện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tại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có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146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ảnh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gồm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66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quyết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định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OPEN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và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80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quyết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định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CLOSE. Trong 66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ảnh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OPEN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có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43 truck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và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23 car.  </a:t>
            </a:r>
          </a:p>
          <a:p>
            <a:pPr marL="171450" indent="-171450">
              <a:buFont typeface="Wingdings" panose="05000000000000000000" pitchFamily="2" charset="2"/>
              <a:buChar char="Ø"/>
            </a:pPr>
            <a:endParaRPr 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171450" indent="-171450">
              <a:buFont typeface="Wingdings" panose="05000000000000000000" pitchFamily="2" charset="2"/>
              <a:buChar char="Ø"/>
            </a:pP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Detection Rate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được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tính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bằng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số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positive sample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được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phát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hiện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đúng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chia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cho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tổng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positive sample. Miss Rate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là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số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positive sample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bị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bỏ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sót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chia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cho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tổng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positive sample.  </a:t>
            </a:r>
          </a:p>
          <a:p>
            <a:pPr marL="171450" indent="-171450">
              <a:buFont typeface="Wingdings" panose="05000000000000000000" pitchFamily="2" charset="2"/>
              <a:buChar char="Ø"/>
            </a:pPr>
            <a:endParaRPr 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171450" indent="-171450">
              <a:buFont typeface="Wingdings" panose="05000000000000000000" pitchFamily="2" charset="2"/>
              <a:buChar char="Ø"/>
            </a:pP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Kết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quả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YOLO26l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đạt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Detection Rate 94.23%,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tương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ứng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49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trên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52 positive samples,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và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Miss Rate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là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5.77%. Mean inference time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là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giá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trị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đo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riêng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cho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quá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trình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xử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lý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model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trên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server,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không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phải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toàn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bộ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gate response time.  </a:t>
            </a:r>
          </a:p>
          <a:p>
            <a:pPr marL="171450" indent="-171450">
              <a:buFont typeface="Wingdings" panose="05000000000000000000" pitchFamily="2" charset="2"/>
              <a:buChar char="Ø"/>
            </a:pPr>
            <a:endParaRPr 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171450" indent="-171450">
              <a:buFont typeface="Wingdings" panose="05000000000000000000" pitchFamily="2" charset="2"/>
              <a:buChar char="Ø"/>
            </a:pP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So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với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YOLOv8n, model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được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chọn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có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detection rate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cao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hơn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nhưng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inference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chậm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hơn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Nhóm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ưu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tiên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reliability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vì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model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được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xử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lý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trên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backend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thay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vì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ESP32-CAM.</a:t>
            </a:r>
          </a:p>
          <a:p>
            <a:pPr marL="171450" indent="-171450">
              <a:buFont typeface="Wingdings" panose="05000000000000000000" pitchFamily="2" charset="2"/>
              <a:buChar char="Ø"/>
            </a:pPr>
            <a:endParaRPr 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br>
              <a:rPr lang="en-US" dirty="0"/>
            </a:b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9A9C50-AA79-3502-EEFB-102012123D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E7F9AD7-D86F-8C7F-E18C-42BDB108B5E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3E299F7-1DFB-9CB7-A576-2F11B0FC7BC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Wingdings" panose="05000000000000000000" pitchFamily="2" charset="2"/>
              <a:buChar char="Ø"/>
            </a:pP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Về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technical results,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hệ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thống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đã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thực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hiện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được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toàn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bộ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chuỗi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xử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lý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từ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sensor, camera, YOLO, barrier, database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đến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dashboard.  </a:t>
            </a:r>
          </a:p>
          <a:p>
            <a:pPr marL="171450" indent="-171450">
              <a:buFont typeface="Wingdings" panose="05000000000000000000" pitchFamily="2" charset="2"/>
              <a:buChar char="Ø"/>
            </a:pPr>
            <a:endParaRPr 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171450" indent="-171450">
              <a:buFont typeface="Wingdings" panose="05000000000000000000" pitchFamily="2" charset="2"/>
              <a:buChar char="Ø"/>
            </a:pP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HC-SR04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có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thể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kích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hoạt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quá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trình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phát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hiện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ESP32-CAM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chụp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và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gửi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ảnh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Backend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tạo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quyết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định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OPEN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hoặc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CLOSE. Servo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phản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hồi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theo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quyết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định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Event, confidence, class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và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image path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được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lưu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trong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database. Dashboard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hiển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thị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occupancy,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ảnh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mới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nhất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và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lịch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sử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sự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kiện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 </a:t>
            </a:r>
          </a:p>
          <a:p>
            <a:pPr marL="171450" indent="-171450">
              <a:buFont typeface="Wingdings" panose="05000000000000000000" pitchFamily="2" charset="2"/>
              <a:buChar char="Ø"/>
            </a:pPr>
            <a:endParaRPr 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171450" indent="-171450">
              <a:buFont typeface="Wingdings" panose="05000000000000000000" pitchFamily="2" charset="2"/>
              <a:buChar char="Ø"/>
            </a:pP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Về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practical benefits,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hệ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thống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giảm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phụ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thuộc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vào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kiểm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tra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thủ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công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cung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cấp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visual evidence,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hỗ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trợ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monitoring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tập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trung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và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theo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dõi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occupancy.  </a:t>
            </a:r>
          </a:p>
          <a:p>
            <a:pPr marL="171450" indent="-171450">
              <a:buFont typeface="Wingdings" panose="05000000000000000000" pitchFamily="2" charset="2"/>
              <a:buChar char="Ø"/>
            </a:pPr>
            <a:endParaRPr 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171450" indent="-171450">
              <a:buFont typeface="Wingdings" panose="05000000000000000000" pitchFamily="2" charset="2"/>
              <a:buChar char="Ø"/>
            </a:pP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Đây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là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lợi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ích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của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prototype,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chưa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phải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kết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quả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triển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khai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thương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mại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pPr marL="171450" indent="-171450">
              <a:buFont typeface="Wingdings" panose="05000000000000000000" pitchFamily="2" charset="2"/>
              <a:buChar char="Ø"/>
            </a:pPr>
            <a:endParaRPr 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br>
              <a:rPr lang="en-US" dirty="0"/>
            </a:b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540B4A6-9957-27B8-DEC3-1D2AA9D168C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8772134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9BB307-05DA-FA3B-238A-2208D9C8D5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D07D863-74ED-227B-0A68-90E68A2C63D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CA71262-FAF1-77D8-309B-0D551559C04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Wingdings" panose="05000000000000000000" pitchFamily="2" charset="2"/>
              <a:buChar char="Ø"/>
            </a:pP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AI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được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sử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dụng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như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công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cụ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hỗ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trợ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trong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quá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trình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tìm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tài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liệu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đề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xuất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kiến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trúc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lựa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chọn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metric,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hỗ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trợ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code, debug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và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diễn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giải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kết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quả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 </a:t>
            </a:r>
          </a:p>
          <a:p>
            <a:pPr marL="171450" indent="-171450">
              <a:buFont typeface="Wingdings" panose="05000000000000000000" pitchFamily="2" charset="2"/>
              <a:buChar char="Ø"/>
            </a:pPr>
            <a:endParaRPr 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171450" indent="-171450">
              <a:buFont typeface="Wingdings" panose="05000000000000000000" pitchFamily="2" charset="2"/>
              <a:buChar char="Ø"/>
            </a:pP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Tuy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nhiên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nhóm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không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sử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dụng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trực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tiếp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mọi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output do AI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tạo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ra.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Các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tài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liệu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tham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khảo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được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kiểm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tra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lại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code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được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chạy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trên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prototype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thật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kết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quả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được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tính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lại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và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các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giả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định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không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có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bằng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chứng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được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loại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bỏ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 </a:t>
            </a:r>
          </a:p>
          <a:p>
            <a:pPr marL="171450" indent="-171450">
              <a:buFont typeface="Wingdings" panose="05000000000000000000" pitchFamily="2" charset="2"/>
              <a:buChar char="Ø"/>
            </a:pPr>
            <a:endParaRPr 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171450" indent="-171450">
              <a:buFont typeface="Wingdings" panose="05000000000000000000" pitchFamily="2" charset="2"/>
              <a:buChar char="Ø"/>
            </a:pP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Ví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dụ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AI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hỗ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trợ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đề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xuất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cách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so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sánh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model,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nhưng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nhóm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phải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kiểm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tra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lại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sample count,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công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thức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Detection Rate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và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inference time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trước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khi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đưa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vào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slide.</a:t>
            </a:r>
          </a:p>
          <a:p>
            <a:pPr marL="171450" indent="-171450">
              <a:buFont typeface="Wingdings" panose="05000000000000000000" pitchFamily="2" charset="2"/>
              <a:buChar char="Ø"/>
            </a:pPr>
            <a:endParaRPr 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42A0852-6879-A0DB-445D-AD2CB17ABF6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9673087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Wingdings" panose="05000000000000000000" pitchFamily="2" charset="2"/>
              <a:buChar char="Ø"/>
            </a:pP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Nhóm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đã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xây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dựng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được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một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prototype smart parking chi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phí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thấp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tích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hợp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vehicle detection, camera verification, barrier control, occupancy tracking, database storage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và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web monitoring.  </a:t>
            </a:r>
          </a:p>
          <a:p>
            <a:pPr marL="171450" indent="-171450">
              <a:buFont typeface="Wingdings" panose="05000000000000000000" pitchFamily="2" charset="2"/>
              <a:buChar char="Ø"/>
            </a:pPr>
            <a:endParaRPr 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171450" indent="-171450">
              <a:buFont typeface="Wingdings" panose="05000000000000000000" pitchFamily="2" charset="2"/>
              <a:buChar char="Ø"/>
            </a:pP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Kiến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trúc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modular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giúp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tách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phần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sensor, camera, control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và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backend,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từ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đó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dễ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kiểm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thử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từng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module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và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tích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hợp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toàn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hệ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thống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 </a:t>
            </a:r>
          </a:p>
          <a:p>
            <a:pPr marL="171450" indent="-171450">
              <a:buFont typeface="Wingdings" panose="05000000000000000000" pitchFamily="2" charset="2"/>
              <a:buChar char="Ø"/>
            </a:pPr>
            <a:endParaRPr 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171450" indent="-171450">
              <a:buFont typeface="Wingdings" panose="05000000000000000000" pitchFamily="2" charset="2"/>
              <a:buChar char="Ø"/>
            </a:pP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Tuy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nhiên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hệ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thống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vẫn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còn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giới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hạn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về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chất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lượng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camera, low-light performance, Wi-Fi dependency, end-to-end response time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và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quy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mô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test data.  </a:t>
            </a:r>
          </a:p>
          <a:p>
            <a:pPr marL="171450" indent="-171450">
              <a:buFont typeface="Wingdings" panose="05000000000000000000" pitchFamily="2" charset="2"/>
              <a:buChar char="Ø"/>
            </a:pPr>
            <a:endParaRPr 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171450" indent="-171450">
              <a:buFont typeface="Wingdings" panose="05000000000000000000" pitchFamily="2" charset="2"/>
              <a:buChar char="Ø"/>
            </a:pPr>
            <a:r>
              <a:rPr lang="en-US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Trong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tương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lai,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nhóm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có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thể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bổ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sung license plate recognition,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cải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thiện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camera,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giảm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latency,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tăng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khả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năng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offline,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mở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rộng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test set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và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phát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triển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slot management, reservation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hoặc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payment.</a:t>
            </a:r>
          </a:p>
          <a:p>
            <a:pPr marL="171450" indent="-171450">
              <a:buFont typeface="Wingdings" panose="05000000000000000000" pitchFamily="2" charset="2"/>
              <a:buChar char="Ø"/>
            </a:pPr>
            <a:endParaRPr 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EDF4BC-B121-3781-8081-AC569735B3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E049B0A-9C04-84D4-73A6-7143801037D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79E17A2-C641-4C91-3C7D-7AC0AFC70C3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Wingdings" panose="05000000000000000000" pitchFamily="2" charset="2"/>
              <a:buChar char="Ø"/>
            </a:pP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Đây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là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prototype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phần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cứng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hoàn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chỉnh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của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nhóm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 </a:t>
            </a:r>
          </a:p>
          <a:p>
            <a:pPr marL="171450" indent="-171450">
              <a:buFont typeface="Wingdings" panose="05000000000000000000" pitchFamily="2" charset="2"/>
              <a:buChar char="Ø"/>
            </a:pPr>
            <a:endParaRPr 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171450" indent="-171450">
              <a:buFont typeface="Wingdings" panose="05000000000000000000" pitchFamily="2" charset="2"/>
              <a:buChar char="Ø"/>
            </a:pP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Hệ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thống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gồm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Arduino Master ở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trung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tâm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hai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Slave module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cho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ENTRY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và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EXIT,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hai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HC-SR04,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hai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ESP32-CAM, LCD status display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và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servo barrier.  </a:t>
            </a:r>
          </a:p>
          <a:p>
            <a:pPr marL="171450" indent="-171450">
              <a:buFont typeface="Wingdings" panose="05000000000000000000" pitchFamily="2" charset="2"/>
              <a:buChar char="Ø"/>
            </a:pPr>
            <a:endParaRPr 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171450" indent="-171450">
              <a:buFont typeface="Wingdings" panose="05000000000000000000" pitchFamily="2" charset="2"/>
              <a:buChar char="Ø"/>
            </a:pP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Các module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được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kết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nối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thành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một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hệ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thống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hoàn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chỉnh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không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phải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các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mô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hình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tách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rời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Master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nhận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thông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tin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từ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Slave,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điều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khiển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barrier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và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hiển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thị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trạng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thái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Camera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gửi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ảnh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đến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backend,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còn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dashboard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đọc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dữ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liệu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từ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database.  </a:t>
            </a:r>
          </a:p>
          <a:p>
            <a:pPr marL="0" indent="0">
              <a:buFont typeface="Wingdings" panose="05000000000000000000" pitchFamily="2" charset="2"/>
              <a:buNone/>
            </a:pPr>
            <a:endParaRPr 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D3FFF4B-342D-F286-2543-BD88BA3F788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6249214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7757DF-89C1-9A87-207E-47DDA4282A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3AE1A0E-86B0-7BF7-6EA6-3B8B76FFE54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FD0BC25-E59D-2AB3-ACAE-43BC347A6EC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### Nguyễn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Sỹ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Minh Mẫn</a:t>
            </a:r>
          </a:p>
          <a:p>
            <a:endParaRPr 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&gt;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Bây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giờ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nhóm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sẽ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demo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luồng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ENTRY. Khi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phương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tiện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đi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vào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vùng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sensor,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hệ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thống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sẽ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yêu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cầu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camera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chụp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ảnh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gửi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lên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server, YOLO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xác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minh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và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trả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về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quyết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định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endParaRPr 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### Bùi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Đình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Long</a:t>
            </a:r>
          </a:p>
          <a:p>
            <a:endParaRPr 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&gt; Em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đặt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phương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tiện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trước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sensor ENTRY. Sensor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đã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phát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hiện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vật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thể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và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kích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hoạt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quá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trình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capture.</a:t>
            </a:r>
          </a:p>
          <a:p>
            <a:endParaRPr 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###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Đỗ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Thành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Triết</a:t>
            </a:r>
            <a:endParaRPr 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&gt; ESP32-CAM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đã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gửi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ảnh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lên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FastAPI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server. YOLO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phát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hiện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class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là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car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hoặc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truck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với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confidence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lớn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hơn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threshold,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nên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backend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trả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về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OPEN.</a:t>
            </a:r>
          </a:p>
          <a:p>
            <a:endParaRPr 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### Bùi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Đình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Long</a:t>
            </a:r>
          </a:p>
          <a:p>
            <a:endParaRPr 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&gt; Arduino Master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nhận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quyết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định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OPEN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và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điều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khiển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servo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mở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barrier.</a:t>
            </a:r>
          </a:p>
          <a:p>
            <a:endParaRPr 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###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Trần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Đăng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Khoa</a:t>
            </a:r>
          </a:p>
          <a:p>
            <a:endParaRPr 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&gt; Em refresh dashboard. Dashboard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đã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cập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nhật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latest entry image, detected class, confidence, gate decision, event time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và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vehicles inside.</a:t>
            </a:r>
          </a:p>
          <a:p>
            <a:endParaRPr 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### Nguyễn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Sỹ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Minh Mẫn</a:t>
            </a:r>
          </a:p>
          <a:p>
            <a:endParaRPr 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171450" indent="-171450">
              <a:buFont typeface="Wingdings" panose="05000000000000000000" pitchFamily="2" charset="2"/>
              <a:buChar char="Ø"/>
            </a:pP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Sau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khi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phương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tiện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đi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qua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và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sensor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xác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nhận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vùng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barrier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đã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trống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hệ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thống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đóng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barrier.  </a:t>
            </a:r>
          </a:p>
          <a:p>
            <a:pPr marL="171450" indent="-171450">
              <a:buFont typeface="Wingdings" panose="05000000000000000000" pitchFamily="2" charset="2"/>
              <a:buChar char="Ø"/>
            </a:pPr>
            <a:endParaRPr 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&gt;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Luồng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EXIT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hoạt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động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tương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tự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nhưng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occupancy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sẽ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giảm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thay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vì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tăng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br>
              <a:rPr lang="en-US" dirty="0"/>
            </a:b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5753ADC-7782-ABC0-5673-DCEF40991F7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7360175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7F4119-8158-337A-A551-EB66BFEBA8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53921D0-9A14-A23A-B6B7-C089807FC14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0FB8D62-963D-7682-ED91-90FFCC3124E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45DD5F2-84A0-09F8-B279-7A55A9FD983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746824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jpe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.png"/><Relationship Id="rId5" Type="http://schemas.openxmlformats.org/officeDocument/2006/relationships/image" Target="../media/image2.png"/><Relationship Id="rId4" Type="http://schemas.openxmlformats.org/officeDocument/2006/relationships/image" Target="../media/image11.jp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1005840"/>
            <a:ext cx="58521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/>
          </a:bodyPr>
          <a:lstStyle/>
          <a:p>
            <a:pPr marL="0" indent="0">
              <a:buNone/>
            </a:pPr>
            <a:r>
              <a:rPr lang="en-US" sz="3600" b="1" noProof="1">
                <a:solidFill>
                  <a:srgbClr val="0B1F3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 Smart Parking System</a:t>
            </a:r>
            <a:endParaRPr lang="en-US" sz="3600" noProof="1"/>
          </a:p>
          <a:p>
            <a:pPr marL="0" indent="0">
              <a:buNone/>
            </a:pPr>
            <a:r>
              <a:rPr lang="en-US" sz="3600" b="1" noProof="1">
                <a:solidFill>
                  <a:srgbClr val="0B1F3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with Vehicle Detection</a:t>
            </a:r>
            <a:endParaRPr lang="en-US" sz="3600" noProof="1"/>
          </a:p>
          <a:p>
            <a:pPr marL="0" indent="0">
              <a:buNone/>
            </a:pPr>
            <a:r>
              <a:rPr lang="en-US" sz="3600" b="1" noProof="1">
                <a:solidFill>
                  <a:srgbClr val="0B1F3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and Barrier Control</a:t>
            </a:r>
            <a:endParaRPr lang="en-US" sz="3600" noProof="1"/>
          </a:p>
        </p:txBody>
      </p:sp>
      <p:sp>
        <p:nvSpPr>
          <p:cNvPr id="3" name="Text 1"/>
          <p:cNvSpPr/>
          <p:nvPr/>
        </p:nvSpPr>
        <p:spPr>
          <a:xfrm>
            <a:off x="713232" y="3108960"/>
            <a:ext cx="5303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noProof="1">
                <a:solidFill>
                  <a:srgbClr val="1F77B4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IoT102 Project – Group 7</a:t>
            </a:r>
            <a:endParaRPr lang="en-US" sz="2000" noProof="1"/>
          </a:p>
        </p:txBody>
      </p:sp>
      <p:sp>
        <p:nvSpPr>
          <p:cNvPr id="4" name="Text 2"/>
          <p:cNvSpPr/>
          <p:nvPr/>
        </p:nvSpPr>
        <p:spPr>
          <a:xfrm>
            <a:off x="713232" y="5532120"/>
            <a:ext cx="5715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noProof="1">
                <a:solidFill>
                  <a:srgbClr val="5B6472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Members: </a:t>
            </a:r>
            <a:r>
              <a:rPr lang="en-US" sz="1250" b="1" noProof="1">
                <a:solidFill>
                  <a:srgbClr val="5B6472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Nguyễn Sỹ Minh Mẫn, Đỗ Thành Triết, Trần Đăng Khoa, Bùi Đình Long</a:t>
            </a:r>
            <a:endParaRPr lang="en-US" sz="1250" b="1" noProof="1"/>
          </a:p>
          <a:p>
            <a:r>
              <a:rPr lang="en-US" sz="1250" noProof="1">
                <a:solidFill>
                  <a:srgbClr val="5B6472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Instructor: </a:t>
            </a:r>
            <a:r>
              <a:rPr lang="en-US" sz="1250" noProof="1"/>
              <a:t>Nguyễn Đức Lợi – Class: SE2045</a:t>
            </a:r>
          </a:p>
        </p:txBody>
      </p:sp>
      <p:sp>
        <p:nvSpPr>
          <p:cNvPr id="5" name="Shape 3"/>
          <p:cNvSpPr/>
          <p:nvPr/>
        </p:nvSpPr>
        <p:spPr>
          <a:xfrm>
            <a:off x="6720840" y="960120"/>
            <a:ext cx="4663440" cy="4160520"/>
          </a:xfrm>
          <a:prstGeom prst="rect">
            <a:avLst/>
          </a:prstGeom>
          <a:solidFill>
            <a:srgbClr val="FFFFFF">
              <a:alpha val="0"/>
            </a:srgbClr>
          </a:solidFill>
          <a:ln w="19050">
            <a:solidFill>
              <a:srgbClr val="1F77B4"/>
            </a:solidFill>
            <a:prstDash val="solid"/>
          </a:ln>
        </p:spPr>
        <p:txBody>
          <a:bodyPr/>
          <a:lstStyle/>
          <a:p>
            <a:endParaRPr lang="en-US" noProof="1"/>
          </a:p>
        </p:txBody>
      </p:sp>
      <p:sp>
        <p:nvSpPr>
          <p:cNvPr id="6" name="Text 4"/>
          <p:cNvSpPr/>
          <p:nvPr/>
        </p:nvSpPr>
        <p:spPr>
          <a:xfrm>
            <a:off x="6858000" y="2820924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noProof="1">
                <a:solidFill>
                  <a:srgbClr val="1F77B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INSERT PARKING / BARRIER IMAGE</a:t>
            </a:r>
            <a:endParaRPr lang="en-US" sz="1600" noProof="1"/>
          </a:p>
        </p:txBody>
      </p:sp>
      <p:sp>
        <p:nvSpPr>
          <p:cNvPr id="7" name="Text 5"/>
          <p:cNvSpPr/>
          <p:nvPr/>
        </p:nvSpPr>
        <p:spPr>
          <a:xfrm>
            <a:off x="6903720" y="3204972"/>
            <a:ext cx="4297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noProof="1">
                <a:solidFill>
                  <a:srgbClr val="5B6472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Use a clean image of a parking gate, barrier, or smart parking system.</a:t>
            </a:r>
            <a:endParaRPr lang="en-US" sz="1050" noProof="1"/>
          </a:p>
        </p:txBody>
      </p:sp>
      <p:sp>
        <p:nvSpPr>
          <p:cNvPr id="8" name="Text 6"/>
          <p:cNvSpPr/>
          <p:nvPr/>
        </p:nvSpPr>
        <p:spPr>
          <a:xfrm>
            <a:off x="713232" y="6263640"/>
            <a:ext cx="10789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noProof="1">
                <a:solidFill>
                  <a:srgbClr val="7B849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Smart Parking System</a:t>
            </a:r>
            <a:endParaRPr lang="en-US" sz="900" noProof="1"/>
          </a:p>
        </p:txBody>
      </p:sp>
      <p:pic>
        <p:nvPicPr>
          <p:cNvPr id="9" name="Picture 8" descr="44,671 Vehicle Barriers Royalty-Free Images, Stock Photos ...">
            <a:extLst>
              <a:ext uri="{FF2B5EF4-FFF2-40B4-BE49-F238E27FC236}">
                <a16:creationId xmlns:a16="http://schemas.microsoft.com/office/drawing/2014/main" id="{34ABDC93-9FC1-DD5A-3C04-797647E78983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25593" b="7286"/>
          <a:stretch>
            <a:fillRect/>
          </a:stretch>
        </p:blipFill>
        <p:spPr>
          <a:xfrm>
            <a:off x="6782867" y="1005839"/>
            <a:ext cx="4526363" cy="4049239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07B7053D-E9B6-6809-7A1A-122AF571359F}"/>
              </a:ext>
            </a:extLst>
          </p:cNvPr>
          <p:cNvSpPr txBox="1"/>
          <p:nvPr/>
        </p:nvSpPr>
        <p:spPr>
          <a:xfrm>
            <a:off x="3048000" y="3244334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US" noProof="1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C1B3E397-EE3F-D7D1-195F-6316A93A56C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" y="4444019"/>
            <a:ext cx="2356685" cy="92058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11155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3000" b="1" noProof="1">
                <a:solidFill>
                  <a:srgbClr val="0B1F3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Team Members</a:t>
            </a:r>
            <a:endParaRPr lang="en-US" sz="3000" noProof="1"/>
          </a:p>
        </p:txBody>
      </p:sp>
      <p:sp>
        <p:nvSpPr>
          <p:cNvPr id="3" name="Text 1"/>
          <p:cNvSpPr/>
          <p:nvPr/>
        </p:nvSpPr>
        <p:spPr>
          <a:xfrm>
            <a:off x="530352" y="777240"/>
            <a:ext cx="10972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noProof="1">
                <a:solidFill>
                  <a:srgbClr val="5B6472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Team members and their main roles, sub roles</a:t>
            </a:r>
            <a:endParaRPr lang="en-US" sz="1250" noProof="1"/>
          </a:p>
        </p:txBody>
      </p:sp>
      <p:sp>
        <p:nvSpPr>
          <p:cNvPr id="4" name="Shape 2"/>
          <p:cNvSpPr/>
          <p:nvPr/>
        </p:nvSpPr>
        <p:spPr>
          <a:xfrm>
            <a:off x="502920" y="1078992"/>
            <a:ext cx="11155680" cy="0"/>
          </a:xfrm>
          <a:prstGeom prst="line">
            <a:avLst/>
          </a:prstGeom>
          <a:noFill/>
          <a:ln w="12700">
            <a:solidFill>
              <a:srgbClr val="B9C2CF"/>
            </a:solidFill>
            <a:prstDash val="solid"/>
          </a:ln>
        </p:spPr>
        <p:txBody>
          <a:bodyPr/>
          <a:lstStyle/>
          <a:p>
            <a:endParaRPr lang="en-US" noProof="1"/>
          </a:p>
        </p:txBody>
      </p:sp>
      <p:sp>
        <p:nvSpPr>
          <p:cNvPr id="10" name="Text 8"/>
          <p:cNvSpPr/>
          <p:nvPr/>
        </p:nvSpPr>
        <p:spPr>
          <a:xfrm>
            <a:off x="502920" y="6547104"/>
            <a:ext cx="11155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noProof="1">
                <a:solidFill>
                  <a:srgbClr val="7B849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Smart Parking System  |  2/20</a:t>
            </a:r>
            <a:endParaRPr lang="en-US" sz="850" noProof="1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836F1882-743C-6DFB-2881-ABCEC2B9635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34550" y="44112"/>
            <a:ext cx="2356685" cy="920580"/>
          </a:xfrm>
          <a:prstGeom prst="rect">
            <a:avLst/>
          </a:prstGeom>
        </p:spPr>
      </p:pic>
      <p:sp>
        <p:nvSpPr>
          <p:cNvPr id="15" name="Text 2">
            <a:extLst>
              <a:ext uri="{FF2B5EF4-FFF2-40B4-BE49-F238E27FC236}">
                <a16:creationId xmlns:a16="http://schemas.microsoft.com/office/drawing/2014/main" id="{16AD224E-A3C8-59E9-AF5D-EEC4F77DF3EC}"/>
              </a:ext>
            </a:extLst>
          </p:cNvPr>
          <p:cNvSpPr/>
          <p:nvPr/>
        </p:nvSpPr>
        <p:spPr>
          <a:xfrm>
            <a:off x="530352" y="6080760"/>
            <a:ext cx="5715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noProof="1">
                <a:solidFill>
                  <a:srgbClr val="5B6472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Members: </a:t>
            </a:r>
            <a:r>
              <a:rPr lang="en-US" sz="1250" b="1" noProof="1">
                <a:solidFill>
                  <a:srgbClr val="5B6472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Nguyễn Sỹ Minh Mẫn, Đỗ Thành Triết, Trần Đăng Khoa, Bùi Đình Long</a:t>
            </a:r>
            <a:endParaRPr lang="en-US" sz="1250" b="1" noProof="1"/>
          </a:p>
          <a:p>
            <a:r>
              <a:rPr lang="en-US" sz="1250" noProof="1">
                <a:solidFill>
                  <a:srgbClr val="5B6472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Instructor: </a:t>
            </a:r>
            <a:r>
              <a:rPr lang="en-US" sz="1250" noProof="1"/>
              <a:t>Nguyễn Đức Lợi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6AC1F5E9-FA58-3CD5-ECA8-ADC384D24066}"/>
              </a:ext>
            </a:extLst>
          </p:cNvPr>
          <p:cNvSpPr txBox="1"/>
          <p:nvPr/>
        </p:nvSpPr>
        <p:spPr>
          <a:xfrm>
            <a:off x="487680" y="1338212"/>
            <a:ext cx="5757672" cy="48013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noProof="1">
                <a:solidFill>
                  <a:srgbClr val="0070C0"/>
                </a:solidFill>
              </a:rPr>
              <a:t>SE201643 Bùi Đình Long 	</a:t>
            </a:r>
          </a:p>
          <a:p>
            <a:pPr algn="r"/>
            <a:r>
              <a:rPr lang="en-US" i="1" noProof="1"/>
              <a:t>Hardware &amp; Arduino</a:t>
            </a:r>
          </a:p>
          <a:p>
            <a:pPr algn="r"/>
            <a:r>
              <a:rPr lang="en-US" i="1" noProof="1"/>
              <a:t>Report writing</a:t>
            </a:r>
          </a:p>
          <a:p>
            <a:endParaRPr lang="en-US" noProof="1"/>
          </a:p>
          <a:p>
            <a:r>
              <a:rPr lang="en-US" b="1" noProof="1"/>
              <a:t>SE201632 Đỗ Thanh Triết</a:t>
            </a:r>
          </a:p>
          <a:p>
            <a:pPr algn="r"/>
            <a:r>
              <a:rPr lang="en-US" i="1" noProof="1"/>
              <a:t>Hardware &amp; Arduino</a:t>
            </a:r>
          </a:p>
          <a:p>
            <a:pPr algn="r"/>
            <a:r>
              <a:rPr lang="en-US" i="1" noProof="1"/>
              <a:t>Server &amp; Yolo</a:t>
            </a:r>
          </a:p>
          <a:p>
            <a:endParaRPr lang="en-US" noProof="1"/>
          </a:p>
          <a:p>
            <a:endParaRPr lang="en-US" noProof="1"/>
          </a:p>
          <a:p>
            <a:r>
              <a:rPr lang="en-US" b="1" noProof="1"/>
              <a:t>SE201631 Nguyễn Sỹ Minh Mẫn</a:t>
            </a:r>
          </a:p>
          <a:p>
            <a:pPr algn="r"/>
            <a:r>
              <a:rPr lang="en-US" i="1" noProof="1"/>
              <a:t>Web Dashboard &amp; SQL </a:t>
            </a:r>
          </a:p>
          <a:p>
            <a:pPr algn="r"/>
            <a:r>
              <a:rPr lang="en-US" i="1" noProof="1"/>
              <a:t>Server</a:t>
            </a:r>
          </a:p>
          <a:p>
            <a:pPr algn="r"/>
            <a:endParaRPr lang="en-US" noProof="1"/>
          </a:p>
          <a:p>
            <a:r>
              <a:rPr lang="en-US" b="1" noProof="1"/>
              <a:t>SE201635 Trần Đăng Khoa</a:t>
            </a:r>
          </a:p>
          <a:p>
            <a:pPr algn="r"/>
            <a:r>
              <a:rPr lang="en-US" i="1" noProof="1"/>
              <a:t>Web Dashboard &amp; SQL </a:t>
            </a:r>
          </a:p>
          <a:p>
            <a:pPr algn="r"/>
            <a:r>
              <a:rPr lang="en-US" i="1" noProof="1"/>
              <a:t>Report writing</a:t>
            </a:r>
          </a:p>
          <a:p>
            <a:endParaRPr lang="en-US" noProof="1"/>
          </a:p>
        </p:txBody>
      </p:sp>
      <p:sp>
        <p:nvSpPr>
          <p:cNvPr id="21" name="Shape 3">
            <a:extLst>
              <a:ext uri="{FF2B5EF4-FFF2-40B4-BE49-F238E27FC236}">
                <a16:creationId xmlns:a16="http://schemas.microsoft.com/office/drawing/2014/main" id="{7DC5212C-AAB7-1F91-2CBE-DDFBA201EA9B}"/>
              </a:ext>
            </a:extLst>
          </p:cNvPr>
          <p:cNvSpPr/>
          <p:nvPr/>
        </p:nvSpPr>
        <p:spPr>
          <a:xfrm>
            <a:off x="6995160" y="1732788"/>
            <a:ext cx="4663440" cy="4160520"/>
          </a:xfrm>
          <a:prstGeom prst="rect">
            <a:avLst/>
          </a:prstGeom>
          <a:solidFill>
            <a:srgbClr val="FFFFFF">
              <a:alpha val="0"/>
            </a:srgbClr>
          </a:solidFill>
          <a:ln w="19050">
            <a:solidFill>
              <a:srgbClr val="1F77B4"/>
            </a:solidFill>
            <a:prstDash val="solid"/>
          </a:ln>
        </p:spPr>
        <p:txBody>
          <a:bodyPr/>
          <a:lstStyle/>
          <a:p>
            <a:endParaRPr lang="en-US" noProof="1"/>
          </a:p>
        </p:txBody>
      </p:sp>
      <p:sp>
        <p:nvSpPr>
          <p:cNvPr id="23" name="Text 4">
            <a:extLst>
              <a:ext uri="{FF2B5EF4-FFF2-40B4-BE49-F238E27FC236}">
                <a16:creationId xmlns:a16="http://schemas.microsoft.com/office/drawing/2014/main" id="{D8DE1EEE-CC08-DC8B-45AB-3CAE47EA7AA9}"/>
              </a:ext>
            </a:extLst>
          </p:cNvPr>
          <p:cNvSpPr/>
          <p:nvPr/>
        </p:nvSpPr>
        <p:spPr>
          <a:xfrm>
            <a:off x="6858000" y="2820924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noProof="1">
                <a:solidFill>
                  <a:srgbClr val="1F77B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INSERT PARKING / BARRIER IMAGE</a:t>
            </a:r>
            <a:endParaRPr lang="en-US" sz="1600" noProof="1"/>
          </a:p>
        </p:txBody>
      </p:sp>
      <p:sp>
        <p:nvSpPr>
          <p:cNvPr id="25" name="Text 5">
            <a:extLst>
              <a:ext uri="{FF2B5EF4-FFF2-40B4-BE49-F238E27FC236}">
                <a16:creationId xmlns:a16="http://schemas.microsoft.com/office/drawing/2014/main" id="{A42DD4DF-8574-CF58-2015-B3D574A63523}"/>
              </a:ext>
            </a:extLst>
          </p:cNvPr>
          <p:cNvSpPr/>
          <p:nvPr/>
        </p:nvSpPr>
        <p:spPr>
          <a:xfrm>
            <a:off x="6903720" y="3204972"/>
            <a:ext cx="4297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noProof="1">
                <a:solidFill>
                  <a:srgbClr val="5B6472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Use a clean image of a parking gate, barrier, or smart parking system.</a:t>
            </a:r>
            <a:endParaRPr lang="en-US" sz="1050" noProof="1"/>
          </a:p>
        </p:txBody>
      </p:sp>
      <p:pic>
        <p:nvPicPr>
          <p:cNvPr id="27" name="Picture 26" descr="44,671 Vehicle Barriers Royalty-Free Images, Stock Photos ...">
            <a:extLst>
              <a:ext uri="{FF2B5EF4-FFF2-40B4-BE49-F238E27FC236}">
                <a16:creationId xmlns:a16="http://schemas.microsoft.com/office/drawing/2014/main" id="{CAE73288-8493-B9EB-C403-711B18221F85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r="25593" b="7286"/>
          <a:stretch>
            <a:fillRect/>
          </a:stretch>
        </p:blipFill>
        <p:spPr>
          <a:xfrm>
            <a:off x="7057187" y="1778507"/>
            <a:ext cx="4526363" cy="4049239"/>
          </a:xfrm>
          <a:prstGeom prst="rect">
            <a:avLst/>
          </a:prstGeom>
        </p:spPr>
      </p:pic>
      <p:sp>
        <p:nvSpPr>
          <p:cNvPr id="28" name="Text 1">
            <a:extLst>
              <a:ext uri="{FF2B5EF4-FFF2-40B4-BE49-F238E27FC236}">
                <a16:creationId xmlns:a16="http://schemas.microsoft.com/office/drawing/2014/main" id="{325FDB6D-D0B2-4283-FA0E-B4C77689DB09}"/>
              </a:ext>
            </a:extLst>
          </p:cNvPr>
          <p:cNvSpPr/>
          <p:nvPr/>
        </p:nvSpPr>
        <p:spPr>
          <a:xfrm>
            <a:off x="4778807" y="1355174"/>
            <a:ext cx="2124913" cy="4085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noProof="1">
                <a:solidFill>
                  <a:srgbClr val="5B6472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Main role &amp; sub role</a:t>
            </a:r>
            <a:endParaRPr lang="en-US" sz="1250" noProof="1"/>
          </a:p>
        </p:txBody>
      </p:sp>
      <p:sp>
        <p:nvSpPr>
          <p:cNvPr id="30" name="Text 1">
            <a:extLst>
              <a:ext uri="{FF2B5EF4-FFF2-40B4-BE49-F238E27FC236}">
                <a16:creationId xmlns:a16="http://schemas.microsoft.com/office/drawing/2014/main" id="{A1566CCE-831B-2156-F5CE-5F5FFBDA90F8}"/>
              </a:ext>
            </a:extLst>
          </p:cNvPr>
          <p:cNvSpPr/>
          <p:nvPr/>
        </p:nvSpPr>
        <p:spPr>
          <a:xfrm>
            <a:off x="6995160" y="1311782"/>
            <a:ext cx="5303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noProof="1">
                <a:solidFill>
                  <a:srgbClr val="1F77B4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IoT102 Project – Group 7</a:t>
            </a:r>
            <a:endParaRPr lang="en-US" sz="2000" noProof="1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0BD235-BA0D-5660-C591-E48628A5E0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4809201D-52AB-EB83-4196-A7D86AD49096}"/>
              </a:ext>
            </a:extLst>
          </p:cNvPr>
          <p:cNvSpPr/>
          <p:nvPr/>
        </p:nvSpPr>
        <p:spPr>
          <a:xfrm>
            <a:off x="502920" y="320040"/>
            <a:ext cx="11155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3000" b="1" noProof="1">
                <a:solidFill>
                  <a:srgbClr val="0B1F3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Background / Problem Context</a:t>
            </a:r>
            <a:endParaRPr lang="en-US" sz="3000" noProof="1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956DC3D2-AF50-7350-ACA1-2442C1C52840}"/>
              </a:ext>
            </a:extLst>
          </p:cNvPr>
          <p:cNvSpPr/>
          <p:nvPr/>
        </p:nvSpPr>
        <p:spPr>
          <a:xfrm>
            <a:off x="530352" y="777240"/>
            <a:ext cx="10972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noProof="1">
                <a:solidFill>
                  <a:srgbClr val="5B6472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Why is this system needed?</a:t>
            </a:r>
            <a:endParaRPr lang="en-US" sz="1250" noProof="1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42DD7025-6C57-DD0E-39C2-F66CF77CC72A}"/>
              </a:ext>
            </a:extLst>
          </p:cNvPr>
          <p:cNvSpPr/>
          <p:nvPr/>
        </p:nvSpPr>
        <p:spPr>
          <a:xfrm>
            <a:off x="502920" y="1078992"/>
            <a:ext cx="11155680" cy="0"/>
          </a:xfrm>
          <a:prstGeom prst="line">
            <a:avLst/>
          </a:prstGeom>
          <a:noFill/>
          <a:ln w="12700">
            <a:solidFill>
              <a:srgbClr val="B9C2CF"/>
            </a:solidFill>
            <a:prstDash val="solid"/>
          </a:ln>
        </p:spPr>
        <p:txBody>
          <a:bodyPr/>
          <a:lstStyle/>
          <a:p>
            <a:endParaRPr lang="en-US" noProof="1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2F941954-B725-E012-2C52-2F9DEDCC552D}"/>
              </a:ext>
            </a:extLst>
          </p:cNvPr>
          <p:cNvSpPr/>
          <p:nvPr/>
        </p:nvSpPr>
        <p:spPr>
          <a:xfrm>
            <a:off x="777240" y="1508760"/>
            <a:ext cx="5394960" cy="37947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177800" indent="-177800">
              <a:buSzPct val="100000"/>
              <a:buChar char="•"/>
            </a:pPr>
            <a:r>
              <a:rPr lang="en-US" sz="2000" noProof="1">
                <a:solidFill>
                  <a:srgbClr val="1A1A1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Parking control is still mostly manual.</a:t>
            </a:r>
            <a:endParaRPr lang="en-US" sz="2000" noProof="1"/>
          </a:p>
          <a:p>
            <a:pPr marL="177800" indent="-177800">
              <a:buSzPct val="100000"/>
              <a:buChar char="•"/>
            </a:pPr>
            <a:r>
              <a:rPr lang="en-US" sz="2000" noProof="1">
                <a:solidFill>
                  <a:srgbClr val="1A1A1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Entry and exit checking can be slow.</a:t>
            </a:r>
            <a:endParaRPr lang="en-US" sz="2000" noProof="1"/>
          </a:p>
          <a:p>
            <a:pPr marL="177800" indent="-177800">
              <a:buSzPct val="100000"/>
              <a:buChar char="•"/>
            </a:pPr>
            <a:r>
              <a:rPr lang="en-US" sz="2000" noProof="1">
                <a:solidFill>
                  <a:srgbClr val="1A1A1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Real-time monitoring is limited.</a:t>
            </a:r>
            <a:endParaRPr lang="en-US" sz="2000" noProof="1"/>
          </a:p>
          <a:p>
            <a:pPr marL="177800" indent="-177800">
              <a:buSzPct val="100000"/>
              <a:buChar char="•"/>
            </a:pPr>
            <a:r>
              <a:rPr lang="en-US" sz="2000" noProof="1">
                <a:solidFill>
                  <a:srgbClr val="1A1A1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Parking records are difficult to manage.</a:t>
            </a:r>
            <a:endParaRPr lang="en-US" sz="2000" noProof="1"/>
          </a:p>
          <a:p>
            <a:pPr marL="177800" indent="-177800">
              <a:buSzPct val="100000"/>
              <a:buChar char="•"/>
            </a:pPr>
            <a:r>
              <a:rPr lang="en-US" sz="2000" noProof="1">
                <a:solidFill>
                  <a:srgbClr val="1A1A1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Security and efficiency can be improved.</a:t>
            </a:r>
            <a:endParaRPr lang="en-US" sz="2000" noProof="1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1152A642-D180-C665-FA9D-5974BDABC184}"/>
              </a:ext>
            </a:extLst>
          </p:cNvPr>
          <p:cNvSpPr/>
          <p:nvPr/>
        </p:nvSpPr>
        <p:spPr>
          <a:xfrm>
            <a:off x="777240" y="5577840"/>
            <a:ext cx="10881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/>
          </a:bodyPr>
          <a:lstStyle/>
          <a:p>
            <a:pPr marL="0" indent="0">
              <a:buNone/>
            </a:pPr>
            <a:r>
              <a:rPr lang="en-US" sz="1700" b="1" noProof="1">
                <a:solidFill>
                  <a:srgbClr val="0B1F3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Therefore, a smart parking system is needed to automate detection, barrier control, and monitoring.</a:t>
            </a:r>
            <a:endParaRPr lang="en-US" sz="1700" noProof="1"/>
          </a:p>
        </p:txBody>
      </p:sp>
      <p:sp>
        <p:nvSpPr>
          <p:cNvPr id="7" name="Shape 5">
            <a:extLst>
              <a:ext uri="{FF2B5EF4-FFF2-40B4-BE49-F238E27FC236}">
                <a16:creationId xmlns:a16="http://schemas.microsoft.com/office/drawing/2014/main" id="{4D9A2074-F1FD-EA9D-1886-81C5A671513E}"/>
              </a:ext>
            </a:extLst>
          </p:cNvPr>
          <p:cNvSpPr/>
          <p:nvPr/>
        </p:nvSpPr>
        <p:spPr>
          <a:xfrm>
            <a:off x="6492240" y="1417320"/>
            <a:ext cx="4983480" cy="3794760"/>
          </a:xfrm>
          <a:prstGeom prst="rect">
            <a:avLst/>
          </a:prstGeom>
          <a:solidFill>
            <a:srgbClr val="FFFFFF">
              <a:alpha val="0"/>
            </a:srgbClr>
          </a:solidFill>
          <a:ln w="19050">
            <a:solidFill>
              <a:srgbClr val="1F77B4"/>
            </a:solidFill>
            <a:prstDash val="solid"/>
          </a:ln>
        </p:spPr>
        <p:txBody>
          <a:bodyPr/>
          <a:lstStyle/>
          <a:p>
            <a:endParaRPr lang="en-US" noProof="1"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EC3C23AB-9539-3160-95FB-1AB659FF3648}"/>
              </a:ext>
            </a:extLst>
          </p:cNvPr>
          <p:cNvSpPr/>
          <p:nvPr/>
        </p:nvSpPr>
        <p:spPr>
          <a:xfrm>
            <a:off x="6629400" y="3095244"/>
            <a:ext cx="4709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noProof="1">
                <a:solidFill>
                  <a:srgbClr val="1F77B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INSERT PARKING CONTEXT IMAGE</a:t>
            </a:r>
            <a:endParaRPr lang="en-US" sz="1600" noProof="1"/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699B270D-3F34-B6D6-467F-714046F0C5B6}"/>
              </a:ext>
            </a:extLst>
          </p:cNvPr>
          <p:cNvSpPr/>
          <p:nvPr/>
        </p:nvSpPr>
        <p:spPr>
          <a:xfrm>
            <a:off x="6675120" y="3479292"/>
            <a:ext cx="4617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noProof="1">
                <a:solidFill>
                  <a:srgbClr val="5B6472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Example: crowded parking gate, manual checkpoint, or parking entrance.</a:t>
            </a:r>
            <a:endParaRPr lang="en-US" sz="1050" noProof="1"/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0D5EA1F9-F5AB-BBE6-1967-A03F09AB9A92}"/>
              </a:ext>
            </a:extLst>
          </p:cNvPr>
          <p:cNvSpPr/>
          <p:nvPr/>
        </p:nvSpPr>
        <p:spPr>
          <a:xfrm>
            <a:off x="502920" y="6547104"/>
            <a:ext cx="11155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/>
            <a:r>
              <a:rPr lang="en-US" sz="850" noProof="1">
                <a:solidFill>
                  <a:srgbClr val="7B849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Smart Parking System  |  3/20</a:t>
            </a:r>
            <a:endParaRPr lang="en-US" sz="850" noProof="1"/>
          </a:p>
        </p:txBody>
      </p:sp>
      <p:pic>
        <p:nvPicPr>
          <p:cNvPr id="12" name="Picture 11" descr="TOP 10 BEST 24 Hour Parking Garage in Annapolis, MD - Updated 2026 -  Quality &amp; Affordability - Yelp">
            <a:extLst>
              <a:ext uri="{FF2B5EF4-FFF2-40B4-BE49-F238E27FC236}">
                <a16:creationId xmlns:a16="http://schemas.microsoft.com/office/drawing/2014/main" id="{99510C22-8209-62DC-E475-43D97A11383A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24941"/>
          <a:stretch>
            <a:fillRect/>
          </a:stretch>
        </p:blipFill>
        <p:spPr>
          <a:xfrm>
            <a:off x="6572250" y="1508760"/>
            <a:ext cx="4842510" cy="3634740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8DDEE5E7-CB53-47F5-9F59-26D76EB8595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34550" y="44112"/>
            <a:ext cx="2356685" cy="9205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8542153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11155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3000" b="1" noProof="1">
                <a:solidFill>
                  <a:srgbClr val="0B1F3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Limitations of the Traditional System</a:t>
            </a:r>
            <a:endParaRPr lang="en-US" sz="3000" noProof="1"/>
          </a:p>
        </p:txBody>
      </p:sp>
      <p:sp>
        <p:nvSpPr>
          <p:cNvPr id="3" name="Text 1"/>
          <p:cNvSpPr/>
          <p:nvPr/>
        </p:nvSpPr>
        <p:spPr>
          <a:xfrm>
            <a:off x="530352" y="777240"/>
            <a:ext cx="10972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noProof="1">
                <a:solidFill>
                  <a:srgbClr val="5B6472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Manual parking control creates operational and management problems.</a:t>
            </a:r>
            <a:endParaRPr lang="en-US" sz="1250" noProof="1"/>
          </a:p>
        </p:txBody>
      </p:sp>
      <p:sp>
        <p:nvSpPr>
          <p:cNvPr id="4" name="Shape 2"/>
          <p:cNvSpPr/>
          <p:nvPr/>
        </p:nvSpPr>
        <p:spPr>
          <a:xfrm>
            <a:off x="502920" y="1078992"/>
            <a:ext cx="11155680" cy="0"/>
          </a:xfrm>
          <a:prstGeom prst="line">
            <a:avLst/>
          </a:prstGeom>
          <a:noFill/>
          <a:ln w="12700">
            <a:solidFill>
              <a:srgbClr val="B9C2CF"/>
            </a:solidFill>
            <a:prstDash val="solid"/>
          </a:ln>
        </p:spPr>
        <p:txBody>
          <a:bodyPr/>
          <a:lstStyle/>
          <a:p>
            <a:endParaRPr lang="en-US" noProof="1"/>
          </a:p>
        </p:txBody>
      </p:sp>
      <p:sp>
        <p:nvSpPr>
          <p:cNvPr id="5" name="Text 3"/>
          <p:cNvSpPr/>
          <p:nvPr/>
        </p:nvSpPr>
        <p:spPr>
          <a:xfrm>
            <a:off x="731520" y="1417320"/>
            <a:ext cx="4892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800" b="1" noProof="1">
                <a:solidFill>
                  <a:srgbClr val="1F77B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Traditional System</a:t>
            </a:r>
            <a:endParaRPr lang="en-US" sz="1800" noProof="1"/>
          </a:p>
        </p:txBody>
      </p:sp>
      <p:sp>
        <p:nvSpPr>
          <p:cNvPr id="6" name="Text 4"/>
          <p:cNvSpPr/>
          <p:nvPr/>
        </p:nvSpPr>
        <p:spPr>
          <a:xfrm>
            <a:off x="731520" y="1920240"/>
            <a:ext cx="4892040" cy="38404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177800" indent="-177800">
              <a:buSzPct val="100000"/>
              <a:buChar char="•"/>
            </a:pPr>
            <a:r>
              <a:rPr lang="en-US" sz="1900" noProof="1">
                <a:solidFill>
                  <a:srgbClr val="1A1A1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Manual checking</a:t>
            </a:r>
            <a:endParaRPr lang="en-US" sz="1900" noProof="1"/>
          </a:p>
          <a:p>
            <a:pPr marL="177800" indent="-177800">
              <a:buSzPct val="100000"/>
              <a:buChar char="•"/>
            </a:pPr>
            <a:r>
              <a:rPr lang="en-US" sz="1900" noProof="1">
                <a:solidFill>
                  <a:srgbClr val="1A1A1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Delayed response</a:t>
            </a:r>
            <a:endParaRPr lang="en-US" sz="1900" noProof="1"/>
          </a:p>
          <a:p>
            <a:pPr marL="177800" indent="-177800">
              <a:buSzPct val="100000"/>
              <a:buChar char="•"/>
            </a:pPr>
            <a:r>
              <a:rPr lang="en-US" sz="1900" noProof="1">
                <a:solidFill>
                  <a:srgbClr val="1A1A1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No image verification</a:t>
            </a:r>
            <a:endParaRPr lang="en-US" sz="1900" noProof="1"/>
          </a:p>
          <a:p>
            <a:pPr marL="177800" indent="-177800">
              <a:buSzPct val="100000"/>
              <a:buChar char="•"/>
            </a:pPr>
            <a:r>
              <a:rPr lang="en-US" sz="1900" noProof="1">
                <a:solidFill>
                  <a:srgbClr val="1A1A1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Difficult record management</a:t>
            </a:r>
            <a:endParaRPr lang="en-US" sz="1900" noProof="1"/>
          </a:p>
          <a:p>
            <a:pPr marL="177800" indent="-177800">
              <a:buSzPct val="100000"/>
              <a:buChar char="•"/>
            </a:pPr>
            <a:r>
              <a:rPr lang="en-US" sz="1900" noProof="1">
                <a:solidFill>
                  <a:srgbClr val="1A1A1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No dashboard monitoring</a:t>
            </a:r>
            <a:endParaRPr lang="en-US" sz="1900" noProof="1"/>
          </a:p>
        </p:txBody>
      </p:sp>
      <p:sp>
        <p:nvSpPr>
          <p:cNvPr id="7" name="Shape 5"/>
          <p:cNvSpPr/>
          <p:nvPr/>
        </p:nvSpPr>
        <p:spPr>
          <a:xfrm>
            <a:off x="5989320" y="1463040"/>
            <a:ext cx="0" cy="4526280"/>
          </a:xfrm>
          <a:prstGeom prst="line">
            <a:avLst/>
          </a:prstGeom>
          <a:noFill/>
          <a:ln w="12700">
            <a:solidFill>
              <a:srgbClr val="B9C2CF"/>
            </a:solidFill>
            <a:prstDash val="solid"/>
          </a:ln>
        </p:spPr>
        <p:txBody>
          <a:bodyPr/>
          <a:lstStyle/>
          <a:p>
            <a:endParaRPr lang="en-US" noProof="1"/>
          </a:p>
        </p:txBody>
      </p:sp>
      <p:sp>
        <p:nvSpPr>
          <p:cNvPr id="8" name="Text 6"/>
          <p:cNvSpPr/>
          <p:nvPr/>
        </p:nvSpPr>
        <p:spPr>
          <a:xfrm>
            <a:off x="6355080" y="1417320"/>
            <a:ext cx="4892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800" b="1" noProof="1">
                <a:solidFill>
                  <a:srgbClr val="1F77B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Problems Caused</a:t>
            </a:r>
            <a:endParaRPr lang="en-US" sz="1800" noProof="1"/>
          </a:p>
        </p:txBody>
      </p:sp>
      <p:sp>
        <p:nvSpPr>
          <p:cNvPr id="9" name="Text 7"/>
          <p:cNvSpPr/>
          <p:nvPr/>
        </p:nvSpPr>
        <p:spPr>
          <a:xfrm>
            <a:off x="6355080" y="1920240"/>
            <a:ext cx="4892040" cy="38404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177800" indent="-177800">
              <a:buSzPct val="100000"/>
              <a:buChar char="•"/>
            </a:pPr>
            <a:r>
              <a:rPr lang="en-US" sz="1900" noProof="1">
                <a:solidFill>
                  <a:srgbClr val="1A1A1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Gate congestion</a:t>
            </a:r>
            <a:endParaRPr lang="en-US" sz="1900" noProof="1"/>
          </a:p>
          <a:p>
            <a:pPr marL="177800" indent="-177800">
              <a:buSzPct val="100000"/>
              <a:buChar char="•"/>
            </a:pPr>
            <a:r>
              <a:rPr lang="en-US" sz="1900" noProof="1">
                <a:solidFill>
                  <a:srgbClr val="1A1A1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Human error</a:t>
            </a:r>
            <a:endParaRPr lang="en-US" sz="1900" noProof="1"/>
          </a:p>
          <a:p>
            <a:pPr marL="177800" indent="-177800">
              <a:buSzPct val="100000"/>
              <a:buChar char="•"/>
            </a:pPr>
            <a:r>
              <a:rPr lang="en-US" sz="1900" noProof="1">
                <a:solidFill>
                  <a:srgbClr val="1A1A1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Weak security</a:t>
            </a:r>
            <a:endParaRPr lang="en-US" sz="1900" noProof="1"/>
          </a:p>
          <a:p>
            <a:pPr marL="177800" indent="-177800">
              <a:buSzPct val="100000"/>
              <a:buChar char="•"/>
            </a:pPr>
            <a:r>
              <a:rPr lang="en-US" sz="1900" noProof="1">
                <a:solidFill>
                  <a:srgbClr val="1A1A1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Hard to review incidents</a:t>
            </a:r>
            <a:endParaRPr lang="en-US" sz="1900" noProof="1"/>
          </a:p>
          <a:p>
            <a:pPr marL="177800" indent="-177800">
              <a:buSzPct val="100000"/>
              <a:buChar char="•"/>
            </a:pPr>
            <a:r>
              <a:rPr lang="en-US" sz="1900" noProof="1">
                <a:solidFill>
                  <a:srgbClr val="1A1A1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Inefficient management</a:t>
            </a:r>
            <a:endParaRPr lang="en-US" sz="1900" noProof="1"/>
          </a:p>
        </p:txBody>
      </p:sp>
      <p:sp>
        <p:nvSpPr>
          <p:cNvPr id="10" name="Text 8"/>
          <p:cNvSpPr/>
          <p:nvPr/>
        </p:nvSpPr>
        <p:spPr>
          <a:xfrm>
            <a:off x="731520" y="5806440"/>
            <a:ext cx="10789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50" b="1" noProof="1">
                <a:solidFill>
                  <a:srgbClr val="0B1F3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Main message: the old system lacks automation, storage, and remote monitoring.</a:t>
            </a:r>
            <a:endParaRPr lang="en-US" sz="1550" noProof="1"/>
          </a:p>
        </p:txBody>
      </p:sp>
      <p:sp>
        <p:nvSpPr>
          <p:cNvPr id="11" name="Text 9"/>
          <p:cNvSpPr/>
          <p:nvPr/>
        </p:nvSpPr>
        <p:spPr>
          <a:xfrm>
            <a:off x="502920" y="6547104"/>
            <a:ext cx="11155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/>
            <a:r>
              <a:rPr lang="en-US" sz="850" noProof="1">
                <a:solidFill>
                  <a:srgbClr val="7B849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Smart Parking System  |  4/20</a:t>
            </a:r>
            <a:endParaRPr lang="en-US" sz="850" noProof="1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8C8B821E-CC90-C740-875D-2CB5EEC5CD1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34550" y="44112"/>
            <a:ext cx="2356685" cy="92058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11155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3000" b="1" noProof="1">
                <a:solidFill>
                  <a:srgbClr val="0B1F3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Project Objectives and Key Functions</a:t>
            </a:r>
            <a:endParaRPr lang="en-US" sz="3000" noProof="1"/>
          </a:p>
        </p:txBody>
      </p:sp>
      <p:sp>
        <p:nvSpPr>
          <p:cNvPr id="3" name="Text 1"/>
          <p:cNvSpPr/>
          <p:nvPr/>
        </p:nvSpPr>
        <p:spPr>
          <a:xfrm>
            <a:off x="530352" y="777240"/>
            <a:ext cx="10972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noProof="1">
                <a:solidFill>
                  <a:srgbClr val="5B6472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What can the proposed system do?</a:t>
            </a:r>
            <a:endParaRPr lang="en-US" sz="1250" noProof="1"/>
          </a:p>
        </p:txBody>
      </p:sp>
      <p:sp>
        <p:nvSpPr>
          <p:cNvPr id="4" name="Shape 2"/>
          <p:cNvSpPr/>
          <p:nvPr/>
        </p:nvSpPr>
        <p:spPr>
          <a:xfrm>
            <a:off x="502920" y="1078992"/>
            <a:ext cx="11155680" cy="0"/>
          </a:xfrm>
          <a:prstGeom prst="line">
            <a:avLst/>
          </a:prstGeom>
          <a:noFill/>
          <a:ln w="12700">
            <a:solidFill>
              <a:srgbClr val="B9C2CF"/>
            </a:solidFill>
            <a:prstDash val="solid"/>
          </a:ln>
        </p:spPr>
        <p:txBody>
          <a:bodyPr/>
          <a:lstStyle/>
          <a:p>
            <a:endParaRPr lang="en-US" noProof="1"/>
          </a:p>
        </p:txBody>
      </p:sp>
      <p:sp>
        <p:nvSpPr>
          <p:cNvPr id="16" name="Text 14"/>
          <p:cNvSpPr/>
          <p:nvPr/>
        </p:nvSpPr>
        <p:spPr>
          <a:xfrm>
            <a:off x="502920" y="6547104"/>
            <a:ext cx="11155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/>
            <a:r>
              <a:rPr lang="en-US" sz="850" noProof="1">
                <a:solidFill>
                  <a:srgbClr val="7B849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Smart Parking System  |  5/20</a:t>
            </a:r>
            <a:endParaRPr lang="en-US" sz="850" noProof="1"/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A469D156-12D4-D183-F1A6-BDC03628860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34550" y="44112"/>
            <a:ext cx="2356685" cy="920580"/>
          </a:xfrm>
          <a:prstGeom prst="rect">
            <a:avLst/>
          </a:prstGeom>
        </p:spPr>
      </p:pic>
      <p:sp>
        <p:nvSpPr>
          <p:cNvPr id="20" name="TextBox 19">
            <a:extLst>
              <a:ext uri="{FF2B5EF4-FFF2-40B4-BE49-F238E27FC236}">
                <a16:creationId xmlns:a16="http://schemas.microsoft.com/office/drawing/2014/main" id="{95D286DA-BFFC-5245-5801-6CEC019EBE5D}"/>
              </a:ext>
            </a:extLst>
          </p:cNvPr>
          <p:cNvSpPr txBox="1"/>
          <p:nvPr/>
        </p:nvSpPr>
        <p:spPr>
          <a:xfrm>
            <a:off x="457203" y="1681902"/>
            <a:ext cx="5327778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noProof="1"/>
              <a:t>Develop a </a:t>
            </a:r>
            <a:r>
              <a:rPr lang="en-US" b="1" noProof="1"/>
              <a:t>Small-scale public</a:t>
            </a:r>
            <a:r>
              <a:rPr lang="en-US" noProof="1"/>
              <a:t> parking areas.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noProof="1"/>
              <a:t>Automate</a:t>
            </a:r>
            <a:r>
              <a:rPr lang="en-US" noProof="1"/>
              <a:t> vehicle detection and barrier control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noProof="1"/>
              <a:t>Improve</a:t>
            </a:r>
            <a:r>
              <a:rPr lang="en-US" noProof="1"/>
              <a:t> vehicle verification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noProof="1"/>
              <a:t>Provide </a:t>
            </a:r>
            <a:r>
              <a:rPr lang="en-US" b="1" noProof="1"/>
              <a:t>centralized</a:t>
            </a:r>
            <a:r>
              <a:rPr lang="en-US" noProof="1"/>
              <a:t> monitoring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noProof="1"/>
              <a:t>Record</a:t>
            </a:r>
            <a:r>
              <a:rPr lang="en-US" noProof="1"/>
              <a:t> parking events</a:t>
            </a:r>
          </a:p>
        </p:txBody>
      </p:sp>
      <p:sp>
        <p:nvSpPr>
          <p:cNvPr id="40" name="Text 3">
            <a:extLst>
              <a:ext uri="{FF2B5EF4-FFF2-40B4-BE49-F238E27FC236}">
                <a16:creationId xmlns:a16="http://schemas.microsoft.com/office/drawing/2014/main" id="{946E6C50-3982-1E63-B3DB-37949A5D6FCF}"/>
              </a:ext>
            </a:extLst>
          </p:cNvPr>
          <p:cNvSpPr/>
          <p:nvPr/>
        </p:nvSpPr>
        <p:spPr>
          <a:xfrm>
            <a:off x="777242" y="463102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800" b="1" noProof="1">
                <a:solidFill>
                  <a:srgbClr val="1F77B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Detection</a:t>
            </a:r>
            <a:endParaRPr lang="en-US" sz="1800" noProof="1"/>
          </a:p>
        </p:txBody>
      </p:sp>
      <p:sp>
        <p:nvSpPr>
          <p:cNvPr id="42" name="Text 4">
            <a:extLst>
              <a:ext uri="{FF2B5EF4-FFF2-40B4-BE49-F238E27FC236}">
                <a16:creationId xmlns:a16="http://schemas.microsoft.com/office/drawing/2014/main" id="{1B51B44E-A899-DB14-EFFE-73D10948DF43}"/>
              </a:ext>
            </a:extLst>
          </p:cNvPr>
          <p:cNvSpPr/>
          <p:nvPr/>
        </p:nvSpPr>
        <p:spPr>
          <a:xfrm>
            <a:off x="777242" y="4921721"/>
            <a:ext cx="2971800" cy="91440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177800" indent="-177800">
              <a:buSzPct val="100000"/>
              <a:buChar char="•"/>
            </a:pPr>
            <a:r>
              <a:rPr lang="en-US" sz="1800" noProof="1">
                <a:solidFill>
                  <a:srgbClr val="1A1A1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Detect vehicle by HC-SR04</a:t>
            </a:r>
            <a:endParaRPr lang="en-US" sz="1800" noProof="1"/>
          </a:p>
          <a:p>
            <a:pPr marL="177800" indent="-177800">
              <a:buSzPct val="100000"/>
              <a:buChar char="•"/>
            </a:pPr>
            <a:r>
              <a:rPr lang="en-US" sz="1800" noProof="1">
                <a:solidFill>
                  <a:srgbClr val="1A1A1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Capture image by ESP32-CAM</a:t>
            </a:r>
            <a:endParaRPr lang="en-US" sz="1800" noProof="1"/>
          </a:p>
        </p:txBody>
      </p:sp>
      <p:sp>
        <p:nvSpPr>
          <p:cNvPr id="44" name="Shape 5">
            <a:extLst>
              <a:ext uri="{FF2B5EF4-FFF2-40B4-BE49-F238E27FC236}">
                <a16:creationId xmlns:a16="http://schemas.microsoft.com/office/drawing/2014/main" id="{E5D5988A-7E5C-4A5A-2543-0F83978A2CBD}"/>
              </a:ext>
            </a:extLst>
          </p:cNvPr>
          <p:cNvSpPr/>
          <p:nvPr/>
        </p:nvSpPr>
        <p:spPr>
          <a:xfrm>
            <a:off x="4023362" y="4612732"/>
            <a:ext cx="0" cy="1357503"/>
          </a:xfrm>
          <a:prstGeom prst="line">
            <a:avLst/>
          </a:prstGeom>
          <a:noFill/>
          <a:ln w="12700">
            <a:solidFill>
              <a:srgbClr val="B9C2CF"/>
            </a:solidFill>
            <a:prstDash val="solid"/>
          </a:ln>
        </p:spPr>
        <p:txBody>
          <a:bodyPr/>
          <a:lstStyle/>
          <a:p>
            <a:endParaRPr lang="en-US" noProof="1"/>
          </a:p>
        </p:txBody>
      </p:sp>
      <p:sp>
        <p:nvSpPr>
          <p:cNvPr id="46" name="Text 6">
            <a:extLst>
              <a:ext uri="{FF2B5EF4-FFF2-40B4-BE49-F238E27FC236}">
                <a16:creationId xmlns:a16="http://schemas.microsoft.com/office/drawing/2014/main" id="{FCF11B69-4A45-BE21-872D-A860EFD6EF6A}"/>
              </a:ext>
            </a:extLst>
          </p:cNvPr>
          <p:cNvSpPr/>
          <p:nvPr/>
        </p:nvSpPr>
        <p:spPr>
          <a:xfrm>
            <a:off x="4343402" y="463102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800" b="1" noProof="1">
                <a:solidFill>
                  <a:srgbClr val="2E7D3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Processing</a:t>
            </a:r>
            <a:endParaRPr lang="en-US" sz="1800" noProof="1"/>
          </a:p>
        </p:txBody>
      </p:sp>
      <p:sp>
        <p:nvSpPr>
          <p:cNvPr id="48" name="Text 7">
            <a:extLst>
              <a:ext uri="{FF2B5EF4-FFF2-40B4-BE49-F238E27FC236}">
                <a16:creationId xmlns:a16="http://schemas.microsoft.com/office/drawing/2014/main" id="{4E79C004-4D41-7A1C-60C1-7D5F6992E8B1}"/>
              </a:ext>
            </a:extLst>
          </p:cNvPr>
          <p:cNvSpPr/>
          <p:nvPr/>
        </p:nvSpPr>
        <p:spPr>
          <a:xfrm>
            <a:off x="4343402" y="4868382"/>
            <a:ext cx="2971800" cy="93345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177800" indent="-177800">
              <a:buSzPct val="100000"/>
              <a:buChar char="•"/>
            </a:pPr>
            <a:r>
              <a:rPr lang="en-US" sz="1800" noProof="1">
                <a:solidFill>
                  <a:srgbClr val="1A1A1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Send image to YOLO server</a:t>
            </a:r>
            <a:endParaRPr lang="en-US" sz="1800" noProof="1"/>
          </a:p>
          <a:p>
            <a:pPr marL="177800" indent="-177800">
              <a:buSzPct val="100000"/>
              <a:buChar char="•"/>
            </a:pPr>
            <a:r>
              <a:rPr lang="en-US" sz="1800" noProof="1">
                <a:solidFill>
                  <a:srgbClr val="1A1A1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Return OPEN/CLOSE decision</a:t>
            </a:r>
            <a:endParaRPr lang="en-US" sz="1800" noProof="1"/>
          </a:p>
        </p:txBody>
      </p:sp>
      <p:sp>
        <p:nvSpPr>
          <p:cNvPr id="50" name="Shape 8">
            <a:extLst>
              <a:ext uri="{FF2B5EF4-FFF2-40B4-BE49-F238E27FC236}">
                <a16:creationId xmlns:a16="http://schemas.microsoft.com/office/drawing/2014/main" id="{6580AB3D-9D73-D788-7FD1-BC6D7A27541D}"/>
              </a:ext>
            </a:extLst>
          </p:cNvPr>
          <p:cNvSpPr/>
          <p:nvPr/>
        </p:nvSpPr>
        <p:spPr>
          <a:xfrm>
            <a:off x="7589522" y="4612731"/>
            <a:ext cx="0" cy="1357503"/>
          </a:xfrm>
          <a:prstGeom prst="line">
            <a:avLst/>
          </a:prstGeom>
          <a:noFill/>
          <a:ln w="12700">
            <a:solidFill>
              <a:srgbClr val="B9C2CF"/>
            </a:solidFill>
            <a:prstDash val="solid"/>
          </a:ln>
        </p:spPr>
        <p:txBody>
          <a:bodyPr/>
          <a:lstStyle/>
          <a:p>
            <a:endParaRPr lang="en-US" noProof="1"/>
          </a:p>
        </p:txBody>
      </p:sp>
      <p:sp>
        <p:nvSpPr>
          <p:cNvPr id="52" name="Text 9">
            <a:extLst>
              <a:ext uri="{FF2B5EF4-FFF2-40B4-BE49-F238E27FC236}">
                <a16:creationId xmlns:a16="http://schemas.microsoft.com/office/drawing/2014/main" id="{4A6BA935-F62F-7AF3-B6F3-CB094563E815}"/>
              </a:ext>
            </a:extLst>
          </p:cNvPr>
          <p:cNvSpPr/>
          <p:nvPr/>
        </p:nvSpPr>
        <p:spPr>
          <a:xfrm>
            <a:off x="7909562" y="463102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800" b="1" noProof="1">
                <a:solidFill>
                  <a:srgbClr val="0B1F3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Management</a:t>
            </a:r>
            <a:endParaRPr lang="en-US" sz="1800" noProof="1"/>
          </a:p>
        </p:txBody>
      </p:sp>
      <p:sp>
        <p:nvSpPr>
          <p:cNvPr id="54" name="Text 10">
            <a:extLst>
              <a:ext uri="{FF2B5EF4-FFF2-40B4-BE49-F238E27FC236}">
                <a16:creationId xmlns:a16="http://schemas.microsoft.com/office/drawing/2014/main" id="{CD783630-2746-5A9B-AE6B-E9482AE4F65F}"/>
              </a:ext>
            </a:extLst>
          </p:cNvPr>
          <p:cNvSpPr/>
          <p:nvPr/>
        </p:nvSpPr>
        <p:spPr>
          <a:xfrm>
            <a:off x="7818123" y="4866477"/>
            <a:ext cx="2971800" cy="85725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177800" indent="-177800">
              <a:buSzPct val="100000"/>
              <a:buChar char="•"/>
            </a:pPr>
            <a:r>
              <a:rPr lang="en-US" sz="1800" noProof="1">
                <a:solidFill>
                  <a:srgbClr val="1A1A1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Control barrier</a:t>
            </a:r>
            <a:endParaRPr lang="en-US" sz="1800" noProof="1"/>
          </a:p>
          <a:p>
            <a:pPr marL="177800" indent="-177800">
              <a:buSzPct val="100000"/>
              <a:buChar char="•"/>
            </a:pPr>
            <a:r>
              <a:rPr lang="en-US" sz="1800" noProof="1">
                <a:solidFill>
                  <a:srgbClr val="1A1A1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Save logs to SQL Server</a:t>
            </a:r>
            <a:endParaRPr lang="en-US" sz="1800" noProof="1"/>
          </a:p>
          <a:p>
            <a:pPr marL="177800" indent="-177800">
              <a:buSzPct val="100000"/>
              <a:buChar char="•"/>
            </a:pPr>
            <a:r>
              <a:rPr lang="en-US" sz="1800" noProof="1">
                <a:solidFill>
                  <a:srgbClr val="1A1A1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Monitor on dashboard</a:t>
            </a:r>
            <a:endParaRPr lang="en-US" sz="1800" noProof="1"/>
          </a:p>
        </p:txBody>
      </p:sp>
      <p:sp>
        <p:nvSpPr>
          <p:cNvPr id="56" name="Shape 11">
            <a:extLst>
              <a:ext uri="{FF2B5EF4-FFF2-40B4-BE49-F238E27FC236}">
                <a16:creationId xmlns:a16="http://schemas.microsoft.com/office/drawing/2014/main" id="{EE7F076A-8D6E-FD22-03FA-425AA7DE4461}"/>
              </a:ext>
            </a:extLst>
          </p:cNvPr>
          <p:cNvSpPr/>
          <p:nvPr/>
        </p:nvSpPr>
        <p:spPr>
          <a:xfrm>
            <a:off x="502919" y="6071200"/>
            <a:ext cx="11064243" cy="0"/>
          </a:xfrm>
          <a:prstGeom prst="line">
            <a:avLst/>
          </a:prstGeom>
          <a:noFill/>
          <a:ln w="12700">
            <a:solidFill>
              <a:srgbClr val="B9C2CF"/>
            </a:solidFill>
            <a:prstDash val="solid"/>
          </a:ln>
        </p:spPr>
        <p:txBody>
          <a:bodyPr/>
          <a:lstStyle/>
          <a:p>
            <a:endParaRPr lang="en-US" noProof="1"/>
          </a:p>
        </p:txBody>
      </p:sp>
      <p:sp>
        <p:nvSpPr>
          <p:cNvPr id="60" name="Shape 2">
            <a:extLst>
              <a:ext uri="{FF2B5EF4-FFF2-40B4-BE49-F238E27FC236}">
                <a16:creationId xmlns:a16="http://schemas.microsoft.com/office/drawing/2014/main" id="{416DFF33-67B9-3C23-4511-5A65598DA2CC}"/>
              </a:ext>
            </a:extLst>
          </p:cNvPr>
          <p:cNvSpPr/>
          <p:nvPr/>
        </p:nvSpPr>
        <p:spPr>
          <a:xfrm>
            <a:off x="502919" y="4505177"/>
            <a:ext cx="11155680" cy="0"/>
          </a:xfrm>
          <a:prstGeom prst="line">
            <a:avLst/>
          </a:prstGeom>
          <a:noFill/>
          <a:ln w="12700">
            <a:solidFill>
              <a:srgbClr val="B9C2CF"/>
            </a:solidFill>
            <a:prstDash val="solid"/>
          </a:ln>
        </p:spPr>
        <p:txBody>
          <a:bodyPr/>
          <a:lstStyle/>
          <a:p>
            <a:endParaRPr lang="en-US" noProof="1"/>
          </a:p>
        </p:txBody>
      </p:sp>
      <p:sp>
        <p:nvSpPr>
          <p:cNvPr id="6" name="Text 3">
            <a:extLst>
              <a:ext uri="{FF2B5EF4-FFF2-40B4-BE49-F238E27FC236}">
                <a16:creationId xmlns:a16="http://schemas.microsoft.com/office/drawing/2014/main" id="{B5FF9EC7-AFAA-C4BA-C5C0-548D34D1AEE2}"/>
              </a:ext>
            </a:extLst>
          </p:cNvPr>
          <p:cNvSpPr/>
          <p:nvPr/>
        </p:nvSpPr>
        <p:spPr>
          <a:xfrm>
            <a:off x="530352" y="1275208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800" b="1" noProof="1">
                <a:solidFill>
                  <a:srgbClr val="1F77B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Scope</a:t>
            </a:r>
            <a:endParaRPr lang="en-US" sz="1800" noProof="1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94B223E-874D-502C-A25D-9A4103A2C64A}"/>
              </a:ext>
            </a:extLst>
          </p:cNvPr>
          <p:cNvSpPr txBox="1"/>
          <p:nvPr/>
        </p:nvSpPr>
        <p:spPr>
          <a:xfrm>
            <a:off x="6407021" y="1629522"/>
            <a:ext cx="6097554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noProof="1"/>
              <a:t>License plate recognition.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noProof="1"/>
              <a:t>Parking-slot detection.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noProof="1"/>
              <a:t>Reservation and payment.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noProof="1"/>
              <a:t>Mobile application.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noProof="1"/>
              <a:t>Real-world public deployment.</a:t>
            </a:r>
          </a:p>
        </p:txBody>
      </p:sp>
      <p:sp>
        <p:nvSpPr>
          <p:cNvPr id="9" name="Text 3">
            <a:extLst>
              <a:ext uri="{FF2B5EF4-FFF2-40B4-BE49-F238E27FC236}">
                <a16:creationId xmlns:a16="http://schemas.microsoft.com/office/drawing/2014/main" id="{5A70E5A2-DC35-8A58-C5BA-B80DC9FAA18F}"/>
              </a:ext>
            </a:extLst>
          </p:cNvPr>
          <p:cNvSpPr/>
          <p:nvPr/>
        </p:nvSpPr>
        <p:spPr>
          <a:xfrm>
            <a:off x="6505054" y="1308185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800" b="1" noProof="1">
                <a:solidFill>
                  <a:srgbClr val="FF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Out of Scope</a:t>
            </a:r>
            <a:endParaRPr lang="en-US" sz="1800" noProof="1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11155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3000" b="1" noProof="1">
                <a:solidFill>
                  <a:srgbClr val="0B1F3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Hardware Block Diagram</a:t>
            </a:r>
            <a:endParaRPr lang="en-US" sz="3000" noProof="1"/>
          </a:p>
        </p:txBody>
      </p:sp>
      <p:sp>
        <p:nvSpPr>
          <p:cNvPr id="3" name="Text 1"/>
          <p:cNvSpPr/>
          <p:nvPr/>
        </p:nvSpPr>
        <p:spPr>
          <a:xfrm>
            <a:off x="530352" y="777240"/>
            <a:ext cx="10972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noProof="1">
                <a:solidFill>
                  <a:srgbClr val="5B6472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Physical modules and communication paths.</a:t>
            </a:r>
            <a:endParaRPr lang="en-US" sz="1250" noProof="1"/>
          </a:p>
        </p:txBody>
      </p:sp>
      <p:sp>
        <p:nvSpPr>
          <p:cNvPr id="4" name="Shape 2"/>
          <p:cNvSpPr/>
          <p:nvPr/>
        </p:nvSpPr>
        <p:spPr>
          <a:xfrm>
            <a:off x="502920" y="1078992"/>
            <a:ext cx="11155680" cy="0"/>
          </a:xfrm>
          <a:prstGeom prst="line">
            <a:avLst/>
          </a:prstGeom>
          <a:noFill/>
          <a:ln w="12700">
            <a:solidFill>
              <a:srgbClr val="B9C2CF"/>
            </a:solidFill>
            <a:prstDash val="solid"/>
          </a:ln>
        </p:spPr>
        <p:txBody>
          <a:bodyPr/>
          <a:lstStyle/>
          <a:p>
            <a:endParaRPr lang="en-US" noProof="1"/>
          </a:p>
        </p:txBody>
      </p:sp>
      <p:sp>
        <p:nvSpPr>
          <p:cNvPr id="5" name="Shape 3"/>
          <p:cNvSpPr/>
          <p:nvPr/>
        </p:nvSpPr>
        <p:spPr>
          <a:xfrm>
            <a:off x="640080" y="1417320"/>
            <a:ext cx="5334000" cy="4526280"/>
          </a:xfrm>
          <a:prstGeom prst="rect">
            <a:avLst/>
          </a:prstGeom>
          <a:solidFill>
            <a:srgbClr val="FFFFFF">
              <a:alpha val="0"/>
            </a:srgbClr>
          </a:solidFill>
          <a:ln w="19050">
            <a:solidFill>
              <a:srgbClr val="1F77B4"/>
            </a:solidFill>
            <a:prstDash val="solid"/>
          </a:ln>
        </p:spPr>
        <p:txBody>
          <a:bodyPr/>
          <a:lstStyle/>
          <a:p>
            <a:endParaRPr lang="en-US" noProof="1"/>
          </a:p>
        </p:txBody>
      </p:sp>
      <p:sp>
        <p:nvSpPr>
          <p:cNvPr id="8" name="Text 6"/>
          <p:cNvSpPr/>
          <p:nvPr/>
        </p:nvSpPr>
        <p:spPr>
          <a:xfrm>
            <a:off x="6217922" y="1421966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800" b="1" noProof="1">
                <a:solidFill>
                  <a:srgbClr val="1F77B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Explanation</a:t>
            </a:r>
            <a:endParaRPr lang="en-US" sz="1800" noProof="1"/>
          </a:p>
        </p:txBody>
      </p:sp>
      <p:sp>
        <p:nvSpPr>
          <p:cNvPr id="9" name="Text 7"/>
          <p:cNvSpPr/>
          <p:nvPr/>
        </p:nvSpPr>
        <p:spPr>
          <a:xfrm>
            <a:off x="6217922" y="921759"/>
            <a:ext cx="3703320" cy="33832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177800" indent="-177800">
              <a:buSzPct val="100000"/>
              <a:buChar char="•"/>
            </a:pPr>
            <a:r>
              <a:rPr lang="en-US" sz="1600" noProof="1">
                <a:solidFill>
                  <a:srgbClr val="1A1A1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Slave handles sensor and camera.</a:t>
            </a:r>
            <a:endParaRPr lang="en-US" sz="1600" noProof="1"/>
          </a:p>
          <a:p>
            <a:pPr marL="177800" indent="-177800">
              <a:buSzPct val="100000"/>
              <a:buChar char="•"/>
            </a:pPr>
            <a:r>
              <a:rPr lang="en-US" sz="1600" noProof="1">
                <a:solidFill>
                  <a:srgbClr val="1A1A1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Master controls output devices.</a:t>
            </a:r>
            <a:endParaRPr lang="en-US" sz="1600" noProof="1"/>
          </a:p>
          <a:p>
            <a:pPr marL="177800" indent="-177800">
              <a:buSzPct val="100000"/>
              <a:buChar char="•"/>
            </a:pPr>
            <a:r>
              <a:rPr lang="en-US" sz="1600" noProof="1">
                <a:solidFill>
                  <a:srgbClr val="1A1A1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I2C is used between Master and Slave.</a:t>
            </a:r>
            <a:endParaRPr lang="en-US" sz="1600" noProof="1"/>
          </a:p>
          <a:p>
            <a:pPr marL="177800" indent="-177800">
              <a:buSzPct val="100000"/>
              <a:buChar char="•"/>
            </a:pPr>
            <a:r>
              <a:rPr lang="en-US" sz="1600" noProof="1">
                <a:solidFill>
                  <a:srgbClr val="1A1A1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UART is used between Slave and ESP32-CAM.</a:t>
            </a:r>
            <a:endParaRPr lang="en-US" sz="1600" noProof="1"/>
          </a:p>
          <a:p>
            <a:pPr marL="177800" indent="-177800">
              <a:buSzPct val="100000"/>
              <a:buChar char="•"/>
            </a:pPr>
            <a:r>
              <a:rPr lang="en-US" sz="1600" noProof="1">
                <a:solidFill>
                  <a:srgbClr val="1A1A1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Servo opens/closes the barrier.</a:t>
            </a:r>
          </a:p>
          <a:p>
            <a:pPr marL="177800" indent="-177800">
              <a:buSzPct val="100000"/>
              <a:buChar char="•"/>
            </a:pPr>
            <a:r>
              <a:rPr lang="en-US" sz="1600" noProof="1">
                <a:solidFill>
                  <a:srgbClr val="1A1A1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LCD is used for debug only</a:t>
            </a:r>
          </a:p>
        </p:txBody>
      </p:sp>
      <p:sp>
        <p:nvSpPr>
          <p:cNvPr id="10" name="Text 8"/>
          <p:cNvSpPr/>
          <p:nvPr/>
        </p:nvSpPr>
        <p:spPr>
          <a:xfrm>
            <a:off x="502920" y="6547104"/>
            <a:ext cx="11155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/>
            <a:r>
              <a:rPr lang="en-US" sz="850" noProof="1">
                <a:solidFill>
                  <a:srgbClr val="7B849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Smart Parking System  |  6/20</a:t>
            </a:r>
            <a:endParaRPr lang="en-US" sz="850" noProof="1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ADB7AA69-F7F5-B933-C4D5-A971A995EFD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34550" y="44112"/>
            <a:ext cx="2356685" cy="92058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B745C479-0A2B-30D9-0AB0-33DF1017CDD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" y="1387220"/>
            <a:ext cx="5334000" cy="458648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93ADE236-CC22-0E2C-A386-90A7BBD482A5}"/>
              </a:ext>
            </a:extLst>
          </p:cNvPr>
          <p:cNvSpPr txBox="1"/>
          <p:nvPr/>
        </p:nvSpPr>
        <p:spPr>
          <a:xfrm>
            <a:off x="6202680" y="4419340"/>
            <a:ext cx="5455920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buSzPct val="100000"/>
            </a:pPr>
            <a:r>
              <a:rPr lang="en-US" sz="1600" noProof="1"/>
              <a:t>Arduino Slave handles </a:t>
            </a:r>
            <a:r>
              <a:rPr lang="en-US" sz="1600" b="1" noProof="1"/>
              <a:t>real-time sensor reading and local communication</a:t>
            </a:r>
            <a:r>
              <a:rPr lang="en-US" sz="1600" noProof="1"/>
              <a:t>, while ESP32-CAM focuses on </a:t>
            </a:r>
            <a:r>
              <a:rPr lang="en-US" sz="1600" b="1" i="1" noProof="1"/>
              <a:t>image capture and Wi-Fi transmission</a:t>
            </a:r>
            <a:r>
              <a:rPr lang="en-US" sz="1600" noProof="1"/>
              <a:t>. This separation </a:t>
            </a:r>
            <a:r>
              <a:rPr lang="en-US" sz="1600" b="1" i="1" noProof="1"/>
              <a:t>avoids GPIO limitations, reduces processing conflicts, and improves system stability</a:t>
            </a:r>
            <a:r>
              <a:rPr lang="en-US" sz="1600" i="1" noProof="1"/>
              <a:t> </a:t>
            </a:r>
            <a:r>
              <a:rPr lang="en-US" sz="1600" noProof="1"/>
              <a:t>when camera or network operations are delayed.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11155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3000" b="1" noProof="1">
                <a:solidFill>
                  <a:srgbClr val="0B1F3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Overall System Architecture</a:t>
            </a:r>
            <a:endParaRPr lang="en-US" sz="3000" noProof="1"/>
          </a:p>
        </p:txBody>
      </p:sp>
      <p:sp>
        <p:nvSpPr>
          <p:cNvPr id="3" name="Text 1"/>
          <p:cNvSpPr/>
          <p:nvPr/>
        </p:nvSpPr>
        <p:spPr>
          <a:xfrm>
            <a:off x="530352" y="777240"/>
            <a:ext cx="10972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noProof="1">
                <a:solidFill>
                  <a:srgbClr val="5B6472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Hardware, AI server, database, and dashboard integration.</a:t>
            </a:r>
            <a:endParaRPr lang="en-US" sz="1250" noProof="1"/>
          </a:p>
        </p:txBody>
      </p:sp>
      <p:sp>
        <p:nvSpPr>
          <p:cNvPr id="4" name="Shape 2"/>
          <p:cNvSpPr/>
          <p:nvPr/>
        </p:nvSpPr>
        <p:spPr>
          <a:xfrm>
            <a:off x="502920" y="1078992"/>
            <a:ext cx="11155680" cy="0"/>
          </a:xfrm>
          <a:prstGeom prst="line">
            <a:avLst/>
          </a:prstGeom>
          <a:noFill/>
          <a:ln w="12700">
            <a:solidFill>
              <a:srgbClr val="B9C2CF"/>
            </a:solidFill>
            <a:prstDash val="solid"/>
          </a:ln>
        </p:spPr>
        <p:txBody>
          <a:bodyPr/>
          <a:lstStyle/>
          <a:p>
            <a:endParaRPr lang="en-US" noProof="1"/>
          </a:p>
        </p:txBody>
      </p:sp>
      <p:sp>
        <p:nvSpPr>
          <p:cNvPr id="5" name="Shape 3"/>
          <p:cNvSpPr/>
          <p:nvPr/>
        </p:nvSpPr>
        <p:spPr>
          <a:xfrm>
            <a:off x="685800" y="1353312"/>
            <a:ext cx="10835640" cy="4206240"/>
          </a:xfrm>
          <a:prstGeom prst="rect">
            <a:avLst/>
          </a:prstGeom>
          <a:solidFill>
            <a:srgbClr val="FFFFFF">
              <a:alpha val="0"/>
            </a:srgbClr>
          </a:solidFill>
          <a:ln w="19050">
            <a:solidFill>
              <a:srgbClr val="1F77B4"/>
            </a:solidFill>
            <a:prstDash val="solid"/>
          </a:ln>
        </p:spPr>
        <p:txBody>
          <a:bodyPr/>
          <a:lstStyle/>
          <a:p>
            <a:endParaRPr lang="en-US" noProof="1"/>
          </a:p>
        </p:txBody>
      </p:sp>
      <p:sp>
        <p:nvSpPr>
          <p:cNvPr id="6" name="Text 4"/>
          <p:cNvSpPr/>
          <p:nvPr/>
        </p:nvSpPr>
        <p:spPr>
          <a:xfrm>
            <a:off x="822960" y="3236976"/>
            <a:ext cx="10561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noProof="1">
                <a:solidFill>
                  <a:srgbClr val="1F77B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INSERT OVERALL SYSTEM ARCHITECTURE DIAGRAM</a:t>
            </a:r>
            <a:endParaRPr lang="en-US" sz="1600" noProof="1"/>
          </a:p>
        </p:txBody>
      </p:sp>
      <p:sp>
        <p:nvSpPr>
          <p:cNvPr id="7" name="Text 5"/>
          <p:cNvSpPr/>
          <p:nvPr/>
        </p:nvSpPr>
        <p:spPr>
          <a:xfrm>
            <a:off x="868680" y="3621024"/>
            <a:ext cx="10469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noProof="1">
                <a:solidFill>
                  <a:srgbClr val="5B6472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Use the full architecture diagram showing Device Layer, Server Layer, and Application Layer.</a:t>
            </a:r>
            <a:endParaRPr lang="en-US" sz="1050" noProof="1"/>
          </a:p>
        </p:txBody>
      </p:sp>
      <p:sp>
        <p:nvSpPr>
          <p:cNvPr id="8" name="Text 6"/>
          <p:cNvSpPr/>
          <p:nvPr/>
        </p:nvSpPr>
        <p:spPr>
          <a:xfrm>
            <a:off x="685800" y="5806440"/>
            <a:ext cx="10835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/>
          </a:bodyPr>
          <a:lstStyle/>
          <a:p>
            <a:pPr marL="0" indent="0" algn="ctr">
              <a:buNone/>
            </a:pPr>
            <a:r>
              <a:rPr lang="en-US" sz="1550" b="1" noProof="1">
                <a:solidFill>
                  <a:srgbClr val="0B1F3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The system connects embedded hardware, AI image processing, SQL Server database, and a web dashboard.</a:t>
            </a:r>
            <a:endParaRPr lang="en-US" sz="1550" noProof="1"/>
          </a:p>
        </p:txBody>
      </p:sp>
      <p:sp>
        <p:nvSpPr>
          <p:cNvPr id="9" name="Text 7"/>
          <p:cNvSpPr/>
          <p:nvPr/>
        </p:nvSpPr>
        <p:spPr>
          <a:xfrm>
            <a:off x="502920" y="6547104"/>
            <a:ext cx="11155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/>
            <a:r>
              <a:rPr lang="en-US" sz="850" noProof="1">
                <a:solidFill>
                  <a:srgbClr val="7B849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Smart Parking System  |  7/20</a:t>
            </a:r>
            <a:endParaRPr lang="en-US" sz="850" noProof="1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CB0C498B-2F97-7ED4-7D92-FF1A6AB80CC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1519902"/>
            <a:ext cx="10561320" cy="3891347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F54DEB5A-CD3A-D23B-CFB1-E4CF4AF2C8C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34550" y="44112"/>
            <a:ext cx="2356685" cy="92058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11155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3000" b="1" noProof="1">
                <a:solidFill>
                  <a:srgbClr val="0B1F3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Hardware Circuit Diagram</a:t>
            </a:r>
            <a:endParaRPr lang="en-US" sz="3000" noProof="1"/>
          </a:p>
        </p:txBody>
      </p:sp>
      <p:sp>
        <p:nvSpPr>
          <p:cNvPr id="3" name="Text 1"/>
          <p:cNvSpPr/>
          <p:nvPr/>
        </p:nvSpPr>
        <p:spPr>
          <a:xfrm>
            <a:off x="530352" y="777240"/>
            <a:ext cx="10972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noProof="1">
                <a:solidFill>
                  <a:srgbClr val="5B6472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Physical wiring and electrical connections.</a:t>
            </a:r>
            <a:endParaRPr lang="en-US" sz="1250" noProof="1"/>
          </a:p>
        </p:txBody>
      </p:sp>
      <p:sp>
        <p:nvSpPr>
          <p:cNvPr id="4" name="Shape 2"/>
          <p:cNvSpPr/>
          <p:nvPr/>
        </p:nvSpPr>
        <p:spPr>
          <a:xfrm>
            <a:off x="502920" y="1078992"/>
            <a:ext cx="11155680" cy="0"/>
          </a:xfrm>
          <a:prstGeom prst="line">
            <a:avLst/>
          </a:prstGeom>
          <a:noFill/>
          <a:ln w="12700">
            <a:solidFill>
              <a:srgbClr val="B9C2CF"/>
            </a:solidFill>
            <a:prstDash val="solid"/>
          </a:ln>
        </p:spPr>
        <p:txBody>
          <a:bodyPr/>
          <a:lstStyle/>
          <a:p>
            <a:endParaRPr lang="en-US" noProof="1"/>
          </a:p>
        </p:txBody>
      </p:sp>
      <p:sp>
        <p:nvSpPr>
          <p:cNvPr id="5" name="Shape 3"/>
          <p:cNvSpPr/>
          <p:nvPr/>
        </p:nvSpPr>
        <p:spPr>
          <a:xfrm>
            <a:off x="640080" y="1325880"/>
            <a:ext cx="11018520" cy="4800600"/>
          </a:xfrm>
          <a:prstGeom prst="rect">
            <a:avLst/>
          </a:prstGeom>
          <a:solidFill>
            <a:srgbClr val="FFFFFF">
              <a:alpha val="0"/>
            </a:srgbClr>
          </a:solidFill>
          <a:ln w="19050">
            <a:solidFill>
              <a:srgbClr val="1F77B4"/>
            </a:solidFill>
            <a:prstDash val="solid"/>
          </a:ln>
        </p:spPr>
        <p:txBody>
          <a:bodyPr/>
          <a:lstStyle/>
          <a:p>
            <a:endParaRPr lang="en-US" noProof="1"/>
          </a:p>
        </p:txBody>
      </p:sp>
      <p:sp>
        <p:nvSpPr>
          <p:cNvPr id="7" name="Text 5"/>
          <p:cNvSpPr/>
          <p:nvPr/>
        </p:nvSpPr>
        <p:spPr>
          <a:xfrm>
            <a:off x="822960" y="3890772"/>
            <a:ext cx="7086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noProof="1">
                <a:solidFill>
                  <a:srgbClr val="5B6472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Upload your final circuit image as PNG/JPG.</a:t>
            </a:r>
            <a:endParaRPr lang="en-US" sz="1050" noProof="1"/>
          </a:p>
        </p:txBody>
      </p:sp>
      <p:sp>
        <p:nvSpPr>
          <p:cNvPr id="10" name="Text 8"/>
          <p:cNvSpPr/>
          <p:nvPr/>
        </p:nvSpPr>
        <p:spPr>
          <a:xfrm>
            <a:off x="502920" y="6547104"/>
            <a:ext cx="11155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/>
            <a:r>
              <a:rPr lang="en-US" sz="850" noProof="1">
                <a:solidFill>
                  <a:srgbClr val="7B849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Smart Parking System  |  8/20</a:t>
            </a:r>
            <a:endParaRPr lang="en-US" sz="850" noProof="1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DD00ACFD-71CC-7778-8DE7-939AC439319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016" y="1426464"/>
            <a:ext cx="10772136" cy="4530867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3D5C3610-92D2-A978-5770-4144C6496D0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34550" y="44112"/>
            <a:ext cx="2356685" cy="92058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02641C-B4CF-1D6B-3A9E-FEB42217F3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A1E7D831-7444-8F55-7CDC-2B8DDDDBDC74}"/>
              </a:ext>
            </a:extLst>
          </p:cNvPr>
          <p:cNvSpPr/>
          <p:nvPr/>
        </p:nvSpPr>
        <p:spPr>
          <a:xfrm>
            <a:off x="502920" y="320040"/>
            <a:ext cx="11155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3000" b="1" noProof="1">
                <a:solidFill>
                  <a:srgbClr val="0B1F3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Master-Slave Hardware Circuit Diagram</a:t>
            </a:r>
            <a:endParaRPr lang="en-US" sz="3000" noProof="1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0CE2EBCD-AE94-4320-680A-B0DBBD776BDC}"/>
              </a:ext>
            </a:extLst>
          </p:cNvPr>
          <p:cNvSpPr/>
          <p:nvPr/>
        </p:nvSpPr>
        <p:spPr>
          <a:xfrm>
            <a:off x="530352" y="777240"/>
            <a:ext cx="10972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noProof="1">
                <a:solidFill>
                  <a:srgbClr val="5B6472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Physical wiring and electrical connections.</a:t>
            </a:r>
            <a:endParaRPr lang="en-US" sz="1250" noProof="1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6F2ED89B-2DF5-2B9B-8297-126CA7B6552D}"/>
              </a:ext>
            </a:extLst>
          </p:cNvPr>
          <p:cNvSpPr/>
          <p:nvPr/>
        </p:nvSpPr>
        <p:spPr>
          <a:xfrm>
            <a:off x="502920" y="1078992"/>
            <a:ext cx="11155680" cy="0"/>
          </a:xfrm>
          <a:prstGeom prst="line">
            <a:avLst/>
          </a:prstGeom>
          <a:noFill/>
          <a:ln w="12700">
            <a:solidFill>
              <a:srgbClr val="B9C2CF"/>
            </a:solidFill>
            <a:prstDash val="solid"/>
          </a:ln>
        </p:spPr>
        <p:txBody>
          <a:bodyPr/>
          <a:lstStyle/>
          <a:p>
            <a:endParaRPr lang="en-US" noProof="1"/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4381BBE1-C118-08FF-E134-BA39EA59D2D5}"/>
              </a:ext>
            </a:extLst>
          </p:cNvPr>
          <p:cNvSpPr/>
          <p:nvPr/>
        </p:nvSpPr>
        <p:spPr>
          <a:xfrm>
            <a:off x="640080" y="1325880"/>
            <a:ext cx="5941695" cy="4800600"/>
          </a:xfrm>
          <a:prstGeom prst="rect">
            <a:avLst/>
          </a:prstGeom>
          <a:solidFill>
            <a:srgbClr val="FFFFFF">
              <a:alpha val="0"/>
            </a:srgbClr>
          </a:solidFill>
          <a:ln w="19050">
            <a:solidFill>
              <a:srgbClr val="1F77B4"/>
            </a:solidFill>
            <a:prstDash val="solid"/>
          </a:ln>
        </p:spPr>
        <p:txBody>
          <a:bodyPr/>
          <a:lstStyle/>
          <a:p>
            <a:endParaRPr lang="en-US" noProof="1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E8FEF123-9FE7-7469-FFB8-5FA8F75C91A2}"/>
              </a:ext>
            </a:extLst>
          </p:cNvPr>
          <p:cNvSpPr/>
          <p:nvPr/>
        </p:nvSpPr>
        <p:spPr>
          <a:xfrm>
            <a:off x="822960" y="3890772"/>
            <a:ext cx="7086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noProof="1">
                <a:solidFill>
                  <a:srgbClr val="5B6472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Upload your final circuit image as PNG/JPG.</a:t>
            </a:r>
            <a:endParaRPr lang="en-US" sz="1050" noProof="1"/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66720884-192F-62DA-769A-33556E6544F2}"/>
              </a:ext>
            </a:extLst>
          </p:cNvPr>
          <p:cNvSpPr/>
          <p:nvPr/>
        </p:nvSpPr>
        <p:spPr>
          <a:xfrm>
            <a:off x="502920" y="6547104"/>
            <a:ext cx="11155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/>
            <a:r>
              <a:rPr lang="en-US" sz="850" noProof="1">
                <a:solidFill>
                  <a:srgbClr val="7B849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Smart Parking System  |  9/20</a:t>
            </a:r>
            <a:endParaRPr lang="en-US" sz="850" noProof="1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35C7FEB3-DAEE-BEF9-08A8-9DBA416B7C06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30539" t="295" r="16408" b="-295"/>
          <a:stretch>
            <a:fillRect/>
          </a:stretch>
        </p:blipFill>
        <p:spPr>
          <a:xfrm>
            <a:off x="752476" y="1426464"/>
            <a:ext cx="5715000" cy="4530867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63A6EE45-CDBC-DEFE-4A99-FC9C1E10A10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34550" y="44112"/>
            <a:ext cx="2356685" cy="920580"/>
          </a:xfrm>
          <a:prstGeom prst="rect">
            <a:avLst/>
          </a:prstGeom>
        </p:spPr>
      </p:pic>
      <p:sp>
        <p:nvSpPr>
          <p:cNvPr id="16" name="Text 6">
            <a:extLst>
              <a:ext uri="{FF2B5EF4-FFF2-40B4-BE49-F238E27FC236}">
                <a16:creationId xmlns:a16="http://schemas.microsoft.com/office/drawing/2014/main" id="{27113F16-7212-5D73-84AC-2E4196AF8763}"/>
              </a:ext>
            </a:extLst>
          </p:cNvPr>
          <p:cNvSpPr/>
          <p:nvPr/>
        </p:nvSpPr>
        <p:spPr>
          <a:xfrm>
            <a:off x="6764019" y="1351957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800" b="1" noProof="1">
                <a:solidFill>
                  <a:srgbClr val="1F77B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Hardware Used</a:t>
            </a:r>
            <a:endParaRPr lang="en-US" sz="1800" noProof="1"/>
          </a:p>
        </p:txBody>
      </p:sp>
      <p:sp>
        <p:nvSpPr>
          <p:cNvPr id="18" name="Text 8">
            <a:extLst>
              <a:ext uri="{FF2B5EF4-FFF2-40B4-BE49-F238E27FC236}">
                <a16:creationId xmlns:a16="http://schemas.microsoft.com/office/drawing/2014/main" id="{B357DBA1-4DE8-2BEA-EC77-81BACAB184C2}"/>
              </a:ext>
            </a:extLst>
          </p:cNvPr>
          <p:cNvSpPr/>
          <p:nvPr/>
        </p:nvSpPr>
        <p:spPr>
          <a:xfrm>
            <a:off x="6764019" y="1472184"/>
            <a:ext cx="2651760" cy="10058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177800" indent="-177800">
              <a:buSzPct val="100000"/>
              <a:buChar char="•"/>
            </a:pPr>
            <a:r>
              <a:rPr lang="en-US" sz="1550" noProof="1">
                <a:solidFill>
                  <a:srgbClr val="1A1A1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Arduino </a:t>
            </a:r>
          </a:p>
        </p:txBody>
      </p:sp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927018F5-BFA9-5231-4D76-DB05CC0F2CA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32565623"/>
              </p:ext>
            </p:extLst>
          </p:nvPr>
        </p:nvGraphicFramePr>
        <p:xfrm>
          <a:off x="6764019" y="2171790"/>
          <a:ext cx="5020542" cy="1010353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439764">
                  <a:extLst>
                    <a:ext uri="{9D8B030D-6E8A-4147-A177-3AD203B41FA5}">
                      <a16:colId xmlns:a16="http://schemas.microsoft.com/office/drawing/2014/main" val="312300522"/>
                    </a:ext>
                  </a:extLst>
                </a:gridCol>
                <a:gridCol w="2159646">
                  <a:extLst>
                    <a:ext uri="{9D8B030D-6E8A-4147-A177-3AD203B41FA5}">
                      <a16:colId xmlns:a16="http://schemas.microsoft.com/office/drawing/2014/main" val="2507997342"/>
                    </a:ext>
                  </a:extLst>
                </a:gridCol>
                <a:gridCol w="1421132">
                  <a:extLst>
                    <a:ext uri="{9D8B030D-6E8A-4147-A177-3AD203B41FA5}">
                      <a16:colId xmlns:a16="http://schemas.microsoft.com/office/drawing/2014/main" val="2641889986"/>
                    </a:ext>
                  </a:extLst>
                </a:gridCol>
              </a:tblGrid>
              <a:tr h="216969">
                <a:tc>
                  <a:txBody>
                    <a:bodyPr/>
                    <a:lstStyle/>
                    <a:p>
                      <a:pPr marL="0" marR="0" algn="ctr">
                        <a:lnSpc>
                          <a:spcPts val="1200"/>
                        </a:lnSpc>
                        <a:spcAft>
                          <a:spcPts val="600"/>
                        </a:spcAft>
                        <a:buNone/>
                        <a:tabLst>
                          <a:tab pos="1548765" algn="l"/>
                        </a:tabLst>
                      </a:pPr>
                      <a:r>
                        <a:rPr lang="en-US" sz="1000" kern="100" noProof="1">
                          <a:effectLst/>
                        </a:rPr>
                        <a:t>Arduino Master</a:t>
                      </a:r>
                      <a:endParaRPr lang="en-US" sz="1050" kern="100" noProof="1">
                        <a:effectLst/>
                        <a:latin typeface="Georgia" panose="02040502050405020303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ts val="1200"/>
                        </a:lnSpc>
                        <a:spcAft>
                          <a:spcPts val="600"/>
                        </a:spcAft>
                        <a:buNone/>
                        <a:tabLst>
                          <a:tab pos="1548765" algn="l"/>
                        </a:tabLst>
                      </a:pPr>
                      <a:r>
                        <a:rPr lang="en-US" sz="1000" kern="100" noProof="1">
                          <a:effectLst/>
                        </a:rPr>
                        <a:t>Arduino Slave 0x08 / 0x09</a:t>
                      </a:r>
                      <a:endParaRPr lang="en-US" sz="1050" kern="100" noProof="1">
                        <a:effectLst/>
                        <a:latin typeface="Georgia" panose="02040502050405020303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ts val="1200"/>
                        </a:lnSpc>
                        <a:spcAft>
                          <a:spcPts val="600"/>
                        </a:spcAft>
                        <a:buNone/>
                        <a:tabLst>
                          <a:tab pos="1548765" algn="l"/>
                        </a:tabLst>
                      </a:pPr>
                      <a:r>
                        <a:rPr lang="en-US" sz="1000" kern="100" noProof="1">
                          <a:effectLst/>
                        </a:rPr>
                        <a:t>Function</a:t>
                      </a:r>
                      <a:endParaRPr lang="en-US" sz="1050" kern="100" noProof="1">
                        <a:effectLst/>
                        <a:latin typeface="Georgia" panose="02040502050405020303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85002021"/>
                  </a:ext>
                </a:extLst>
              </a:tr>
              <a:tr h="198346">
                <a:tc>
                  <a:txBody>
                    <a:bodyPr/>
                    <a:lstStyle/>
                    <a:p>
                      <a:pPr marL="0" marR="0">
                        <a:lnSpc>
                          <a:spcPts val="1200"/>
                        </a:lnSpc>
                        <a:spcAft>
                          <a:spcPts val="600"/>
                        </a:spcAft>
                        <a:buNone/>
                        <a:tabLst>
                          <a:tab pos="1548765" algn="l"/>
                        </a:tabLst>
                      </a:pPr>
                      <a:r>
                        <a:rPr lang="en-US" sz="800" kern="100" noProof="1">
                          <a:effectLst/>
                        </a:rPr>
                        <a:t>GND</a:t>
                      </a:r>
                      <a:endParaRPr lang="en-US" sz="1050" kern="100" noProof="1">
                        <a:effectLst/>
                        <a:latin typeface="Georgia" panose="02040502050405020303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ts val="1200"/>
                        </a:lnSpc>
                        <a:spcAft>
                          <a:spcPts val="600"/>
                        </a:spcAft>
                        <a:buNone/>
                        <a:tabLst>
                          <a:tab pos="1548765" algn="l"/>
                        </a:tabLst>
                      </a:pPr>
                      <a:r>
                        <a:rPr lang="en-US" sz="800" kern="100" noProof="1">
                          <a:effectLst/>
                        </a:rPr>
                        <a:t>GND</a:t>
                      </a:r>
                      <a:endParaRPr lang="en-US" sz="1050" kern="100" noProof="1">
                        <a:effectLst/>
                        <a:latin typeface="Georgia" panose="02040502050405020303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ts val="1200"/>
                        </a:lnSpc>
                        <a:spcAft>
                          <a:spcPts val="600"/>
                        </a:spcAft>
                        <a:buNone/>
                        <a:tabLst>
                          <a:tab pos="1548765" algn="l"/>
                        </a:tabLst>
                      </a:pPr>
                      <a:r>
                        <a:rPr lang="en-US" sz="800" kern="100" noProof="1">
                          <a:effectLst/>
                        </a:rPr>
                        <a:t>Common ground</a:t>
                      </a:r>
                      <a:endParaRPr lang="en-US" sz="1050" kern="100" noProof="1">
                        <a:effectLst/>
                        <a:latin typeface="Georgia" panose="02040502050405020303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600687990"/>
                  </a:ext>
                </a:extLst>
              </a:tr>
              <a:tr h="198346">
                <a:tc>
                  <a:txBody>
                    <a:bodyPr/>
                    <a:lstStyle/>
                    <a:p>
                      <a:pPr marL="0" marR="0">
                        <a:lnSpc>
                          <a:spcPts val="1200"/>
                        </a:lnSpc>
                        <a:spcAft>
                          <a:spcPts val="600"/>
                        </a:spcAft>
                        <a:buNone/>
                        <a:tabLst>
                          <a:tab pos="1548765" algn="l"/>
                        </a:tabLst>
                      </a:pPr>
                      <a:r>
                        <a:rPr lang="en-US" sz="800" kern="100" noProof="1">
                          <a:effectLst/>
                        </a:rPr>
                        <a:t>A4</a:t>
                      </a:r>
                      <a:endParaRPr lang="en-US" sz="1050" kern="100" noProof="1">
                        <a:effectLst/>
                        <a:latin typeface="Georgia" panose="02040502050405020303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ts val="1200"/>
                        </a:lnSpc>
                        <a:spcAft>
                          <a:spcPts val="600"/>
                        </a:spcAft>
                        <a:buNone/>
                        <a:tabLst>
                          <a:tab pos="1548765" algn="l"/>
                        </a:tabLst>
                      </a:pPr>
                      <a:r>
                        <a:rPr lang="en-US" sz="800" kern="100" noProof="1">
                          <a:effectLst/>
                        </a:rPr>
                        <a:t>A4</a:t>
                      </a:r>
                      <a:endParaRPr lang="en-US" sz="1050" kern="100" noProof="1">
                        <a:effectLst/>
                        <a:latin typeface="Georgia" panose="02040502050405020303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ts val="1200"/>
                        </a:lnSpc>
                        <a:spcAft>
                          <a:spcPts val="600"/>
                        </a:spcAft>
                        <a:buNone/>
                        <a:tabLst>
                          <a:tab pos="1548765" algn="l"/>
                        </a:tabLst>
                      </a:pPr>
                      <a:r>
                        <a:rPr lang="en-US" sz="800" kern="100" noProof="1">
                          <a:effectLst/>
                        </a:rPr>
                        <a:t>I2C SDA</a:t>
                      </a:r>
                      <a:endParaRPr lang="en-US" sz="1050" kern="100" noProof="1">
                        <a:effectLst/>
                        <a:latin typeface="Georgia" panose="02040502050405020303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829050059"/>
                  </a:ext>
                </a:extLst>
              </a:tr>
              <a:tr h="198346">
                <a:tc>
                  <a:txBody>
                    <a:bodyPr/>
                    <a:lstStyle/>
                    <a:p>
                      <a:pPr marL="0" marR="0">
                        <a:lnSpc>
                          <a:spcPts val="1200"/>
                        </a:lnSpc>
                        <a:spcAft>
                          <a:spcPts val="600"/>
                        </a:spcAft>
                        <a:buNone/>
                        <a:tabLst>
                          <a:tab pos="1548765" algn="l"/>
                        </a:tabLst>
                      </a:pPr>
                      <a:r>
                        <a:rPr lang="en-US" sz="800" kern="100" noProof="1">
                          <a:effectLst/>
                        </a:rPr>
                        <a:t>A5</a:t>
                      </a:r>
                      <a:endParaRPr lang="en-US" sz="1050" kern="100" noProof="1">
                        <a:effectLst/>
                        <a:latin typeface="Georgia" panose="02040502050405020303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ts val="1200"/>
                        </a:lnSpc>
                        <a:spcAft>
                          <a:spcPts val="600"/>
                        </a:spcAft>
                        <a:buNone/>
                        <a:tabLst>
                          <a:tab pos="1548765" algn="l"/>
                        </a:tabLst>
                      </a:pPr>
                      <a:r>
                        <a:rPr lang="en-US" sz="800" kern="100" noProof="1">
                          <a:effectLst/>
                        </a:rPr>
                        <a:t>A5</a:t>
                      </a:r>
                      <a:endParaRPr lang="en-US" sz="1050" kern="100" noProof="1">
                        <a:effectLst/>
                        <a:latin typeface="Georgia" panose="02040502050405020303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ts val="1200"/>
                        </a:lnSpc>
                        <a:spcAft>
                          <a:spcPts val="600"/>
                        </a:spcAft>
                        <a:buNone/>
                        <a:tabLst>
                          <a:tab pos="1548765" algn="l"/>
                        </a:tabLst>
                      </a:pPr>
                      <a:r>
                        <a:rPr lang="en-US" sz="800" kern="100" noProof="1">
                          <a:effectLst/>
                        </a:rPr>
                        <a:t>I2C SCL</a:t>
                      </a:r>
                      <a:endParaRPr lang="en-US" sz="1050" kern="100" noProof="1">
                        <a:effectLst/>
                        <a:latin typeface="Georgia" panose="02040502050405020303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345444504"/>
                  </a:ext>
                </a:extLst>
              </a:tr>
              <a:tr h="198346">
                <a:tc>
                  <a:txBody>
                    <a:bodyPr/>
                    <a:lstStyle/>
                    <a:p>
                      <a:pPr marL="0" marR="0">
                        <a:lnSpc>
                          <a:spcPts val="1200"/>
                        </a:lnSpc>
                        <a:spcAft>
                          <a:spcPts val="600"/>
                        </a:spcAft>
                        <a:buNone/>
                        <a:tabLst>
                          <a:tab pos="1548765" algn="l"/>
                        </a:tabLst>
                      </a:pPr>
                      <a:r>
                        <a:rPr lang="en-US" sz="800" kern="100" noProof="1">
                          <a:effectLst/>
                        </a:rPr>
                        <a:t>D13</a:t>
                      </a:r>
                      <a:endParaRPr lang="en-US" sz="1050" kern="100" noProof="1">
                        <a:effectLst/>
                        <a:latin typeface="Georgia" panose="02040502050405020303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ts val="1200"/>
                        </a:lnSpc>
                        <a:spcAft>
                          <a:spcPts val="600"/>
                        </a:spcAft>
                        <a:buNone/>
                        <a:tabLst>
                          <a:tab pos="1548765" algn="l"/>
                        </a:tabLst>
                      </a:pPr>
                      <a:r>
                        <a:rPr lang="en-US" sz="800" kern="100" noProof="1">
                          <a:effectLst/>
                        </a:rPr>
                        <a:t>D2</a:t>
                      </a:r>
                      <a:endParaRPr lang="en-US" sz="1050" kern="100" noProof="1">
                        <a:effectLst/>
                        <a:latin typeface="Georgia" panose="02040502050405020303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ts val="1200"/>
                        </a:lnSpc>
                        <a:spcAft>
                          <a:spcPts val="600"/>
                        </a:spcAft>
                        <a:buNone/>
                        <a:tabLst>
                          <a:tab pos="1548765" algn="l"/>
                        </a:tabLst>
                      </a:pPr>
                      <a:r>
                        <a:rPr lang="en-US" sz="800" kern="100" noProof="1">
                          <a:effectLst/>
                        </a:rPr>
                        <a:t>Sync signal</a:t>
                      </a:r>
                      <a:endParaRPr lang="en-US" sz="1050" kern="100" noProof="1">
                        <a:effectLst/>
                        <a:latin typeface="Georgia" panose="02040502050405020303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1962651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5807876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05A199-9D39-A961-CE6B-29740EF509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9578335B-53AA-DE5B-CC13-7ACE023C7230}"/>
              </a:ext>
            </a:extLst>
          </p:cNvPr>
          <p:cNvSpPr/>
          <p:nvPr/>
        </p:nvSpPr>
        <p:spPr>
          <a:xfrm>
            <a:off x="502920" y="320040"/>
            <a:ext cx="11155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3000" b="1" noProof="1">
                <a:solidFill>
                  <a:srgbClr val="0B1F3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Master Hardware Circuit Diagram</a:t>
            </a:r>
            <a:endParaRPr lang="en-US" sz="3000" noProof="1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CDBC1E73-170D-82C3-7EA9-B663A58319D1}"/>
              </a:ext>
            </a:extLst>
          </p:cNvPr>
          <p:cNvSpPr/>
          <p:nvPr/>
        </p:nvSpPr>
        <p:spPr>
          <a:xfrm>
            <a:off x="530352" y="777240"/>
            <a:ext cx="10972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noProof="1">
                <a:solidFill>
                  <a:srgbClr val="5B6472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Physical wiring and electrical connections.</a:t>
            </a:r>
            <a:endParaRPr lang="en-US" sz="1250" noProof="1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FA9D5B5C-C5CA-B30B-B6A9-8C7D70835A18}"/>
              </a:ext>
            </a:extLst>
          </p:cNvPr>
          <p:cNvSpPr/>
          <p:nvPr/>
        </p:nvSpPr>
        <p:spPr>
          <a:xfrm>
            <a:off x="502920" y="1078992"/>
            <a:ext cx="11155680" cy="0"/>
          </a:xfrm>
          <a:prstGeom prst="line">
            <a:avLst/>
          </a:prstGeom>
          <a:noFill/>
          <a:ln w="12700">
            <a:solidFill>
              <a:srgbClr val="B9C2CF"/>
            </a:solidFill>
            <a:prstDash val="solid"/>
          </a:ln>
        </p:spPr>
        <p:txBody>
          <a:bodyPr/>
          <a:lstStyle/>
          <a:p>
            <a:endParaRPr lang="en-US" noProof="1"/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8BBB55D4-1758-B279-E43D-687EEC81A91F}"/>
              </a:ext>
            </a:extLst>
          </p:cNvPr>
          <p:cNvSpPr/>
          <p:nvPr/>
        </p:nvSpPr>
        <p:spPr>
          <a:xfrm>
            <a:off x="640080" y="1325880"/>
            <a:ext cx="5941695" cy="4800600"/>
          </a:xfrm>
          <a:prstGeom prst="rect">
            <a:avLst/>
          </a:prstGeom>
          <a:solidFill>
            <a:srgbClr val="FFFFFF">
              <a:alpha val="0"/>
            </a:srgbClr>
          </a:solidFill>
          <a:ln w="19050">
            <a:solidFill>
              <a:srgbClr val="1F77B4"/>
            </a:solidFill>
            <a:prstDash val="solid"/>
          </a:ln>
        </p:spPr>
        <p:txBody>
          <a:bodyPr/>
          <a:lstStyle/>
          <a:p>
            <a:endParaRPr lang="en-US" noProof="1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5D352FF5-EEDB-BB08-3C8D-0BA4DA3BF622}"/>
              </a:ext>
            </a:extLst>
          </p:cNvPr>
          <p:cNvSpPr/>
          <p:nvPr/>
        </p:nvSpPr>
        <p:spPr>
          <a:xfrm>
            <a:off x="822960" y="3890772"/>
            <a:ext cx="7086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noProof="1">
                <a:solidFill>
                  <a:srgbClr val="5B6472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Upload your final circuit image as PNG/JPG.</a:t>
            </a:r>
            <a:endParaRPr lang="en-US" sz="1050" noProof="1"/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86A16B29-11D3-3662-CE1E-32F88145167B}"/>
              </a:ext>
            </a:extLst>
          </p:cNvPr>
          <p:cNvSpPr/>
          <p:nvPr/>
        </p:nvSpPr>
        <p:spPr>
          <a:xfrm>
            <a:off x="502920" y="6547104"/>
            <a:ext cx="11155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/>
            <a:r>
              <a:rPr lang="en-US" sz="850" noProof="1">
                <a:solidFill>
                  <a:srgbClr val="7B849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Smart Parking System  |  10/20</a:t>
            </a:r>
            <a:endParaRPr lang="en-US" sz="850" noProof="1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8F258F70-6C85-FA75-3178-E924EA6F250B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46747"/>
          <a:stretch>
            <a:fillRect/>
          </a:stretch>
        </p:blipFill>
        <p:spPr>
          <a:xfrm>
            <a:off x="731016" y="1426464"/>
            <a:ext cx="5736459" cy="4530867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BC9D9CF9-BAFE-7016-5D3B-B5721B6EE52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34550" y="44112"/>
            <a:ext cx="2356685" cy="920580"/>
          </a:xfrm>
          <a:prstGeom prst="rect">
            <a:avLst/>
          </a:prstGeom>
        </p:spPr>
      </p:pic>
      <p:graphicFrame>
        <p:nvGraphicFramePr>
          <p:cNvPr id="14" name="Table 13">
            <a:extLst>
              <a:ext uri="{FF2B5EF4-FFF2-40B4-BE49-F238E27FC236}">
                <a16:creationId xmlns:a16="http://schemas.microsoft.com/office/drawing/2014/main" id="{0156E128-C6E6-FCEA-1F2E-775E0605B66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86534423"/>
              </p:ext>
            </p:extLst>
          </p:nvPr>
        </p:nvGraphicFramePr>
        <p:xfrm>
          <a:off x="6764019" y="2256608"/>
          <a:ext cx="5020543" cy="1044096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625262">
                  <a:extLst>
                    <a:ext uri="{9D8B030D-6E8A-4147-A177-3AD203B41FA5}">
                      <a16:colId xmlns:a16="http://schemas.microsoft.com/office/drawing/2014/main" val="1697011895"/>
                    </a:ext>
                  </a:extLst>
                </a:gridCol>
                <a:gridCol w="1796023">
                  <a:extLst>
                    <a:ext uri="{9D8B030D-6E8A-4147-A177-3AD203B41FA5}">
                      <a16:colId xmlns:a16="http://schemas.microsoft.com/office/drawing/2014/main" val="108303599"/>
                    </a:ext>
                  </a:extLst>
                </a:gridCol>
                <a:gridCol w="1599258">
                  <a:extLst>
                    <a:ext uri="{9D8B030D-6E8A-4147-A177-3AD203B41FA5}">
                      <a16:colId xmlns:a16="http://schemas.microsoft.com/office/drawing/2014/main" val="2801264279"/>
                    </a:ext>
                  </a:extLst>
                </a:gridCol>
              </a:tblGrid>
              <a:tr h="261024">
                <a:tc>
                  <a:txBody>
                    <a:bodyPr/>
                    <a:lstStyle/>
                    <a:p>
                      <a:pPr marL="0" marR="0" algn="ctr">
                        <a:lnSpc>
                          <a:spcPts val="1200"/>
                        </a:lnSpc>
                        <a:spcAft>
                          <a:spcPts val="600"/>
                        </a:spcAft>
                        <a:buNone/>
                        <a:tabLst>
                          <a:tab pos="1548765" algn="l"/>
                        </a:tabLst>
                      </a:pPr>
                      <a:r>
                        <a:rPr lang="en-US" sz="800" kern="100" noProof="1">
                          <a:effectLst/>
                        </a:rPr>
                        <a:t>Arduino Master</a:t>
                      </a:r>
                      <a:endParaRPr lang="en-US" sz="1050" kern="100" noProof="1">
                        <a:effectLst/>
                        <a:latin typeface="Georgia" panose="02040502050405020303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indent="457200" algn="ctr">
                        <a:lnSpc>
                          <a:spcPts val="1200"/>
                        </a:lnSpc>
                        <a:spcAft>
                          <a:spcPts val="600"/>
                        </a:spcAft>
                        <a:buNone/>
                        <a:tabLst>
                          <a:tab pos="1548765" algn="l"/>
                        </a:tabLst>
                      </a:pPr>
                      <a:r>
                        <a:rPr lang="en-US" sz="800" kern="100" noProof="1">
                          <a:effectLst/>
                        </a:rPr>
                        <a:t>Device Pin</a:t>
                      </a:r>
                      <a:endParaRPr lang="en-US" sz="1050" kern="100" noProof="1">
                        <a:effectLst/>
                        <a:latin typeface="Georgia" panose="02040502050405020303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ts val="1200"/>
                        </a:lnSpc>
                        <a:spcAft>
                          <a:spcPts val="600"/>
                        </a:spcAft>
                        <a:buNone/>
                        <a:tabLst>
                          <a:tab pos="1548765" algn="l"/>
                        </a:tabLst>
                      </a:pPr>
                      <a:r>
                        <a:rPr lang="en-US" sz="800" kern="100" noProof="1">
                          <a:effectLst/>
                        </a:rPr>
                        <a:t>Device</a:t>
                      </a:r>
                      <a:endParaRPr lang="en-US" sz="1050" kern="100" noProof="1">
                        <a:effectLst/>
                        <a:latin typeface="Georgia" panose="02040502050405020303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092000868"/>
                  </a:ext>
                </a:extLst>
              </a:tr>
              <a:tr h="261024">
                <a:tc>
                  <a:txBody>
                    <a:bodyPr/>
                    <a:lstStyle/>
                    <a:p>
                      <a:pPr marL="0" marR="0">
                        <a:lnSpc>
                          <a:spcPts val="1200"/>
                        </a:lnSpc>
                        <a:spcAft>
                          <a:spcPts val="600"/>
                        </a:spcAft>
                        <a:buNone/>
                        <a:tabLst>
                          <a:tab pos="1548765" algn="l"/>
                        </a:tabLst>
                      </a:pPr>
                      <a:r>
                        <a:rPr lang="en-US" sz="800" kern="100" noProof="1">
                          <a:effectLst/>
                        </a:rPr>
                        <a:t>D11</a:t>
                      </a:r>
                      <a:endParaRPr lang="en-US" sz="1050" kern="100" noProof="1">
                        <a:effectLst/>
                        <a:latin typeface="Georgia" panose="02040502050405020303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ts val="1200"/>
                        </a:lnSpc>
                        <a:spcAft>
                          <a:spcPts val="600"/>
                        </a:spcAft>
                        <a:buNone/>
                        <a:tabLst>
                          <a:tab pos="1548765" algn="l"/>
                        </a:tabLst>
                      </a:pPr>
                      <a:r>
                        <a:rPr lang="en-US" sz="800" kern="100" noProof="1">
                          <a:effectLst/>
                        </a:rPr>
                        <a:t>SIG</a:t>
                      </a:r>
                      <a:endParaRPr lang="en-US" sz="1050" kern="100" noProof="1">
                        <a:effectLst/>
                        <a:latin typeface="Georgia" panose="02040502050405020303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ts val="1200"/>
                        </a:lnSpc>
                        <a:spcAft>
                          <a:spcPts val="600"/>
                        </a:spcAft>
                        <a:buNone/>
                        <a:tabLst>
                          <a:tab pos="1548765" algn="l"/>
                        </a:tabLst>
                      </a:pPr>
                      <a:r>
                        <a:rPr lang="en-US" sz="800" kern="100" noProof="1">
                          <a:effectLst/>
                        </a:rPr>
                        <a:t>Servo SG90</a:t>
                      </a:r>
                      <a:endParaRPr lang="en-US" sz="1050" kern="100" noProof="1">
                        <a:effectLst/>
                        <a:latin typeface="Georgia" panose="02040502050405020303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997382526"/>
                  </a:ext>
                </a:extLst>
              </a:tr>
              <a:tr h="261024">
                <a:tc>
                  <a:txBody>
                    <a:bodyPr/>
                    <a:lstStyle/>
                    <a:p>
                      <a:pPr marL="0" marR="0">
                        <a:lnSpc>
                          <a:spcPts val="1200"/>
                        </a:lnSpc>
                        <a:spcAft>
                          <a:spcPts val="600"/>
                        </a:spcAft>
                        <a:buNone/>
                        <a:tabLst>
                          <a:tab pos="1548765" algn="l"/>
                        </a:tabLst>
                      </a:pPr>
                      <a:r>
                        <a:rPr lang="en-US" sz="800" kern="100" noProof="1">
                          <a:effectLst/>
                        </a:rPr>
                        <a:t>5V</a:t>
                      </a:r>
                      <a:endParaRPr lang="en-US" sz="1050" kern="100" noProof="1">
                        <a:effectLst/>
                        <a:latin typeface="Georgia" panose="02040502050405020303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ts val="1200"/>
                        </a:lnSpc>
                        <a:spcAft>
                          <a:spcPts val="600"/>
                        </a:spcAft>
                        <a:buNone/>
                        <a:tabLst>
                          <a:tab pos="1548765" algn="l"/>
                        </a:tabLst>
                      </a:pPr>
                      <a:r>
                        <a:rPr lang="en-US" sz="800" kern="100" noProof="1">
                          <a:effectLst/>
                        </a:rPr>
                        <a:t>PWR</a:t>
                      </a:r>
                      <a:endParaRPr lang="en-US" sz="1050" kern="100" noProof="1">
                        <a:effectLst/>
                        <a:latin typeface="Georgia" panose="02040502050405020303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ts val="1200"/>
                        </a:lnSpc>
                        <a:spcAft>
                          <a:spcPts val="600"/>
                        </a:spcAft>
                        <a:buNone/>
                        <a:tabLst>
                          <a:tab pos="1548765" algn="l"/>
                        </a:tabLst>
                      </a:pPr>
                      <a:r>
                        <a:rPr lang="en-US" sz="800" kern="100" noProof="1">
                          <a:effectLst/>
                        </a:rPr>
                        <a:t>Servo SG90</a:t>
                      </a:r>
                      <a:endParaRPr lang="en-US" sz="1050" kern="100" noProof="1">
                        <a:effectLst/>
                        <a:latin typeface="Georgia" panose="02040502050405020303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978414591"/>
                  </a:ext>
                </a:extLst>
              </a:tr>
              <a:tr h="261024">
                <a:tc>
                  <a:txBody>
                    <a:bodyPr/>
                    <a:lstStyle/>
                    <a:p>
                      <a:pPr marL="0" marR="0">
                        <a:lnSpc>
                          <a:spcPts val="1200"/>
                        </a:lnSpc>
                        <a:spcAft>
                          <a:spcPts val="600"/>
                        </a:spcAft>
                        <a:buNone/>
                        <a:tabLst>
                          <a:tab pos="1548765" algn="l"/>
                        </a:tabLst>
                      </a:pPr>
                      <a:r>
                        <a:rPr lang="en-US" sz="800" kern="100" noProof="1">
                          <a:effectLst/>
                        </a:rPr>
                        <a:t>GND</a:t>
                      </a:r>
                      <a:endParaRPr lang="en-US" sz="1050" kern="100" noProof="1">
                        <a:effectLst/>
                        <a:latin typeface="Georgia" panose="02040502050405020303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ts val="1200"/>
                        </a:lnSpc>
                        <a:spcAft>
                          <a:spcPts val="600"/>
                        </a:spcAft>
                        <a:buNone/>
                        <a:tabLst>
                          <a:tab pos="1548765" algn="l"/>
                        </a:tabLst>
                      </a:pPr>
                      <a:r>
                        <a:rPr lang="en-US" sz="800" kern="100" noProof="1">
                          <a:effectLst/>
                        </a:rPr>
                        <a:t>GND</a:t>
                      </a:r>
                      <a:endParaRPr lang="en-US" sz="1050" kern="100" noProof="1">
                        <a:effectLst/>
                        <a:latin typeface="Georgia" panose="02040502050405020303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ts val="1200"/>
                        </a:lnSpc>
                        <a:spcAft>
                          <a:spcPts val="600"/>
                        </a:spcAft>
                        <a:buNone/>
                        <a:tabLst>
                          <a:tab pos="1548765" algn="l"/>
                        </a:tabLst>
                      </a:pPr>
                      <a:r>
                        <a:rPr lang="en-US" sz="800" kern="100" noProof="1">
                          <a:effectLst/>
                        </a:rPr>
                        <a:t>Servo SG90</a:t>
                      </a:r>
                      <a:endParaRPr lang="en-US" sz="1050" kern="100" noProof="1">
                        <a:effectLst/>
                        <a:latin typeface="Georgia" panose="02040502050405020303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030551300"/>
                  </a:ext>
                </a:extLst>
              </a:tr>
            </a:tbl>
          </a:graphicData>
        </a:graphic>
      </p:graphicFrame>
      <p:sp>
        <p:nvSpPr>
          <p:cNvPr id="16" name="Text 6">
            <a:extLst>
              <a:ext uri="{FF2B5EF4-FFF2-40B4-BE49-F238E27FC236}">
                <a16:creationId xmlns:a16="http://schemas.microsoft.com/office/drawing/2014/main" id="{2A5F7C43-8480-06E9-97F6-785FF5E32DC2}"/>
              </a:ext>
            </a:extLst>
          </p:cNvPr>
          <p:cNvSpPr/>
          <p:nvPr/>
        </p:nvSpPr>
        <p:spPr>
          <a:xfrm>
            <a:off x="6764019" y="1351957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800" b="1" noProof="1">
                <a:solidFill>
                  <a:srgbClr val="1F77B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Hardware Used</a:t>
            </a:r>
            <a:endParaRPr lang="en-US" sz="1800" noProof="1"/>
          </a:p>
        </p:txBody>
      </p:sp>
      <p:sp>
        <p:nvSpPr>
          <p:cNvPr id="18" name="Text 8">
            <a:extLst>
              <a:ext uri="{FF2B5EF4-FFF2-40B4-BE49-F238E27FC236}">
                <a16:creationId xmlns:a16="http://schemas.microsoft.com/office/drawing/2014/main" id="{594945FE-641F-1153-7096-79CD40699283}"/>
              </a:ext>
            </a:extLst>
          </p:cNvPr>
          <p:cNvSpPr/>
          <p:nvPr/>
        </p:nvSpPr>
        <p:spPr>
          <a:xfrm>
            <a:off x="6764019" y="1472184"/>
            <a:ext cx="2651760" cy="10058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177800" indent="-177800">
              <a:buSzPct val="100000"/>
              <a:buChar char="•"/>
            </a:pPr>
            <a:r>
              <a:rPr lang="en-US" sz="1550" noProof="1">
                <a:solidFill>
                  <a:srgbClr val="1A1A1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Servo SG90</a:t>
            </a:r>
          </a:p>
        </p:txBody>
      </p:sp>
      <p:sp>
        <p:nvSpPr>
          <p:cNvPr id="21" name="Text 8">
            <a:extLst>
              <a:ext uri="{FF2B5EF4-FFF2-40B4-BE49-F238E27FC236}">
                <a16:creationId xmlns:a16="http://schemas.microsoft.com/office/drawing/2014/main" id="{6FCED7AD-F40B-E58A-2183-7D23FBC2805F}"/>
              </a:ext>
            </a:extLst>
          </p:cNvPr>
          <p:cNvSpPr/>
          <p:nvPr/>
        </p:nvSpPr>
        <p:spPr>
          <a:xfrm>
            <a:off x="6764018" y="3267020"/>
            <a:ext cx="2651760" cy="10058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177800" indent="-177800">
              <a:buSzPct val="100000"/>
              <a:buChar char="•"/>
            </a:pPr>
            <a:r>
              <a:rPr lang="en-US" sz="1550" noProof="1">
                <a:solidFill>
                  <a:srgbClr val="1A1A1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LCD A1602</a:t>
            </a:r>
          </a:p>
        </p:txBody>
      </p:sp>
      <p:graphicFrame>
        <p:nvGraphicFramePr>
          <p:cNvPr id="22" name="Table 21">
            <a:extLst>
              <a:ext uri="{FF2B5EF4-FFF2-40B4-BE49-F238E27FC236}">
                <a16:creationId xmlns:a16="http://schemas.microsoft.com/office/drawing/2014/main" id="{CE776A4D-8CB1-BA06-9C29-D01602E0ECC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02061716"/>
              </p:ext>
            </p:extLst>
          </p:nvPr>
        </p:nvGraphicFramePr>
        <p:xfrm>
          <a:off x="6764017" y="4049436"/>
          <a:ext cx="5020544" cy="2077044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972018">
                  <a:extLst>
                    <a:ext uri="{9D8B030D-6E8A-4147-A177-3AD203B41FA5}">
                      <a16:colId xmlns:a16="http://schemas.microsoft.com/office/drawing/2014/main" val="1029933600"/>
                    </a:ext>
                  </a:extLst>
                </a:gridCol>
                <a:gridCol w="2350052">
                  <a:extLst>
                    <a:ext uri="{9D8B030D-6E8A-4147-A177-3AD203B41FA5}">
                      <a16:colId xmlns:a16="http://schemas.microsoft.com/office/drawing/2014/main" val="215843133"/>
                    </a:ext>
                  </a:extLst>
                </a:gridCol>
                <a:gridCol w="1698474">
                  <a:extLst>
                    <a:ext uri="{9D8B030D-6E8A-4147-A177-3AD203B41FA5}">
                      <a16:colId xmlns:a16="http://schemas.microsoft.com/office/drawing/2014/main" val="1397414351"/>
                    </a:ext>
                  </a:extLst>
                </a:gridCol>
              </a:tblGrid>
              <a:tr h="158627">
                <a:tc>
                  <a:txBody>
                    <a:bodyPr/>
                    <a:lstStyle/>
                    <a:p>
                      <a:pPr marL="0" marR="0" algn="ctr">
                        <a:lnSpc>
                          <a:spcPts val="1200"/>
                        </a:lnSpc>
                        <a:spcAft>
                          <a:spcPts val="600"/>
                        </a:spcAft>
                        <a:buNone/>
                        <a:tabLst>
                          <a:tab pos="1548765" algn="l"/>
                        </a:tabLst>
                      </a:pPr>
                      <a:r>
                        <a:rPr lang="en-US" sz="800" kern="100" noProof="1">
                          <a:effectLst/>
                        </a:rPr>
                        <a:t>Arduino Master</a:t>
                      </a:r>
                      <a:endParaRPr lang="en-US" sz="1050" kern="100" noProof="1">
                        <a:effectLst/>
                        <a:latin typeface="Georgia" panose="02040502050405020303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ts val="1200"/>
                        </a:lnSpc>
                        <a:spcAft>
                          <a:spcPts val="600"/>
                        </a:spcAft>
                        <a:buNone/>
                        <a:tabLst>
                          <a:tab pos="1548765" algn="l"/>
                        </a:tabLst>
                      </a:pPr>
                      <a:r>
                        <a:rPr lang="en-US" sz="800" kern="100" noProof="1">
                          <a:effectLst/>
                        </a:rPr>
                        <a:t>LCD1602 Pin</a:t>
                      </a:r>
                      <a:endParaRPr lang="en-US" sz="1050" kern="100" noProof="1">
                        <a:effectLst/>
                        <a:latin typeface="Georgia" panose="02040502050405020303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ts val="1200"/>
                        </a:lnSpc>
                        <a:spcAft>
                          <a:spcPts val="600"/>
                        </a:spcAft>
                        <a:buNone/>
                        <a:tabLst>
                          <a:tab pos="1548765" algn="l"/>
                        </a:tabLst>
                      </a:pPr>
                      <a:r>
                        <a:rPr lang="en-US" sz="800" kern="100" noProof="1">
                          <a:effectLst/>
                        </a:rPr>
                        <a:t>Function</a:t>
                      </a:r>
                      <a:endParaRPr lang="en-US" sz="1050" kern="100" noProof="1">
                        <a:effectLst/>
                        <a:latin typeface="Georgia" panose="02040502050405020303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163168601"/>
                  </a:ext>
                </a:extLst>
              </a:tr>
              <a:tr h="158627">
                <a:tc>
                  <a:txBody>
                    <a:bodyPr/>
                    <a:lstStyle/>
                    <a:p>
                      <a:pPr marL="0" marR="0">
                        <a:lnSpc>
                          <a:spcPts val="1200"/>
                        </a:lnSpc>
                        <a:spcAft>
                          <a:spcPts val="600"/>
                        </a:spcAft>
                        <a:buNone/>
                        <a:tabLst>
                          <a:tab pos="1548765" algn="l"/>
                        </a:tabLst>
                      </a:pPr>
                      <a:r>
                        <a:rPr lang="en-US" sz="800" kern="100" noProof="1">
                          <a:effectLst/>
                        </a:rPr>
                        <a:t>5V</a:t>
                      </a:r>
                      <a:endParaRPr lang="en-US" sz="1050" kern="100" noProof="1">
                        <a:effectLst/>
                        <a:latin typeface="Georgia" panose="02040502050405020303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ts val="1200"/>
                        </a:lnSpc>
                        <a:spcAft>
                          <a:spcPts val="600"/>
                        </a:spcAft>
                        <a:buNone/>
                        <a:tabLst>
                          <a:tab pos="1548765" algn="l"/>
                        </a:tabLst>
                      </a:pPr>
                      <a:r>
                        <a:rPr lang="en-US" sz="800" kern="100" noProof="1">
                          <a:effectLst/>
                        </a:rPr>
                        <a:t>VDD</a:t>
                      </a:r>
                      <a:endParaRPr lang="en-US" sz="1050" kern="100" noProof="1">
                        <a:effectLst/>
                        <a:latin typeface="Georgia" panose="02040502050405020303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ts val="1200"/>
                        </a:lnSpc>
                        <a:spcAft>
                          <a:spcPts val="600"/>
                        </a:spcAft>
                        <a:buNone/>
                        <a:tabLst>
                          <a:tab pos="1548765" algn="l"/>
                        </a:tabLst>
                      </a:pPr>
                      <a:r>
                        <a:rPr lang="en-US" sz="800" kern="100" noProof="1">
                          <a:effectLst/>
                        </a:rPr>
                        <a:t>LCD power</a:t>
                      </a:r>
                      <a:endParaRPr lang="en-US" sz="1050" kern="100" noProof="1">
                        <a:effectLst/>
                        <a:latin typeface="Georgia" panose="02040502050405020303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474311789"/>
                  </a:ext>
                </a:extLst>
              </a:tr>
              <a:tr h="158627">
                <a:tc>
                  <a:txBody>
                    <a:bodyPr/>
                    <a:lstStyle/>
                    <a:p>
                      <a:pPr marL="0" marR="0">
                        <a:lnSpc>
                          <a:spcPts val="1200"/>
                        </a:lnSpc>
                        <a:spcAft>
                          <a:spcPts val="600"/>
                        </a:spcAft>
                        <a:buNone/>
                        <a:tabLst>
                          <a:tab pos="1548765" algn="l"/>
                        </a:tabLst>
                      </a:pPr>
                      <a:r>
                        <a:rPr lang="en-US" sz="800" kern="100" noProof="1">
                          <a:effectLst/>
                        </a:rPr>
                        <a:t>GND</a:t>
                      </a:r>
                      <a:endParaRPr lang="en-US" sz="1050" kern="100" noProof="1">
                        <a:effectLst/>
                        <a:latin typeface="Georgia" panose="02040502050405020303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ts val="1200"/>
                        </a:lnSpc>
                        <a:spcAft>
                          <a:spcPts val="600"/>
                        </a:spcAft>
                        <a:buNone/>
                        <a:tabLst>
                          <a:tab pos="1548765" algn="l"/>
                        </a:tabLst>
                      </a:pPr>
                      <a:r>
                        <a:rPr lang="en-US" sz="800" kern="100" noProof="1">
                          <a:effectLst/>
                        </a:rPr>
                        <a:t>VSS</a:t>
                      </a:r>
                      <a:endParaRPr lang="en-US" sz="1050" kern="100" noProof="1">
                        <a:effectLst/>
                        <a:latin typeface="Georgia" panose="02040502050405020303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ts val="1200"/>
                        </a:lnSpc>
                        <a:spcAft>
                          <a:spcPts val="600"/>
                        </a:spcAft>
                        <a:buNone/>
                        <a:tabLst>
                          <a:tab pos="1548765" algn="l"/>
                        </a:tabLst>
                      </a:pPr>
                      <a:r>
                        <a:rPr lang="en-US" sz="800" kern="100" noProof="1">
                          <a:effectLst/>
                        </a:rPr>
                        <a:t>Ground</a:t>
                      </a:r>
                      <a:endParaRPr lang="en-US" sz="1050" kern="100" noProof="1">
                        <a:effectLst/>
                        <a:latin typeface="Georgia" panose="02040502050405020303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224103069"/>
                  </a:ext>
                </a:extLst>
              </a:tr>
              <a:tr h="332147">
                <a:tc>
                  <a:txBody>
                    <a:bodyPr/>
                    <a:lstStyle/>
                    <a:p>
                      <a:pPr marL="0" marR="0">
                        <a:lnSpc>
                          <a:spcPts val="1200"/>
                        </a:lnSpc>
                        <a:spcAft>
                          <a:spcPts val="600"/>
                        </a:spcAft>
                        <a:buNone/>
                        <a:tabLst>
                          <a:tab pos="1548765" algn="l"/>
                        </a:tabLst>
                      </a:pPr>
                      <a:r>
                        <a:rPr lang="en-US" sz="800" kern="100" noProof="1">
                          <a:effectLst/>
                        </a:rPr>
                        <a:t>Potentiometer output</a:t>
                      </a:r>
                      <a:endParaRPr lang="en-US" sz="1050" kern="100" noProof="1">
                        <a:effectLst/>
                        <a:latin typeface="Georgia" panose="02040502050405020303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ts val="1200"/>
                        </a:lnSpc>
                        <a:spcAft>
                          <a:spcPts val="600"/>
                        </a:spcAft>
                        <a:buNone/>
                        <a:tabLst>
                          <a:tab pos="1548765" algn="l"/>
                        </a:tabLst>
                      </a:pPr>
                      <a:r>
                        <a:rPr lang="en-US" sz="800" kern="100" noProof="1">
                          <a:effectLst/>
                        </a:rPr>
                        <a:t>VO</a:t>
                      </a:r>
                      <a:endParaRPr lang="en-US" sz="1050" kern="100" noProof="1">
                        <a:effectLst/>
                        <a:latin typeface="Georgia" panose="02040502050405020303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ts val="1200"/>
                        </a:lnSpc>
                        <a:spcAft>
                          <a:spcPts val="600"/>
                        </a:spcAft>
                        <a:buNone/>
                        <a:tabLst>
                          <a:tab pos="1548765" algn="l"/>
                        </a:tabLst>
                      </a:pPr>
                      <a:r>
                        <a:rPr lang="en-US" sz="800" kern="100" noProof="1">
                          <a:effectLst/>
                        </a:rPr>
                        <a:t>Contrast control</a:t>
                      </a:r>
                      <a:endParaRPr lang="en-US" sz="1050" kern="100" noProof="1">
                        <a:effectLst/>
                        <a:latin typeface="Georgia" panose="02040502050405020303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785804708"/>
                  </a:ext>
                </a:extLst>
              </a:tr>
              <a:tr h="158627">
                <a:tc>
                  <a:txBody>
                    <a:bodyPr/>
                    <a:lstStyle/>
                    <a:p>
                      <a:pPr marL="0" marR="0">
                        <a:lnSpc>
                          <a:spcPts val="1200"/>
                        </a:lnSpc>
                        <a:spcAft>
                          <a:spcPts val="600"/>
                        </a:spcAft>
                        <a:buNone/>
                        <a:tabLst>
                          <a:tab pos="1548765" algn="l"/>
                        </a:tabLst>
                      </a:pPr>
                      <a:r>
                        <a:rPr lang="en-US" sz="800" kern="100" noProof="1">
                          <a:effectLst/>
                        </a:rPr>
                        <a:t>D9</a:t>
                      </a:r>
                      <a:endParaRPr lang="en-US" sz="1050" kern="100" noProof="1">
                        <a:effectLst/>
                        <a:latin typeface="Georgia" panose="02040502050405020303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ts val="1200"/>
                        </a:lnSpc>
                        <a:spcAft>
                          <a:spcPts val="600"/>
                        </a:spcAft>
                        <a:buNone/>
                        <a:tabLst>
                          <a:tab pos="1548765" algn="l"/>
                        </a:tabLst>
                      </a:pPr>
                      <a:r>
                        <a:rPr lang="en-US" sz="800" kern="100" noProof="1">
                          <a:effectLst/>
                        </a:rPr>
                        <a:t>RS</a:t>
                      </a:r>
                      <a:endParaRPr lang="en-US" sz="1050" kern="100" noProof="1">
                        <a:effectLst/>
                        <a:latin typeface="Georgia" panose="02040502050405020303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ts val="1200"/>
                        </a:lnSpc>
                        <a:spcAft>
                          <a:spcPts val="600"/>
                        </a:spcAft>
                        <a:buNone/>
                        <a:tabLst>
                          <a:tab pos="1548765" algn="l"/>
                        </a:tabLst>
                      </a:pPr>
                      <a:r>
                        <a:rPr lang="en-US" sz="800" kern="100" noProof="1">
                          <a:effectLst/>
                        </a:rPr>
                        <a:t>Register select</a:t>
                      </a:r>
                      <a:endParaRPr lang="en-US" sz="1050" kern="100" noProof="1">
                        <a:effectLst/>
                        <a:latin typeface="Georgia" panose="02040502050405020303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045904036"/>
                  </a:ext>
                </a:extLst>
              </a:tr>
              <a:tr h="158627">
                <a:tc>
                  <a:txBody>
                    <a:bodyPr/>
                    <a:lstStyle/>
                    <a:p>
                      <a:pPr marL="0" marR="0">
                        <a:lnSpc>
                          <a:spcPts val="1200"/>
                        </a:lnSpc>
                        <a:spcAft>
                          <a:spcPts val="600"/>
                        </a:spcAft>
                        <a:buNone/>
                        <a:tabLst>
                          <a:tab pos="1548765" algn="l"/>
                        </a:tabLst>
                      </a:pPr>
                      <a:r>
                        <a:rPr lang="en-US" sz="800" kern="100" noProof="1">
                          <a:effectLst/>
                        </a:rPr>
                        <a:t>GND</a:t>
                      </a:r>
                      <a:endParaRPr lang="en-US" sz="1050" kern="100" noProof="1">
                        <a:effectLst/>
                        <a:latin typeface="Georgia" panose="02040502050405020303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ts val="1200"/>
                        </a:lnSpc>
                        <a:spcAft>
                          <a:spcPts val="600"/>
                        </a:spcAft>
                        <a:buNone/>
                        <a:tabLst>
                          <a:tab pos="1548765" algn="l"/>
                        </a:tabLst>
                      </a:pPr>
                      <a:r>
                        <a:rPr lang="en-US" sz="800" kern="100" noProof="1">
                          <a:effectLst/>
                        </a:rPr>
                        <a:t>R/W</a:t>
                      </a:r>
                      <a:endParaRPr lang="en-US" sz="1050" kern="100" noProof="1">
                        <a:effectLst/>
                        <a:latin typeface="Georgia" panose="02040502050405020303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ts val="1200"/>
                        </a:lnSpc>
                        <a:spcAft>
                          <a:spcPts val="600"/>
                        </a:spcAft>
                        <a:buNone/>
                        <a:tabLst>
                          <a:tab pos="1548765" algn="l"/>
                        </a:tabLst>
                      </a:pPr>
                      <a:r>
                        <a:rPr lang="en-US" sz="800" kern="100" noProof="1">
                          <a:effectLst/>
                        </a:rPr>
                        <a:t>Read/write control</a:t>
                      </a:r>
                      <a:endParaRPr lang="en-US" sz="1050" kern="100" noProof="1">
                        <a:effectLst/>
                        <a:latin typeface="Georgia" panose="02040502050405020303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566619241"/>
                  </a:ext>
                </a:extLst>
              </a:tr>
              <a:tr h="158627">
                <a:tc>
                  <a:txBody>
                    <a:bodyPr/>
                    <a:lstStyle/>
                    <a:p>
                      <a:pPr marL="0" marR="0">
                        <a:lnSpc>
                          <a:spcPts val="1200"/>
                        </a:lnSpc>
                        <a:spcAft>
                          <a:spcPts val="600"/>
                        </a:spcAft>
                        <a:buNone/>
                        <a:tabLst>
                          <a:tab pos="1548765" algn="l"/>
                        </a:tabLst>
                      </a:pPr>
                      <a:r>
                        <a:rPr lang="en-US" sz="800" kern="100" noProof="1">
                          <a:effectLst/>
                        </a:rPr>
                        <a:t>D10</a:t>
                      </a:r>
                      <a:endParaRPr lang="en-US" sz="1050" kern="100" noProof="1">
                        <a:effectLst/>
                        <a:latin typeface="Georgia" panose="02040502050405020303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ts val="1200"/>
                        </a:lnSpc>
                        <a:spcAft>
                          <a:spcPts val="600"/>
                        </a:spcAft>
                        <a:buNone/>
                        <a:tabLst>
                          <a:tab pos="1548765" algn="l"/>
                        </a:tabLst>
                      </a:pPr>
                      <a:r>
                        <a:rPr lang="en-US" sz="800" kern="100" noProof="1">
                          <a:effectLst/>
                        </a:rPr>
                        <a:t>E</a:t>
                      </a:r>
                      <a:endParaRPr lang="en-US" sz="1050" kern="100" noProof="1">
                        <a:effectLst/>
                        <a:latin typeface="Georgia" panose="02040502050405020303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ts val="1200"/>
                        </a:lnSpc>
                        <a:spcAft>
                          <a:spcPts val="600"/>
                        </a:spcAft>
                        <a:buNone/>
                        <a:tabLst>
                          <a:tab pos="1548765" algn="l"/>
                        </a:tabLst>
                      </a:pPr>
                      <a:r>
                        <a:rPr lang="en-US" sz="800" kern="100" noProof="1">
                          <a:effectLst/>
                        </a:rPr>
                        <a:t>Enable</a:t>
                      </a:r>
                      <a:endParaRPr lang="en-US" sz="1050" kern="100" noProof="1">
                        <a:effectLst/>
                        <a:latin typeface="Georgia" panose="02040502050405020303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716688663"/>
                  </a:ext>
                </a:extLst>
              </a:tr>
              <a:tr h="158627">
                <a:tc>
                  <a:txBody>
                    <a:bodyPr/>
                    <a:lstStyle/>
                    <a:p>
                      <a:pPr marL="0" marR="0">
                        <a:lnSpc>
                          <a:spcPts val="1200"/>
                        </a:lnSpc>
                        <a:spcAft>
                          <a:spcPts val="600"/>
                        </a:spcAft>
                        <a:buNone/>
                        <a:tabLst>
                          <a:tab pos="1548765" algn="l"/>
                        </a:tabLst>
                      </a:pPr>
                      <a:r>
                        <a:rPr lang="en-US" sz="800" kern="100" noProof="1">
                          <a:effectLst/>
                        </a:rPr>
                        <a:t>D5</a:t>
                      </a:r>
                      <a:endParaRPr lang="en-US" sz="1050" kern="100" noProof="1">
                        <a:effectLst/>
                        <a:latin typeface="Georgia" panose="02040502050405020303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ts val="1200"/>
                        </a:lnSpc>
                        <a:spcAft>
                          <a:spcPts val="600"/>
                        </a:spcAft>
                        <a:buNone/>
                        <a:tabLst>
                          <a:tab pos="1548765" algn="l"/>
                        </a:tabLst>
                      </a:pPr>
                      <a:r>
                        <a:rPr lang="en-US" sz="800" kern="100" noProof="1">
                          <a:effectLst/>
                        </a:rPr>
                        <a:t>DB4</a:t>
                      </a:r>
                      <a:endParaRPr lang="en-US" sz="1050" kern="100" noProof="1">
                        <a:effectLst/>
                        <a:latin typeface="Georgia" panose="02040502050405020303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ts val="1200"/>
                        </a:lnSpc>
                        <a:spcAft>
                          <a:spcPts val="600"/>
                        </a:spcAft>
                        <a:buNone/>
                        <a:tabLst>
                          <a:tab pos="1548765" algn="l"/>
                        </a:tabLst>
                      </a:pPr>
                      <a:r>
                        <a:rPr lang="en-US" sz="800" kern="100" noProof="1">
                          <a:effectLst/>
                        </a:rPr>
                        <a:t>Data bit 4</a:t>
                      </a:r>
                      <a:endParaRPr lang="en-US" sz="1050" kern="100" noProof="1">
                        <a:effectLst/>
                        <a:latin typeface="Georgia" panose="02040502050405020303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676277694"/>
                  </a:ext>
                </a:extLst>
              </a:tr>
              <a:tr h="158627">
                <a:tc>
                  <a:txBody>
                    <a:bodyPr/>
                    <a:lstStyle/>
                    <a:p>
                      <a:pPr marL="0" marR="0">
                        <a:lnSpc>
                          <a:spcPts val="1200"/>
                        </a:lnSpc>
                        <a:spcAft>
                          <a:spcPts val="600"/>
                        </a:spcAft>
                        <a:buNone/>
                        <a:tabLst>
                          <a:tab pos="1548765" algn="l"/>
                        </a:tabLst>
                      </a:pPr>
                      <a:r>
                        <a:rPr lang="en-US" sz="800" kern="100" noProof="1">
                          <a:effectLst/>
                        </a:rPr>
                        <a:t>D6</a:t>
                      </a:r>
                      <a:endParaRPr lang="en-US" sz="1050" kern="100" noProof="1">
                        <a:effectLst/>
                        <a:latin typeface="Georgia" panose="02040502050405020303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ts val="1200"/>
                        </a:lnSpc>
                        <a:spcAft>
                          <a:spcPts val="600"/>
                        </a:spcAft>
                        <a:buNone/>
                        <a:tabLst>
                          <a:tab pos="1548765" algn="l"/>
                        </a:tabLst>
                      </a:pPr>
                      <a:r>
                        <a:rPr lang="en-US" sz="800" kern="100" noProof="1">
                          <a:effectLst/>
                        </a:rPr>
                        <a:t>DB5</a:t>
                      </a:r>
                      <a:endParaRPr lang="en-US" sz="1050" kern="100" noProof="1">
                        <a:effectLst/>
                        <a:latin typeface="Georgia" panose="02040502050405020303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ts val="1200"/>
                        </a:lnSpc>
                        <a:spcAft>
                          <a:spcPts val="600"/>
                        </a:spcAft>
                        <a:buNone/>
                        <a:tabLst>
                          <a:tab pos="1548765" algn="l"/>
                        </a:tabLst>
                      </a:pPr>
                      <a:r>
                        <a:rPr lang="en-US" sz="800" kern="100" noProof="1">
                          <a:effectLst/>
                        </a:rPr>
                        <a:t>Data bit 5</a:t>
                      </a:r>
                      <a:endParaRPr lang="en-US" sz="1050" kern="100" noProof="1">
                        <a:effectLst/>
                        <a:latin typeface="Georgia" panose="02040502050405020303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449895391"/>
                  </a:ext>
                </a:extLst>
              </a:tr>
              <a:tr h="158627">
                <a:tc>
                  <a:txBody>
                    <a:bodyPr/>
                    <a:lstStyle/>
                    <a:p>
                      <a:pPr marL="0" marR="0">
                        <a:lnSpc>
                          <a:spcPts val="1200"/>
                        </a:lnSpc>
                        <a:spcAft>
                          <a:spcPts val="600"/>
                        </a:spcAft>
                        <a:buNone/>
                        <a:tabLst>
                          <a:tab pos="1548765" algn="l"/>
                        </a:tabLst>
                      </a:pPr>
                      <a:r>
                        <a:rPr lang="en-US" sz="800" kern="100" noProof="1">
                          <a:effectLst/>
                        </a:rPr>
                        <a:t>D7</a:t>
                      </a:r>
                      <a:endParaRPr lang="en-US" sz="1050" kern="100" noProof="1">
                        <a:effectLst/>
                        <a:latin typeface="Georgia" panose="02040502050405020303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ts val="1200"/>
                        </a:lnSpc>
                        <a:spcAft>
                          <a:spcPts val="600"/>
                        </a:spcAft>
                        <a:buNone/>
                        <a:tabLst>
                          <a:tab pos="1548765" algn="l"/>
                        </a:tabLst>
                      </a:pPr>
                      <a:r>
                        <a:rPr lang="en-US" sz="800" kern="100" noProof="1">
                          <a:effectLst/>
                        </a:rPr>
                        <a:t>DB6</a:t>
                      </a:r>
                      <a:endParaRPr lang="en-US" sz="1050" kern="100" noProof="1">
                        <a:effectLst/>
                        <a:latin typeface="Georgia" panose="02040502050405020303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ts val="1200"/>
                        </a:lnSpc>
                        <a:spcAft>
                          <a:spcPts val="600"/>
                        </a:spcAft>
                        <a:buNone/>
                        <a:tabLst>
                          <a:tab pos="1548765" algn="l"/>
                        </a:tabLst>
                      </a:pPr>
                      <a:r>
                        <a:rPr lang="en-US" sz="800" kern="100" noProof="1">
                          <a:effectLst/>
                        </a:rPr>
                        <a:t>Data bit 6</a:t>
                      </a:r>
                      <a:endParaRPr lang="en-US" sz="1050" kern="100" noProof="1">
                        <a:effectLst/>
                        <a:latin typeface="Georgia" panose="02040502050405020303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689794046"/>
                  </a:ext>
                </a:extLst>
              </a:tr>
              <a:tr h="158627">
                <a:tc>
                  <a:txBody>
                    <a:bodyPr/>
                    <a:lstStyle/>
                    <a:p>
                      <a:pPr marL="0" marR="0">
                        <a:lnSpc>
                          <a:spcPts val="1200"/>
                        </a:lnSpc>
                        <a:spcAft>
                          <a:spcPts val="600"/>
                        </a:spcAft>
                        <a:buNone/>
                        <a:tabLst>
                          <a:tab pos="1548765" algn="l"/>
                        </a:tabLst>
                      </a:pPr>
                      <a:r>
                        <a:rPr lang="en-US" sz="800" kern="100" noProof="1">
                          <a:effectLst/>
                        </a:rPr>
                        <a:t>D8</a:t>
                      </a:r>
                      <a:endParaRPr lang="en-US" sz="1050" kern="100" noProof="1">
                        <a:effectLst/>
                        <a:latin typeface="Georgia" panose="02040502050405020303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ts val="1200"/>
                        </a:lnSpc>
                        <a:spcAft>
                          <a:spcPts val="600"/>
                        </a:spcAft>
                        <a:buNone/>
                        <a:tabLst>
                          <a:tab pos="1548765" algn="l"/>
                        </a:tabLst>
                      </a:pPr>
                      <a:r>
                        <a:rPr lang="en-US" sz="800" kern="100" noProof="1">
                          <a:effectLst/>
                        </a:rPr>
                        <a:t>DB7</a:t>
                      </a:r>
                      <a:endParaRPr lang="en-US" sz="1050" kern="100" noProof="1">
                        <a:effectLst/>
                        <a:latin typeface="Georgia" panose="02040502050405020303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ts val="1200"/>
                        </a:lnSpc>
                        <a:spcAft>
                          <a:spcPts val="600"/>
                        </a:spcAft>
                        <a:buNone/>
                        <a:tabLst>
                          <a:tab pos="1548765" algn="l"/>
                        </a:tabLst>
                      </a:pPr>
                      <a:r>
                        <a:rPr lang="en-US" sz="800" kern="100" noProof="1">
                          <a:effectLst/>
                        </a:rPr>
                        <a:t>Data bit 7</a:t>
                      </a:r>
                      <a:endParaRPr lang="en-US" sz="1050" kern="100" noProof="1">
                        <a:effectLst/>
                        <a:latin typeface="Georgia" panose="02040502050405020303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673144399"/>
                  </a:ext>
                </a:extLst>
              </a:tr>
              <a:tr h="158627">
                <a:tc>
                  <a:txBody>
                    <a:bodyPr/>
                    <a:lstStyle/>
                    <a:p>
                      <a:pPr marL="0" marR="0">
                        <a:lnSpc>
                          <a:spcPts val="1200"/>
                        </a:lnSpc>
                        <a:spcAft>
                          <a:spcPts val="600"/>
                        </a:spcAft>
                        <a:buNone/>
                        <a:tabLst>
                          <a:tab pos="1548765" algn="l"/>
                        </a:tabLst>
                      </a:pPr>
                      <a:r>
                        <a:rPr lang="en-US" sz="800" kern="100" noProof="1">
                          <a:effectLst/>
                        </a:rPr>
                        <a:t>5V</a:t>
                      </a:r>
                      <a:endParaRPr lang="en-US" sz="1050" kern="100" noProof="1">
                        <a:effectLst/>
                        <a:latin typeface="Georgia" panose="02040502050405020303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ts val="1200"/>
                        </a:lnSpc>
                        <a:spcAft>
                          <a:spcPts val="600"/>
                        </a:spcAft>
                        <a:buNone/>
                        <a:tabLst>
                          <a:tab pos="1548765" algn="l"/>
                        </a:tabLst>
                      </a:pPr>
                      <a:r>
                        <a:rPr lang="en-US" sz="800" kern="100" noProof="1">
                          <a:effectLst/>
                        </a:rPr>
                        <a:t>LED+</a:t>
                      </a:r>
                      <a:endParaRPr lang="en-US" sz="1050" kern="100" noProof="1">
                        <a:effectLst/>
                        <a:latin typeface="Georgia" panose="02040502050405020303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ts val="1200"/>
                        </a:lnSpc>
                        <a:spcAft>
                          <a:spcPts val="600"/>
                        </a:spcAft>
                        <a:buNone/>
                        <a:tabLst>
                          <a:tab pos="1548765" algn="l"/>
                        </a:tabLst>
                      </a:pPr>
                      <a:r>
                        <a:rPr lang="en-US" sz="800" kern="100" noProof="1">
                          <a:effectLst/>
                        </a:rPr>
                        <a:t>Backlight power</a:t>
                      </a:r>
                      <a:endParaRPr lang="en-US" sz="1050" kern="100" noProof="1">
                        <a:effectLst/>
                        <a:latin typeface="Georgia" panose="02040502050405020303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0449184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09728280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8F9D57-B2EA-65F4-FB5E-78443918AC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5C2906F4-9CC5-185A-D060-7B05F7983CBD}"/>
              </a:ext>
            </a:extLst>
          </p:cNvPr>
          <p:cNvSpPr/>
          <p:nvPr/>
        </p:nvSpPr>
        <p:spPr>
          <a:xfrm>
            <a:off x="502920" y="320040"/>
            <a:ext cx="11155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3000" b="1" noProof="1">
                <a:solidFill>
                  <a:srgbClr val="0B1F3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Slave Hardware Circuit Diagram</a:t>
            </a:r>
            <a:endParaRPr lang="en-US" sz="3000" noProof="1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F9C53765-42AD-D8F5-FBA2-39B7993E8C9A}"/>
              </a:ext>
            </a:extLst>
          </p:cNvPr>
          <p:cNvSpPr/>
          <p:nvPr/>
        </p:nvSpPr>
        <p:spPr>
          <a:xfrm>
            <a:off x="530352" y="777240"/>
            <a:ext cx="10972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noProof="1">
                <a:solidFill>
                  <a:srgbClr val="5B6472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Physical wiring and electrical connections.</a:t>
            </a:r>
            <a:endParaRPr lang="en-US" sz="1250" noProof="1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FF29D3FA-45F0-DBA4-053F-6086726CD948}"/>
              </a:ext>
            </a:extLst>
          </p:cNvPr>
          <p:cNvSpPr/>
          <p:nvPr/>
        </p:nvSpPr>
        <p:spPr>
          <a:xfrm>
            <a:off x="502920" y="1078992"/>
            <a:ext cx="11155680" cy="0"/>
          </a:xfrm>
          <a:prstGeom prst="line">
            <a:avLst/>
          </a:prstGeom>
          <a:noFill/>
          <a:ln w="12700">
            <a:solidFill>
              <a:srgbClr val="B9C2CF"/>
            </a:solidFill>
            <a:prstDash val="solid"/>
          </a:ln>
        </p:spPr>
        <p:txBody>
          <a:bodyPr/>
          <a:lstStyle/>
          <a:p>
            <a:endParaRPr lang="en-US" noProof="1"/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2F227FB0-3D21-8AC5-F909-FC0C0419AA07}"/>
              </a:ext>
            </a:extLst>
          </p:cNvPr>
          <p:cNvSpPr/>
          <p:nvPr/>
        </p:nvSpPr>
        <p:spPr>
          <a:xfrm>
            <a:off x="640080" y="1325880"/>
            <a:ext cx="5941695" cy="4800600"/>
          </a:xfrm>
          <a:prstGeom prst="rect">
            <a:avLst/>
          </a:prstGeom>
          <a:solidFill>
            <a:srgbClr val="FFFFFF">
              <a:alpha val="0"/>
            </a:srgbClr>
          </a:solidFill>
          <a:ln w="19050">
            <a:solidFill>
              <a:srgbClr val="1F77B4"/>
            </a:solidFill>
            <a:prstDash val="solid"/>
          </a:ln>
        </p:spPr>
        <p:txBody>
          <a:bodyPr/>
          <a:lstStyle/>
          <a:p>
            <a:endParaRPr lang="en-US" noProof="1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F68E9486-4273-15E1-3620-EE6C0F021645}"/>
              </a:ext>
            </a:extLst>
          </p:cNvPr>
          <p:cNvSpPr/>
          <p:nvPr/>
        </p:nvSpPr>
        <p:spPr>
          <a:xfrm>
            <a:off x="822960" y="3890772"/>
            <a:ext cx="7086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noProof="1">
                <a:solidFill>
                  <a:srgbClr val="5B6472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Upload your final circuit image as PNG/JPG.</a:t>
            </a:r>
            <a:endParaRPr lang="en-US" sz="1050" noProof="1"/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F1428490-DD47-1711-D571-7B930993CA77}"/>
              </a:ext>
            </a:extLst>
          </p:cNvPr>
          <p:cNvSpPr/>
          <p:nvPr/>
        </p:nvSpPr>
        <p:spPr>
          <a:xfrm>
            <a:off x="502920" y="6547104"/>
            <a:ext cx="11155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/>
            <a:r>
              <a:rPr lang="en-US" sz="850" noProof="1">
                <a:solidFill>
                  <a:srgbClr val="7B849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Smart Parking System  |  11/20</a:t>
            </a:r>
            <a:endParaRPr lang="en-US" sz="850" noProof="1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88967D24-4C7D-C304-D4EA-01A6F9BD4BA6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52733" r="-216"/>
          <a:stretch>
            <a:fillRect/>
          </a:stretch>
        </p:blipFill>
        <p:spPr>
          <a:xfrm>
            <a:off x="1190625" y="1451992"/>
            <a:ext cx="5114925" cy="4530867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EBE8A2C3-3CE2-1CC7-B8EF-304412D334A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34550" y="44112"/>
            <a:ext cx="2356685" cy="920580"/>
          </a:xfrm>
          <a:prstGeom prst="rect">
            <a:avLst/>
          </a:prstGeom>
        </p:spPr>
      </p:pic>
      <p:sp>
        <p:nvSpPr>
          <p:cNvPr id="16" name="Text 6">
            <a:extLst>
              <a:ext uri="{FF2B5EF4-FFF2-40B4-BE49-F238E27FC236}">
                <a16:creationId xmlns:a16="http://schemas.microsoft.com/office/drawing/2014/main" id="{53F5760F-9E40-EC3E-FCCE-4943752DDE61}"/>
              </a:ext>
            </a:extLst>
          </p:cNvPr>
          <p:cNvSpPr/>
          <p:nvPr/>
        </p:nvSpPr>
        <p:spPr>
          <a:xfrm>
            <a:off x="6764019" y="1351957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800" b="1" noProof="1">
                <a:solidFill>
                  <a:srgbClr val="1F77B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Hardware Used</a:t>
            </a:r>
            <a:endParaRPr lang="en-US" sz="1800" noProof="1"/>
          </a:p>
        </p:txBody>
      </p:sp>
      <p:sp>
        <p:nvSpPr>
          <p:cNvPr id="18" name="Text 8">
            <a:extLst>
              <a:ext uri="{FF2B5EF4-FFF2-40B4-BE49-F238E27FC236}">
                <a16:creationId xmlns:a16="http://schemas.microsoft.com/office/drawing/2014/main" id="{436F8FD7-F259-EFC5-0D76-64C35C23BD31}"/>
              </a:ext>
            </a:extLst>
          </p:cNvPr>
          <p:cNvSpPr/>
          <p:nvPr/>
        </p:nvSpPr>
        <p:spPr>
          <a:xfrm>
            <a:off x="6764019" y="1472184"/>
            <a:ext cx="2651760" cy="10058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177800" indent="-177800">
              <a:buSzPct val="100000"/>
              <a:buChar char="•"/>
            </a:pPr>
            <a:r>
              <a:rPr lang="en-US" sz="1550" noProof="1">
                <a:solidFill>
                  <a:srgbClr val="1A1A1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HC-SR04</a:t>
            </a:r>
          </a:p>
        </p:txBody>
      </p:sp>
      <p:sp>
        <p:nvSpPr>
          <p:cNvPr id="21" name="Text 8">
            <a:extLst>
              <a:ext uri="{FF2B5EF4-FFF2-40B4-BE49-F238E27FC236}">
                <a16:creationId xmlns:a16="http://schemas.microsoft.com/office/drawing/2014/main" id="{6934B544-E15F-6E44-4E4D-9A26A7AD497C}"/>
              </a:ext>
            </a:extLst>
          </p:cNvPr>
          <p:cNvSpPr/>
          <p:nvPr/>
        </p:nvSpPr>
        <p:spPr>
          <a:xfrm>
            <a:off x="6764019" y="4189209"/>
            <a:ext cx="2651760" cy="10058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177800" indent="-177800">
              <a:buSzPct val="100000"/>
              <a:buChar char="•"/>
            </a:pPr>
            <a:r>
              <a:rPr lang="en-US" sz="1550" noProof="1">
                <a:solidFill>
                  <a:srgbClr val="1A1A1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ESP32-CAM</a:t>
            </a: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3B628E9E-F5D0-91EA-7D3F-7DC0B0A059C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55578256"/>
              </p:ext>
            </p:extLst>
          </p:nvPr>
        </p:nvGraphicFramePr>
        <p:xfrm>
          <a:off x="6764019" y="2182993"/>
          <a:ext cx="5020542" cy="927180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673514">
                  <a:extLst>
                    <a:ext uri="{9D8B030D-6E8A-4147-A177-3AD203B41FA5}">
                      <a16:colId xmlns:a16="http://schemas.microsoft.com/office/drawing/2014/main" val="3451888432"/>
                    </a:ext>
                  </a:extLst>
                </a:gridCol>
                <a:gridCol w="1673514">
                  <a:extLst>
                    <a:ext uri="{9D8B030D-6E8A-4147-A177-3AD203B41FA5}">
                      <a16:colId xmlns:a16="http://schemas.microsoft.com/office/drawing/2014/main" val="409108252"/>
                    </a:ext>
                  </a:extLst>
                </a:gridCol>
                <a:gridCol w="1673514">
                  <a:extLst>
                    <a:ext uri="{9D8B030D-6E8A-4147-A177-3AD203B41FA5}">
                      <a16:colId xmlns:a16="http://schemas.microsoft.com/office/drawing/2014/main" val="2184754935"/>
                    </a:ext>
                  </a:extLst>
                </a:gridCol>
              </a:tblGrid>
              <a:tr h="185436">
                <a:tc>
                  <a:txBody>
                    <a:bodyPr/>
                    <a:lstStyle/>
                    <a:p>
                      <a:pPr marL="0" marR="0">
                        <a:lnSpc>
                          <a:spcPts val="1200"/>
                        </a:lnSpc>
                        <a:spcAft>
                          <a:spcPts val="600"/>
                        </a:spcAft>
                        <a:buNone/>
                        <a:tabLst>
                          <a:tab pos="1548765" algn="l"/>
                        </a:tabLst>
                      </a:pPr>
                      <a:r>
                        <a:rPr lang="en-US" sz="800" kern="100" noProof="1">
                          <a:effectLst/>
                        </a:rPr>
                        <a:t>Arduino Slave 0x08 / 0x09</a:t>
                      </a:r>
                      <a:endParaRPr lang="en-US" sz="1050" kern="100" noProof="1">
                        <a:effectLst/>
                        <a:latin typeface="Georgia" panose="02040502050405020303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ts val="1200"/>
                        </a:lnSpc>
                        <a:spcAft>
                          <a:spcPts val="600"/>
                        </a:spcAft>
                        <a:buNone/>
                        <a:tabLst>
                          <a:tab pos="1548765" algn="l"/>
                        </a:tabLst>
                      </a:pPr>
                      <a:r>
                        <a:rPr lang="en-US" sz="800" kern="100" noProof="1">
                          <a:effectLst/>
                        </a:rPr>
                        <a:t>HC-SR04 Pin</a:t>
                      </a:r>
                      <a:endParaRPr lang="en-US" sz="1050" kern="100" noProof="1">
                        <a:effectLst/>
                        <a:latin typeface="Georgia" panose="02040502050405020303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ts val="1200"/>
                        </a:lnSpc>
                        <a:spcAft>
                          <a:spcPts val="600"/>
                        </a:spcAft>
                        <a:buNone/>
                        <a:tabLst>
                          <a:tab pos="1548765" algn="l"/>
                        </a:tabLst>
                      </a:pPr>
                      <a:r>
                        <a:rPr lang="en-US" sz="800" kern="100" noProof="1">
                          <a:effectLst/>
                        </a:rPr>
                        <a:t>Function</a:t>
                      </a:r>
                      <a:endParaRPr lang="en-US" sz="1050" kern="100" noProof="1">
                        <a:effectLst/>
                        <a:latin typeface="Georgia" panose="02040502050405020303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837275893"/>
                  </a:ext>
                </a:extLst>
              </a:tr>
              <a:tr h="185436">
                <a:tc>
                  <a:txBody>
                    <a:bodyPr/>
                    <a:lstStyle/>
                    <a:p>
                      <a:pPr marL="0" marR="0">
                        <a:lnSpc>
                          <a:spcPts val="1200"/>
                        </a:lnSpc>
                        <a:spcAft>
                          <a:spcPts val="600"/>
                        </a:spcAft>
                        <a:buNone/>
                        <a:tabLst>
                          <a:tab pos="1548765" algn="l"/>
                        </a:tabLst>
                      </a:pPr>
                      <a:r>
                        <a:rPr lang="en-US" sz="800" kern="100" noProof="1">
                          <a:effectLst/>
                        </a:rPr>
                        <a:t>5V</a:t>
                      </a:r>
                      <a:endParaRPr lang="en-US" sz="1050" kern="100" noProof="1">
                        <a:effectLst/>
                        <a:latin typeface="Georgia" panose="02040502050405020303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ts val="1200"/>
                        </a:lnSpc>
                        <a:spcAft>
                          <a:spcPts val="600"/>
                        </a:spcAft>
                        <a:buNone/>
                        <a:tabLst>
                          <a:tab pos="1548765" algn="l"/>
                        </a:tabLst>
                      </a:pPr>
                      <a:r>
                        <a:rPr lang="en-US" sz="800" kern="100" noProof="1">
                          <a:effectLst/>
                        </a:rPr>
                        <a:t>VCC</a:t>
                      </a:r>
                      <a:endParaRPr lang="en-US" sz="1050" kern="100" noProof="1">
                        <a:effectLst/>
                        <a:latin typeface="Georgia" panose="02040502050405020303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ts val="1200"/>
                        </a:lnSpc>
                        <a:spcAft>
                          <a:spcPts val="600"/>
                        </a:spcAft>
                        <a:buNone/>
                        <a:tabLst>
                          <a:tab pos="1548765" algn="l"/>
                        </a:tabLst>
                      </a:pPr>
                      <a:r>
                        <a:rPr lang="en-US" sz="800" kern="100" noProof="1">
                          <a:effectLst/>
                        </a:rPr>
                        <a:t>Sensor power</a:t>
                      </a:r>
                      <a:endParaRPr lang="en-US" sz="1050" kern="100" noProof="1">
                        <a:effectLst/>
                        <a:latin typeface="Georgia" panose="02040502050405020303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824720789"/>
                  </a:ext>
                </a:extLst>
              </a:tr>
              <a:tr h="185436">
                <a:tc>
                  <a:txBody>
                    <a:bodyPr/>
                    <a:lstStyle/>
                    <a:p>
                      <a:pPr marL="0" marR="0">
                        <a:lnSpc>
                          <a:spcPts val="1200"/>
                        </a:lnSpc>
                        <a:spcAft>
                          <a:spcPts val="600"/>
                        </a:spcAft>
                        <a:buNone/>
                        <a:tabLst>
                          <a:tab pos="1548765" algn="l"/>
                        </a:tabLst>
                      </a:pPr>
                      <a:r>
                        <a:rPr lang="en-US" sz="800" kern="100" noProof="1">
                          <a:effectLst/>
                        </a:rPr>
                        <a:t>GND</a:t>
                      </a:r>
                      <a:endParaRPr lang="en-US" sz="1050" kern="100" noProof="1">
                        <a:effectLst/>
                        <a:latin typeface="Georgia" panose="02040502050405020303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ts val="1200"/>
                        </a:lnSpc>
                        <a:spcAft>
                          <a:spcPts val="600"/>
                        </a:spcAft>
                        <a:buNone/>
                        <a:tabLst>
                          <a:tab pos="1548765" algn="l"/>
                        </a:tabLst>
                      </a:pPr>
                      <a:r>
                        <a:rPr lang="en-US" sz="800" kern="100" noProof="1">
                          <a:effectLst/>
                        </a:rPr>
                        <a:t>GND</a:t>
                      </a:r>
                      <a:endParaRPr lang="en-US" sz="1050" kern="100" noProof="1">
                        <a:effectLst/>
                        <a:latin typeface="Georgia" panose="02040502050405020303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ts val="1200"/>
                        </a:lnSpc>
                        <a:spcAft>
                          <a:spcPts val="600"/>
                        </a:spcAft>
                        <a:buNone/>
                        <a:tabLst>
                          <a:tab pos="1548765" algn="l"/>
                        </a:tabLst>
                      </a:pPr>
                      <a:r>
                        <a:rPr lang="en-US" sz="800" kern="100" noProof="1">
                          <a:effectLst/>
                        </a:rPr>
                        <a:t>Ground</a:t>
                      </a:r>
                      <a:endParaRPr lang="en-US" sz="1050" kern="100" noProof="1">
                        <a:effectLst/>
                        <a:latin typeface="Georgia" panose="02040502050405020303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117259625"/>
                  </a:ext>
                </a:extLst>
              </a:tr>
              <a:tr h="185436">
                <a:tc>
                  <a:txBody>
                    <a:bodyPr/>
                    <a:lstStyle/>
                    <a:p>
                      <a:pPr marL="0" marR="0">
                        <a:lnSpc>
                          <a:spcPts val="1200"/>
                        </a:lnSpc>
                        <a:spcAft>
                          <a:spcPts val="600"/>
                        </a:spcAft>
                        <a:buNone/>
                        <a:tabLst>
                          <a:tab pos="1548765" algn="l"/>
                        </a:tabLst>
                      </a:pPr>
                      <a:r>
                        <a:rPr lang="en-US" sz="800" kern="100" noProof="1">
                          <a:effectLst/>
                        </a:rPr>
                        <a:t>D6</a:t>
                      </a:r>
                      <a:endParaRPr lang="en-US" sz="1050" kern="100" noProof="1">
                        <a:effectLst/>
                        <a:latin typeface="Georgia" panose="02040502050405020303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ts val="1200"/>
                        </a:lnSpc>
                        <a:spcAft>
                          <a:spcPts val="600"/>
                        </a:spcAft>
                        <a:buNone/>
                        <a:tabLst>
                          <a:tab pos="1548765" algn="l"/>
                        </a:tabLst>
                      </a:pPr>
                      <a:r>
                        <a:rPr lang="en-US" sz="800" kern="100" noProof="1">
                          <a:effectLst/>
                        </a:rPr>
                        <a:t>TRIG</a:t>
                      </a:r>
                      <a:endParaRPr lang="en-US" sz="1050" kern="100" noProof="1">
                        <a:effectLst/>
                        <a:latin typeface="Georgia" panose="02040502050405020303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ts val="1200"/>
                        </a:lnSpc>
                        <a:spcAft>
                          <a:spcPts val="600"/>
                        </a:spcAft>
                        <a:buNone/>
                        <a:tabLst>
                          <a:tab pos="1548765" algn="l"/>
                        </a:tabLst>
                      </a:pPr>
                      <a:r>
                        <a:rPr lang="en-US" sz="800" kern="100" noProof="1">
                          <a:effectLst/>
                        </a:rPr>
                        <a:t>Trigger signal</a:t>
                      </a:r>
                      <a:endParaRPr lang="en-US" sz="1050" kern="100" noProof="1">
                        <a:effectLst/>
                        <a:latin typeface="Georgia" panose="02040502050405020303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972749373"/>
                  </a:ext>
                </a:extLst>
              </a:tr>
              <a:tr h="185436">
                <a:tc>
                  <a:txBody>
                    <a:bodyPr/>
                    <a:lstStyle/>
                    <a:p>
                      <a:pPr marL="0" marR="0">
                        <a:lnSpc>
                          <a:spcPts val="1200"/>
                        </a:lnSpc>
                        <a:spcAft>
                          <a:spcPts val="600"/>
                        </a:spcAft>
                        <a:buNone/>
                        <a:tabLst>
                          <a:tab pos="1548765" algn="l"/>
                        </a:tabLst>
                      </a:pPr>
                      <a:r>
                        <a:rPr lang="en-US" sz="800" kern="100" noProof="1">
                          <a:effectLst/>
                        </a:rPr>
                        <a:t>D5</a:t>
                      </a:r>
                      <a:endParaRPr lang="en-US" sz="1050" kern="100" noProof="1">
                        <a:effectLst/>
                        <a:latin typeface="Georgia" panose="02040502050405020303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ts val="1200"/>
                        </a:lnSpc>
                        <a:spcAft>
                          <a:spcPts val="600"/>
                        </a:spcAft>
                        <a:buNone/>
                        <a:tabLst>
                          <a:tab pos="1548765" algn="l"/>
                        </a:tabLst>
                      </a:pPr>
                      <a:r>
                        <a:rPr lang="en-US" sz="800" kern="100" noProof="1">
                          <a:effectLst/>
                        </a:rPr>
                        <a:t>ECHO</a:t>
                      </a:r>
                      <a:endParaRPr lang="en-US" sz="1050" kern="100" noProof="1">
                        <a:effectLst/>
                        <a:latin typeface="Georgia" panose="02040502050405020303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ts val="1200"/>
                        </a:lnSpc>
                        <a:spcAft>
                          <a:spcPts val="600"/>
                        </a:spcAft>
                        <a:buNone/>
                        <a:tabLst>
                          <a:tab pos="1548765" algn="l"/>
                        </a:tabLst>
                      </a:pPr>
                      <a:r>
                        <a:rPr lang="en-US" sz="800" kern="100" noProof="1">
                          <a:effectLst/>
                        </a:rPr>
                        <a:t>Echo signal</a:t>
                      </a:r>
                      <a:endParaRPr lang="en-US" sz="1050" kern="100" noProof="1">
                        <a:effectLst/>
                        <a:latin typeface="Georgia" panose="02040502050405020303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928022966"/>
                  </a:ext>
                </a:extLst>
              </a:tr>
            </a:tbl>
          </a:graphicData>
        </a:graphic>
      </p:graphicFrame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BF108852-EDC9-6801-9E13-8A7104427A7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57834760"/>
              </p:ext>
            </p:extLst>
          </p:nvPr>
        </p:nvGraphicFramePr>
        <p:xfrm>
          <a:off x="6764018" y="4976074"/>
          <a:ext cx="5020542" cy="1163772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673514">
                  <a:extLst>
                    <a:ext uri="{9D8B030D-6E8A-4147-A177-3AD203B41FA5}">
                      <a16:colId xmlns:a16="http://schemas.microsoft.com/office/drawing/2014/main" val="3376723535"/>
                    </a:ext>
                  </a:extLst>
                </a:gridCol>
                <a:gridCol w="1673514">
                  <a:extLst>
                    <a:ext uri="{9D8B030D-6E8A-4147-A177-3AD203B41FA5}">
                      <a16:colId xmlns:a16="http://schemas.microsoft.com/office/drawing/2014/main" val="2078547929"/>
                    </a:ext>
                  </a:extLst>
                </a:gridCol>
                <a:gridCol w="1673514">
                  <a:extLst>
                    <a:ext uri="{9D8B030D-6E8A-4147-A177-3AD203B41FA5}">
                      <a16:colId xmlns:a16="http://schemas.microsoft.com/office/drawing/2014/main" val="3308316495"/>
                    </a:ext>
                  </a:extLst>
                </a:gridCol>
              </a:tblGrid>
              <a:tr h="193962">
                <a:tc>
                  <a:txBody>
                    <a:bodyPr/>
                    <a:lstStyle/>
                    <a:p>
                      <a:pPr marL="0" marR="0">
                        <a:lnSpc>
                          <a:spcPts val="1200"/>
                        </a:lnSpc>
                        <a:spcAft>
                          <a:spcPts val="600"/>
                        </a:spcAft>
                        <a:buNone/>
                      </a:pPr>
                      <a:r>
                        <a:rPr lang="en-US" sz="800" kern="100" noProof="1">
                          <a:effectLst/>
                        </a:rPr>
                        <a:t>Arduino Slave 0x08 / 0x09</a:t>
                      </a:r>
                      <a:endParaRPr lang="en-US" sz="1050" kern="100" noProof="1">
                        <a:effectLst/>
                        <a:latin typeface="Georgia" panose="02040502050405020303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ts val="1200"/>
                        </a:lnSpc>
                        <a:spcAft>
                          <a:spcPts val="600"/>
                        </a:spcAft>
                        <a:buNone/>
                      </a:pPr>
                      <a:r>
                        <a:rPr lang="en-US" sz="800" kern="100" noProof="1">
                          <a:effectLst/>
                        </a:rPr>
                        <a:t>ESP32-CAM Pin</a:t>
                      </a:r>
                      <a:endParaRPr lang="en-US" sz="1050" kern="100" noProof="1">
                        <a:effectLst/>
                        <a:latin typeface="Georgia" panose="02040502050405020303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ts val="1200"/>
                        </a:lnSpc>
                        <a:spcAft>
                          <a:spcPts val="600"/>
                        </a:spcAft>
                        <a:buNone/>
                      </a:pPr>
                      <a:r>
                        <a:rPr lang="en-US" sz="800" kern="100" noProof="1">
                          <a:effectLst/>
                        </a:rPr>
                        <a:t>Function</a:t>
                      </a:r>
                      <a:endParaRPr lang="en-US" sz="1050" kern="100" noProof="1">
                        <a:effectLst/>
                        <a:latin typeface="Georgia" panose="02040502050405020303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125788026"/>
                  </a:ext>
                </a:extLst>
              </a:tr>
              <a:tr h="193962">
                <a:tc>
                  <a:txBody>
                    <a:bodyPr/>
                    <a:lstStyle/>
                    <a:p>
                      <a:pPr marL="0" marR="0">
                        <a:lnSpc>
                          <a:spcPts val="1200"/>
                        </a:lnSpc>
                        <a:spcAft>
                          <a:spcPts val="600"/>
                        </a:spcAft>
                        <a:buNone/>
                      </a:pPr>
                      <a:r>
                        <a:rPr lang="en-US" sz="800" kern="100" noProof="1">
                          <a:effectLst/>
                        </a:rPr>
                        <a:t>5V</a:t>
                      </a:r>
                      <a:endParaRPr lang="en-US" sz="1050" kern="100" noProof="1">
                        <a:effectLst/>
                        <a:latin typeface="Georgia" panose="02040502050405020303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ts val="1200"/>
                        </a:lnSpc>
                        <a:spcAft>
                          <a:spcPts val="600"/>
                        </a:spcAft>
                        <a:buNone/>
                      </a:pPr>
                      <a:r>
                        <a:rPr lang="en-US" sz="800" kern="100" noProof="1">
                          <a:effectLst/>
                        </a:rPr>
                        <a:t>5V</a:t>
                      </a:r>
                      <a:endParaRPr lang="en-US" sz="1050" kern="100" noProof="1">
                        <a:effectLst/>
                        <a:latin typeface="Georgia" panose="02040502050405020303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ts val="1200"/>
                        </a:lnSpc>
                        <a:spcAft>
                          <a:spcPts val="600"/>
                        </a:spcAft>
                        <a:buNone/>
                      </a:pPr>
                      <a:r>
                        <a:rPr lang="en-US" sz="800" kern="100" noProof="1">
                          <a:effectLst/>
                        </a:rPr>
                        <a:t>Camera power</a:t>
                      </a:r>
                      <a:endParaRPr lang="en-US" sz="1050" kern="100" noProof="1">
                        <a:effectLst/>
                        <a:latin typeface="Georgia" panose="02040502050405020303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577452641"/>
                  </a:ext>
                </a:extLst>
              </a:tr>
              <a:tr h="193962">
                <a:tc>
                  <a:txBody>
                    <a:bodyPr/>
                    <a:lstStyle/>
                    <a:p>
                      <a:pPr marL="0" marR="0">
                        <a:lnSpc>
                          <a:spcPts val="1200"/>
                        </a:lnSpc>
                        <a:spcAft>
                          <a:spcPts val="600"/>
                        </a:spcAft>
                        <a:buNone/>
                      </a:pPr>
                      <a:r>
                        <a:rPr lang="en-US" sz="800" kern="100" noProof="1">
                          <a:effectLst/>
                        </a:rPr>
                        <a:t>GND</a:t>
                      </a:r>
                      <a:endParaRPr lang="en-US" sz="1050" kern="100" noProof="1">
                        <a:effectLst/>
                        <a:latin typeface="Georgia" panose="02040502050405020303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ts val="1200"/>
                        </a:lnSpc>
                        <a:spcAft>
                          <a:spcPts val="600"/>
                        </a:spcAft>
                        <a:buNone/>
                      </a:pPr>
                      <a:r>
                        <a:rPr lang="en-US" sz="800" kern="100" noProof="1">
                          <a:effectLst/>
                        </a:rPr>
                        <a:t>GND</a:t>
                      </a:r>
                      <a:endParaRPr lang="en-US" sz="1050" kern="100" noProof="1">
                        <a:effectLst/>
                        <a:latin typeface="Georgia" panose="02040502050405020303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ts val="1200"/>
                        </a:lnSpc>
                        <a:spcAft>
                          <a:spcPts val="600"/>
                        </a:spcAft>
                        <a:buNone/>
                      </a:pPr>
                      <a:r>
                        <a:rPr lang="en-US" sz="800" kern="100" noProof="1">
                          <a:effectLst/>
                        </a:rPr>
                        <a:t>Ground</a:t>
                      </a:r>
                      <a:endParaRPr lang="en-US" sz="1050" kern="100" noProof="1">
                        <a:effectLst/>
                        <a:latin typeface="Georgia" panose="02040502050405020303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204617732"/>
                  </a:ext>
                </a:extLst>
              </a:tr>
              <a:tr h="193962">
                <a:tc>
                  <a:txBody>
                    <a:bodyPr/>
                    <a:lstStyle/>
                    <a:p>
                      <a:pPr marL="0" marR="0">
                        <a:lnSpc>
                          <a:spcPts val="1200"/>
                        </a:lnSpc>
                        <a:spcAft>
                          <a:spcPts val="600"/>
                        </a:spcAft>
                        <a:buNone/>
                      </a:pPr>
                      <a:r>
                        <a:rPr lang="en-US" sz="800" kern="100" noProof="1">
                          <a:effectLst/>
                        </a:rPr>
                        <a:t>D3</a:t>
                      </a:r>
                      <a:endParaRPr lang="en-US" sz="1050" kern="100" noProof="1">
                        <a:effectLst/>
                        <a:latin typeface="Georgia" panose="02040502050405020303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ts val="1200"/>
                        </a:lnSpc>
                        <a:spcAft>
                          <a:spcPts val="600"/>
                        </a:spcAft>
                        <a:buNone/>
                      </a:pPr>
                      <a:r>
                        <a:rPr lang="en-US" sz="800" kern="100" noProof="1">
                          <a:effectLst/>
                        </a:rPr>
                        <a:t>GPIO1 / TX</a:t>
                      </a:r>
                      <a:endParaRPr lang="en-US" sz="1050" kern="100" noProof="1">
                        <a:effectLst/>
                        <a:latin typeface="Georgia" panose="02040502050405020303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ts val="1200"/>
                        </a:lnSpc>
                        <a:spcAft>
                          <a:spcPts val="600"/>
                        </a:spcAft>
                        <a:buNone/>
                      </a:pPr>
                      <a:r>
                        <a:rPr lang="en-US" sz="800" kern="100" noProof="1">
                          <a:effectLst/>
                        </a:rPr>
                        <a:t>UART receive line</a:t>
                      </a:r>
                      <a:endParaRPr lang="en-US" sz="1050" kern="100" noProof="1">
                        <a:effectLst/>
                        <a:latin typeface="Georgia" panose="02040502050405020303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272636748"/>
                  </a:ext>
                </a:extLst>
              </a:tr>
              <a:tr h="193962">
                <a:tc>
                  <a:txBody>
                    <a:bodyPr/>
                    <a:lstStyle/>
                    <a:p>
                      <a:pPr marL="0" marR="0">
                        <a:lnSpc>
                          <a:spcPts val="1200"/>
                        </a:lnSpc>
                        <a:spcAft>
                          <a:spcPts val="600"/>
                        </a:spcAft>
                        <a:buNone/>
                      </a:pPr>
                      <a:r>
                        <a:rPr lang="en-US" sz="800" kern="100" noProof="1">
                          <a:effectLst/>
                        </a:rPr>
                        <a:t>D4</a:t>
                      </a:r>
                      <a:endParaRPr lang="en-US" sz="1050" kern="100" noProof="1">
                        <a:effectLst/>
                        <a:latin typeface="Georgia" panose="02040502050405020303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ts val="1200"/>
                        </a:lnSpc>
                        <a:spcAft>
                          <a:spcPts val="600"/>
                        </a:spcAft>
                        <a:buNone/>
                      </a:pPr>
                      <a:r>
                        <a:rPr lang="en-US" sz="800" kern="100" noProof="1">
                          <a:effectLst/>
                        </a:rPr>
                        <a:t>GPIO3 / RX</a:t>
                      </a:r>
                      <a:endParaRPr lang="en-US" sz="1050" kern="100" noProof="1">
                        <a:effectLst/>
                        <a:latin typeface="Georgia" panose="02040502050405020303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ts val="1200"/>
                        </a:lnSpc>
                        <a:spcAft>
                          <a:spcPts val="600"/>
                        </a:spcAft>
                        <a:buNone/>
                      </a:pPr>
                      <a:r>
                        <a:rPr lang="en-US" sz="800" kern="100" noProof="1">
                          <a:effectLst/>
                        </a:rPr>
                        <a:t>UART transmit line</a:t>
                      </a:r>
                      <a:endParaRPr lang="en-US" sz="1050" kern="100" noProof="1">
                        <a:effectLst/>
                        <a:latin typeface="Georgia" panose="02040502050405020303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703195691"/>
                  </a:ext>
                </a:extLst>
              </a:tr>
              <a:tr h="193962">
                <a:tc>
                  <a:txBody>
                    <a:bodyPr/>
                    <a:lstStyle/>
                    <a:p>
                      <a:pPr marL="0" marR="0">
                        <a:lnSpc>
                          <a:spcPts val="1200"/>
                        </a:lnSpc>
                        <a:spcAft>
                          <a:spcPts val="600"/>
                        </a:spcAft>
                        <a:buNone/>
                      </a:pPr>
                      <a:r>
                        <a:rPr lang="en-US" sz="800" kern="100" noProof="1">
                          <a:effectLst/>
                        </a:rPr>
                        <a:t>5V Arduino signal</a:t>
                      </a:r>
                      <a:endParaRPr lang="en-US" sz="1050" kern="100" noProof="1">
                        <a:effectLst/>
                        <a:latin typeface="Georgia" panose="02040502050405020303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ts val="1200"/>
                        </a:lnSpc>
                        <a:spcAft>
                          <a:spcPts val="600"/>
                        </a:spcAft>
                        <a:buNone/>
                      </a:pPr>
                      <a:r>
                        <a:rPr lang="en-US" sz="800" kern="100" noProof="1">
                          <a:effectLst/>
                        </a:rPr>
                        <a:t>3.3V ESP32 signal</a:t>
                      </a:r>
                      <a:endParaRPr lang="en-US" sz="1050" kern="100" noProof="1">
                        <a:effectLst/>
                        <a:latin typeface="Georgia" panose="02040502050405020303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ts val="1200"/>
                        </a:lnSpc>
                        <a:spcAft>
                          <a:spcPts val="600"/>
                        </a:spcAft>
                        <a:buNone/>
                      </a:pPr>
                      <a:r>
                        <a:rPr lang="en-US" sz="800" kern="100" noProof="1">
                          <a:effectLst/>
                        </a:rPr>
                        <a:t>Logic conversion</a:t>
                      </a:r>
                      <a:endParaRPr lang="en-US" sz="1050" kern="100" noProof="1">
                        <a:effectLst/>
                        <a:latin typeface="Georgia" panose="02040502050405020303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37380566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33082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11155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3000" b="1" noProof="1">
                <a:solidFill>
                  <a:srgbClr val="0B1F3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High-level System Flowchart</a:t>
            </a:r>
            <a:endParaRPr lang="en-US" sz="3000" noProof="1"/>
          </a:p>
        </p:txBody>
      </p:sp>
      <p:sp>
        <p:nvSpPr>
          <p:cNvPr id="3" name="Text 1"/>
          <p:cNvSpPr/>
          <p:nvPr/>
        </p:nvSpPr>
        <p:spPr>
          <a:xfrm>
            <a:off x="530352" y="777240"/>
            <a:ext cx="10972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noProof="1">
                <a:solidFill>
                  <a:srgbClr val="5B6472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Step-by-step operation from detection to gate control.</a:t>
            </a:r>
            <a:endParaRPr lang="en-US" sz="1250" noProof="1"/>
          </a:p>
        </p:txBody>
      </p:sp>
      <p:sp>
        <p:nvSpPr>
          <p:cNvPr id="4" name="Shape 2"/>
          <p:cNvSpPr/>
          <p:nvPr/>
        </p:nvSpPr>
        <p:spPr>
          <a:xfrm>
            <a:off x="502920" y="1078992"/>
            <a:ext cx="11155680" cy="0"/>
          </a:xfrm>
          <a:prstGeom prst="line">
            <a:avLst/>
          </a:prstGeom>
          <a:noFill/>
          <a:ln w="12700">
            <a:solidFill>
              <a:srgbClr val="B9C2CF"/>
            </a:solidFill>
            <a:prstDash val="solid"/>
          </a:ln>
        </p:spPr>
        <p:txBody>
          <a:bodyPr/>
          <a:lstStyle/>
          <a:p>
            <a:endParaRPr lang="en-US" noProof="1"/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28C8F556-8934-A902-10FE-5DC43ED56CBE}"/>
              </a:ext>
            </a:extLst>
          </p:cNvPr>
          <p:cNvGrpSpPr/>
          <p:nvPr/>
        </p:nvGrpSpPr>
        <p:grpSpPr>
          <a:xfrm>
            <a:off x="673895" y="1267048"/>
            <a:ext cx="2743200" cy="3345497"/>
            <a:chOff x="8869680" y="1536192"/>
            <a:chExt cx="2743200" cy="3345497"/>
          </a:xfrm>
        </p:grpSpPr>
        <p:sp>
          <p:nvSpPr>
            <p:cNvPr id="8" name="Text 6"/>
            <p:cNvSpPr/>
            <p:nvPr/>
          </p:nvSpPr>
          <p:spPr>
            <a:xfrm>
              <a:off x="8869680" y="1536192"/>
              <a:ext cx="2743200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rmAutofit/>
            </a:bodyPr>
            <a:lstStyle/>
            <a:p>
              <a:pPr marL="0" indent="0">
                <a:buNone/>
              </a:pPr>
              <a:r>
                <a:rPr lang="en-US" sz="1800" b="1" noProof="1">
                  <a:solidFill>
                    <a:srgbClr val="1F77B4"/>
                  </a:solidFill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Decision logic</a:t>
              </a:r>
              <a:endParaRPr lang="en-US" sz="1800" noProof="1"/>
            </a:p>
          </p:txBody>
        </p:sp>
        <p:sp>
          <p:nvSpPr>
            <p:cNvPr id="9" name="Text 7"/>
            <p:cNvSpPr/>
            <p:nvPr/>
          </p:nvSpPr>
          <p:spPr>
            <a:xfrm>
              <a:off x="8887968" y="2139696"/>
              <a:ext cx="2377440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700" b="1" noProof="1">
                  <a:solidFill>
                    <a:srgbClr val="2E7D32"/>
                  </a:solidFill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OPEN</a:t>
              </a:r>
              <a:endParaRPr lang="en-US" sz="1700" noProof="1"/>
            </a:p>
          </p:txBody>
        </p:sp>
        <p:sp>
          <p:nvSpPr>
            <p:cNvPr id="10" name="Text 8"/>
            <p:cNvSpPr/>
            <p:nvPr/>
          </p:nvSpPr>
          <p:spPr>
            <a:xfrm>
              <a:off x="8869680" y="2439751"/>
              <a:ext cx="2651760" cy="1005840"/>
            </a:xfrm>
            <a:prstGeom prst="rect">
              <a:avLst/>
            </a:prstGeom>
            <a:noFill/>
            <a:ln/>
          </p:spPr>
          <p:txBody>
            <a:bodyPr wrap="square" lIns="381" tIns="381" rIns="381" bIns="381" rtlCol="0" anchor="ctr">
              <a:normAutofit/>
            </a:bodyPr>
            <a:lstStyle/>
            <a:p>
              <a:pPr marL="177800" indent="-177800">
                <a:buSzPct val="100000"/>
                <a:buChar char="•"/>
              </a:pPr>
              <a:r>
                <a:rPr lang="en-US" sz="1550" noProof="1">
                  <a:solidFill>
                    <a:srgbClr val="1A1A1A"/>
                  </a:solidFill>
                  <a:latin typeface="Roboto" pitchFamily="34" charset="0"/>
                  <a:ea typeface="Roboto" pitchFamily="34" charset="-122"/>
                  <a:cs typeface="Roboto" pitchFamily="34" charset="-120"/>
                </a:rPr>
                <a:t>Open barrier</a:t>
              </a:r>
              <a:endParaRPr lang="en-US" sz="1550" noProof="1"/>
            </a:p>
            <a:p>
              <a:pPr marL="177800" indent="-177800">
                <a:buSzPct val="100000"/>
                <a:buChar char="•"/>
              </a:pPr>
              <a:r>
                <a:rPr lang="en-US" sz="1550" noProof="1">
                  <a:solidFill>
                    <a:srgbClr val="1A1A1A"/>
                  </a:solidFill>
                  <a:latin typeface="Roboto" pitchFamily="34" charset="0"/>
                  <a:ea typeface="Roboto" pitchFamily="34" charset="-122"/>
                  <a:cs typeface="Roboto" pitchFamily="34" charset="-120"/>
                </a:rPr>
                <a:t>Update LCD</a:t>
              </a:r>
              <a:endParaRPr lang="en-US" sz="1550" noProof="1"/>
            </a:p>
            <a:p>
              <a:pPr marL="177800" indent="-177800">
                <a:buSzPct val="100000"/>
                <a:buChar char="•"/>
              </a:pPr>
              <a:r>
                <a:rPr lang="en-US" sz="1550" noProof="1">
                  <a:solidFill>
                    <a:srgbClr val="1A1A1A"/>
                  </a:solidFill>
                  <a:latin typeface="Roboto" pitchFamily="34" charset="0"/>
                  <a:ea typeface="Roboto" pitchFamily="34" charset="-122"/>
                  <a:cs typeface="Roboto" pitchFamily="34" charset="-120"/>
                </a:rPr>
                <a:t>Save log</a:t>
              </a:r>
              <a:endParaRPr lang="en-US" sz="1550" noProof="1"/>
            </a:p>
          </p:txBody>
        </p:sp>
        <p:sp>
          <p:nvSpPr>
            <p:cNvPr id="11" name="Text 9"/>
            <p:cNvSpPr/>
            <p:nvPr/>
          </p:nvSpPr>
          <p:spPr>
            <a:xfrm>
              <a:off x="8869680" y="3568576"/>
              <a:ext cx="2377440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700" b="1" noProof="1">
                  <a:solidFill>
                    <a:srgbClr val="C62828"/>
                  </a:solidFill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CLOSE</a:t>
              </a:r>
              <a:endParaRPr lang="en-US" sz="1700" noProof="1"/>
            </a:p>
          </p:txBody>
        </p:sp>
        <p:sp>
          <p:nvSpPr>
            <p:cNvPr id="12" name="Text 10"/>
            <p:cNvSpPr/>
            <p:nvPr/>
          </p:nvSpPr>
          <p:spPr>
            <a:xfrm>
              <a:off x="8869680" y="3875849"/>
              <a:ext cx="2651760" cy="1005840"/>
            </a:xfrm>
            <a:prstGeom prst="rect">
              <a:avLst/>
            </a:prstGeom>
            <a:noFill/>
            <a:ln/>
          </p:spPr>
          <p:txBody>
            <a:bodyPr wrap="square" lIns="381" tIns="381" rIns="381" bIns="381" rtlCol="0" anchor="ctr">
              <a:normAutofit/>
            </a:bodyPr>
            <a:lstStyle/>
            <a:p>
              <a:pPr marL="177800" indent="-177800">
                <a:buSzPct val="100000"/>
                <a:buChar char="•"/>
              </a:pPr>
              <a:r>
                <a:rPr lang="en-US" sz="1550" noProof="1">
                  <a:solidFill>
                    <a:srgbClr val="1A1A1A"/>
                  </a:solidFill>
                  <a:latin typeface="Roboto" pitchFamily="34" charset="0"/>
                  <a:ea typeface="Roboto" pitchFamily="34" charset="-122"/>
                  <a:cs typeface="Roboto" pitchFamily="34" charset="-120"/>
                </a:rPr>
                <a:t>Keep gate closed</a:t>
              </a:r>
              <a:endParaRPr lang="en-US" sz="1550" noProof="1"/>
            </a:p>
            <a:p>
              <a:pPr marL="177800" indent="-177800">
                <a:buSzPct val="100000"/>
                <a:buChar char="•"/>
              </a:pPr>
              <a:r>
                <a:rPr lang="en-US" sz="1550" noProof="1">
                  <a:solidFill>
                    <a:srgbClr val="1A1A1A"/>
                  </a:solidFill>
                  <a:latin typeface="Roboto" pitchFamily="34" charset="0"/>
                  <a:ea typeface="Roboto" pitchFamily="34" charset="-122"/>
                  <a:cs typeface="Roboto" pitchFamily="34" charset="-120"/>
                </a:rPr>
                <a:t>Show status</a:t>
              </a:r>
              <a:endParaRPr lang="en-US" sz="1550" noProof="1"/>
            </a:p>
            <a:p>
              <a:pPr marL="177800" indent="-177800">
                <a:buSzPct val="100000"/>
                <a:buChar char="•"/>
              </a:pPr>
              <a:r>
                <a:rPr lang="en-US" sz="1550" noProof="1">
                  <a:solidFill>
                    <a:srgbClr val="1A1A1A"/>
                  </a:solidFill>
                  <a:latin typeface="Roboto" pitchFamily="34" charset="0"/>
                  <a:ea typeface="Roboto" pitchFamily="34" charset="-122"/>
                  <a:cs typeface="Roboto" pitchFamily="34" charset="-120"/>
                </a:rPr>
                <a:t>Save log</a:t>
              </a:r>
              <a:endParaRPr lang="en-US" sz="1550" noProof="1"/>
            </a:p>
          </p:txBody>
        </p:sp>
      </p:grpSp>
      <p:sp>
        <p:nvSpPr>
          <p:cNvPr id="13" name="Text 11"/>
          <p:cNvSpPr/>
          <p:nvPr/>
        </p:nvSpPr>
        <p:spPr>
          <a:xfrm>
            <a:off x="502920" y="6547104"/>
            <a:ext cx="11155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/>
            <a:r>
              <a:rPr lang="en-US" sz="850" noProof="1">
                <a:solidFill>
                  <a:srgbClr val="7B849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Smart Parking System  |  12/20</a:t>
            </a:r>
            <a:endParaRPr lang="en-US" sz="850" noProof="1"/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771B820D-9F6A-ED13-BA9F-E92FC73725CC}"/>
              </a:ext>
            </a:extLst>
          </p:cNvPr>
          <p:cNvGrpSpPr/>
          <p:nvPr/>
        </p:nvGrpSpPr>
        <p:grpSpPr>
          <a:xfrm>
            <a:off x="5167222" y="1195450"/>
            <a:ext cx="6008298" cy="5029198"/>
            <a:chOff x="8107036" y="128016"/>
            <a:chExt cx="3919864" cy="6601968"/>
          </a:xfrm>
        </p:grpSpPr>
        <p:sp>
          <p:nvSpPr>
            <p:cNvPr id="5" name="Shape 3"/>
            <p:cNvSpPr/>
            <p:nvPr/>
          </p:nvSpPr>
          <p:spPr>
            <a:xfrm flipH="1">
              <a:off x="8107036" y="128016"/>
              <a:ext cx="3919864" cy="6601968"/>
            </a:xfrm>
            <a:prstGeom prst="rect">
              <a:avLst/>
            </a:prstGeom>
            <a:solidFill>
              <a:srgbClr val="FFFFFF">
                <a:alpha val="0"/>
              </a:srgbClr>
            </a:solidFill>
            <a:ln w="19050">
              <a:solidFill>
                <a:srgbClr val="1F77B4"/>
              </a:solidFill>
              <a:prstDash val="solid"/>
            </a:ln>
          </p:spPr>
          <p:txBody>
            <a:bodyPr/>
            <a:lstStyle/>
            <a:p>
              <a:endParaRPr lang="en-US" noProof="1"/>
            </a:p>
          </p:txBody>
        </p:sp>
        <p:pic>
          <p:nvPicPr>
            <p:cNvPr id="21" name="Picture 20">
              <a:extLst>
                <a:ext uri="{FF2B5EF4-FFF2-40B4-BE49-F238E27FC236}">
                  <a16:creationId xmlns:a16="http://schemas.microsoft.com/office/drawing/2014/main" id="{B8E9A458-9BC5-89D8-3C32-351669DD56F1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8198476" y="221856"/>
              <a:ext cx="3721902" cy="6436119"/>
            </a:xfrm>
            <a:prstGeom prst="rect">
              <a:avLst/>
            </a:prstGeom>
          </p:spPr>
        </p:pic>
      </p:grpSp>
      <p:pic>
        <p:nvPicPr>
          <p:cNvPr id="15" name="Picture 14">
            <a:extLst>
              <a:ext uri="{FF2B5EF4-FFF2-40B4-BE49-F238E27FC236}">
                <a16:creationId xmlns:a16="http://schemas.microsoft.com/office/drawing/2014/main" id="{3A4B5E3C-1453-E31E-BB60-2F9649D54C0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34550" y="44112"/>
            <a:ext cx="2356685" cy="920580"/>
          </a:xfrm>
          <a:prstGeom prst="rect">
            <a:avLst/>
          </a:prstGeom>
        </p:spPr>
      </p:pic>
      <p:sp>
        <p:nvSpPr>
          <p:cNvPr id="17" name="Text 6">
            <a:extLst>
              <a:ext uri="{FF2B5EF4-FFF2-40B4-BE49-F238E27FC236}">
                <a16:creationId xmlns:a16="http://schemas.microsoft.com/office/drawing/2014/main" id="{69F21460-8598-3F96-9333-6B341A09656E}"/>
              </a:ext>
            </a:extLst>
          </p:cNvPr>
          <p:cNvSpPr/>
          <p:nvPr/>
        </p:nvSpPr>
        <p:spPr>
          <a:xfrm>
            <a:off x="628175" y="4632213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800" b="1" noProof="1">
                <a:solidFill>
                  <a:srgbClr val="1F77B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Closing logic</a:t>
            </a:r>
            <a:endParaRPr lang="en-US" sz="1800" noProof="1"/>
          </a:p>
        </p:txBody>
      </p:sp>
      <p:sp>
        <p:nvSpPr>
          <p:cNvPr id="19" name="Text 10">
            <a:extLst>
              <a:ext uri="{FF2B5EF4-FFF2-40B4-BE49-F238E27FC236}">
                <a16:creationId xmlns:a16="http://schemas.microsoft.com/office/drawing/2014/main" id="{EC81D6AC-7CFB-7EED-1CA4-43835161AEF4}"/>
              </a:ext>
            </a:extLst>
          </p:cNvPr>
          <p:cNvSpPr/>
          <p:nvPr/>
        </p:nvSpPr>
        <p:spPr>
          <a:xfrm>
            <a:off x="692183" y="4877116"/>
            <a:ext cx="2651760" cy="10058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177800" indent="-177800">
              <a:buSzPct val="100000"/>
              <a:buChar char="•"/>
            </a:pPr>
            <a:r>
              <a:rPr lang="en-US" sz="1550" noProof="1">
                <a:solidFill>
                  <a:srgbClr val="1A1A1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After 3s, if no object is detected by sensors </a:t>
            </a:r>
            <a:endParaRPr lang="en-US" sz="1550" noProof="1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F14933-0581-C9C9-3F85-121DBEEBE0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E38B6EA9-84E9-4150-3325-B333B1279095}"/>
              </a:ext>
            </a:extLst>
          </p:cNvPr>
          <p:cNvSpPr/>
          <p:nvPr/>
        </p:nvSpPr>
        <p:spPr>
          <a:xfrm>
            <a:off x="502920" y="320040"/>
            <a:ext cx="11155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3000" b="1" noProof="1">
                <a:solidFill>
                  <a:srgbClr val="0B1F3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System ERD</a:t>
            </a:r>
            <a:endParaRPr lang="en-US" sz="3000" noProof="1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3A5E8256-557B-7D70-E80C-120E1ED5E5B3}"/>
              </a:ext>
            </a:extLst>
          </p:cNvPr>
          <p:cNvSpPr/>
          <p:nvPr/>
        </p:nvSpPr>
        <p:spPr>
          <a:xfrm>
            <a:off x="530352" y="777240"/>
            <a:ext cx="10972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noProof="1">
                <a:solidFill>
                  <a:srgbClr val="5B6472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Step-by-step operation from detection to gate control.</a:t>
            </a:r>
            <a:endParaRPr lang="en-US" sz="1250" noProof="1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29BCB63A-9E65-D013-DD65-98A045DC5F91}"/>
              </a:ext>
            </a:extLst>
          </p:cNvPr>
          <p:cNvSpPr/>
          <p:nvPr/>
        </p:nvSpPr>
        <p:spPr>
          <a:xfrm>
            <a:off x="502920" y="1078992"/>
            <a:ext cx="11155680" cy="0"/>
          </a:xfrm>
          <a:prstGeom prst="line">
            <a:avLst/>
          </a:prstGeom>
          <a:noFill/>
          <a:ln w="12700">
            <a:solidFill>
              <a:srgbClr val="B9C2CF"/>
            </a:solidFill>
            <a:prstDash val="solid"/>
          </a:ln>
        </p:spPr>
        <p:txBody>
          <a:bodyPr/>
          <a:lstStyle/>
          <a:p>
            <a:endParaRPr lang="en-US" noProof="1"/>
          </a:p>
        </p:txBody>
      </p:sp>
      <p:sp>
        <p:nvSpPr>
          <p:cNvPr id="13" name="Text 11">
            <a:extLst>
              <a:ext uri="{FF2B5EF4-FFF2-40B4-BE49-F238E27FC236}">
                <a16:creationId xmlns:a16="http://schemas.microsoft.com/office/drawing/2014/main" id="{E79D8D6E-4D78-6D70-C111-21A14F64B675}"/>
              </a:ext>
            </a:extLst>
          </p:cNvPr>
          <p:cNvSpPr/>
          <p:nvPr/>
        </p:nvSpPr>
        <p:spPr>
          <a:xfrm>
            <a:off x="502920" y="6547104"/>
            <a:ext cx="11155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/>
            <a:r>
              <a:rPr lang="en-US" sz="850" noProof="1">
                <a:solidFill>
                  <a:srgbClr val="7B849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Smart Parking System  |  13/20</a:t>
            </a:r>
            <a:endParaRPr lang="en-US" sz="850" noProof="1"/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36B52A22-B25B-51F5-6667-5F63B65BD74F}"/>
              </a:ext>
            </a:extLst>
          </p:cNvPr>
          <p:cNvSpPr/>
          <p:nvPr/>
        </p:nvSpPr>
        <p:spPr>
          <a:xfrm flipH="1">
            <a:off x="5167222" y="1195450"/>
            <a:ext cx="6008298" cy="5029198"/>
          </a:xfrm>
          <a:prstGeom prst="rect">
            <a:avLst/>
          </a:prstGeom>
          <a:solidFill>
            <a:srgbClr val="FFFFFF">
              <a:alpha val="0"/>
            </a:srgbClr>
          </a:solidFill>
          <a:ln w="19050">
            <a:solidFill>
              <a:srgbClr val="1F77B4"/>
            </a:solidFill>
            <a:prstDash val="solid"/>
          </a:ln>
        </p:spPr>
        <p:txBody>
          <a:bodyPr/>
          <a:lstStyle/>
          <a:p>
            <a:endParaRPr lang="en-US" noProof="1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D3A4E7C9-2549-A838-2179-5774C793CCF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58662" y="1328296"/>
            <a:ext cx="5894361" cy="4752464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47FA41B1-A470-B775-4A0A-763EA693A10F}"/>
              </a:ext>
            </a:extLst>
          </p:cNvPr>
          <p:cNvSpPr txBox="1"/>
          <p:nvPr/>
        </p:nvSpPr>
        <p:spPr>
          <a:xfrm>
            <a:off x="502920" y="1285854"/>
            <a:ext cx="6096000" cy="42165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1400" b="1" noProof="1">
                <a:solidFill>
                  <a:schemeClr val="accent5"/>
                </a:solidFill>
              </a:rPr>
              <a:t>Gates</a:t>
            </a:r>
          </a:p>
          <a:p>
            <a:pPr>
              <a:buNone/>
            </a:pPr>
            <a:r>
              <a:rPr lang="en-US" sz="1400" noProof="1"/>
              <a:t>Stores the current status of each parking gate.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200" i="1" noProof="1"/>
              <a:t>Identifies ENTRY and EXIT gates.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200" i="1" noProof="1"/>
              <a:t>Stores the current gate state.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200" i="1" noProof="1"/>
              <a:t>Records the latest </a:t>
            </a:r>
            <a:r>
              <a:rPr lang="en-US" sz="1200" i="1" noProof="1">
                <a:latin typeface="Courier New" panose="02070309020205020404" pitchFamily="49" charset="0"/>
              </a:rPr>
              <a:t>OPEN</a:t>
            </a:r>
            <a:r>
              <a:rPr lang="en-US" sz="1200" i="1" noProof="1"/>
              <a:t> or </a:t>
            </a:r>
            <a:r>
              <a:rPr lang="en-US" sz="1200" i="1" noProof="1">
                <a:latin typeface="Courier New" panose="02070309020205020404" pitchFamily="49" charset="0"/>
              </a:rPr>
              <a:t>CLOSE</a:t>
            </a:r>
            <a:r>
              <a:rPr lang="en-US" sz="1200" i="1" noProof="1"/>
              <a:t> decision.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200" i="1" noProof="1"/>
              <a:t>Tracks the most recent update time. </a:t>
            </a:r>
          </a:p>
          <a:p>
            <a:pPr>
              <a:buFont typeface="Arial" panose="020B0604020202020204" pitchFamily="34" charset="0"/>
              <a:buChar char="•"/>
            </a:pPr>
            <a:endParaRPr lang="en-US" sz="1400" noProof="1"/>
          </a:p>
          <a:p>
            <a:pPr>
              <a:buNone/>
            </a:pPr>
            <a:r>
              <a:rPr lang="en-US" sz="1400" b="1" noProof="1">
                <a:solidFill>
                  <a:schemeClr val="accent5"/>
                </a:solidFill>
              </a:rPr>
              <a:t>Detection Events</a:t>
            </a:r>
          </a:p>
          <a:p>
            <a:pPr>
              <a:buNone/>
            </a:pPr>
            <a:r>
              <a:rPr lang="en-US" sz="1400" noProof="1"/>
              <a:t>Stores the history of every vehicle-detection process.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200" i="1" noProof="1"/>
              <a:t>Sensor distance and object-detection result.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200" i="1" noProof="1"/>
              <a:t>Raw and YOLO-annotated image paths.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200" i="1" noProof="1"/>
              <a:t>Detected vehicle class and confidence score.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200" i="1" noProof="1"/>
              <a:t>Final gate decision and processing status.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200" i="1" noProof="1"/>
              <a:t>Vehicle count before and after each event.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200" i="1" noProof="1"/>
              <a:t>Error details when processing fails. </a:t>
            </a:r>
          </a:p>
          <a:p>
            <a:endParaRPr lang="en-US" sz="1400" noProof="1"/>
          </a:p>
          <a:p>
            <a:pPr>
              <a:buNone/>
            </a:pPr>
            <a:r>
              <a:rPr lang="en-US" sz="1400" b="1" noProof="1">
                <a:solidFill>
                  <a:schemeClr val="accent5"/>
                </a:solidFill>
              </a:rPr>
              <a:t>Parking Occupancy</a:t>
            </a:r>
          </a:p>
          <a:p>
            <a:pPr>
              <a:buNone/>
            </a:pPr>
            <a:r>
              <a:rPr lang="en-US" sz="1400" noProof="1"/>
              <a:t>Stores the current parking-space status.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200" i="1" noProof="1"/>
              <a:t>Maximum parking capacity.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200" i="1" noProof="1"/>
              <a:t>Current number of vehicles inside.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200" i="1" noProof="1"/>
              <a:t>Last occupancy update time.</a:t>
            </a: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7EB1DB73-1BA5-BCF4-2C7F-9CE3AD0AC6A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34550" y="44112"/>
            <a:ext cx="2356685" cy="9205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7530932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11155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3000" b="1" noProof="1">
                <a:solidFill>
                  <a:srgbClr val="0B1F3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Web Dashboard Interface</a:t>
            </a:r>
            <a:endParaRPr lang="en-US" sz="3000" noProof="1"/>
          </a:p>
        </p:txBody>
      </p:sp>
      <p:sp>
        <p:nvSpPr>
          <p:cNvPr id="3" name="Text 1"/>
          <p:cNvSpPr/>
          <p:nvPr/>
        </p:nvSpPr>
        <p:spPr>
          <a:xfrm>
            <a:off x="530352" y="777240"/>
            <a:ext cx="10972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noProof="1">
                <a:solidFill>
                  <a:srgbClr val="5B6472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Real-time monitoring for parking management.</a:t>
            </a:r>
            <a:endParaRPr lang="en-US" sz="1250" noProof="1"/>
          </a:p>
        </p:txBody>
      </p:sp>
      <p:sp>
        <p:nvSpPr>
          <p:cNvPr id="4" name="Shape 2"/>
          <p:cNvSpPr/>
          <p:nvPr/>
        </p:nvSpPr>
        <p:spPr>
          <a:xfrm>
            <a:off x="502920" y="1078992"/>
            <a:ext cx="11155680" cy="0"/>
          </a:xfrm>
          <a:prstGeom prst="line">
            <a:avLst/>
          </a:prstGeom>
          <a:noFill/>
          <a:ln w="12700">
            <a:solidFill>
              <a:srgbClr val="B9C2CF"/>
            </a:solidFill>
            <a:prstDash val="solid"/>
          </a:ln>
        </p:spPr>
        <p:txBody>
          <a:bodyPr/>
          <a:lstStyle/>
          <a:p>
            <a:endParaRPr lang="en-US" noProof="1"/>
          </a:p>
        </p:txBody>
      </p:sp>
      <p:sp>
        <p:nvSpPr>
          <p:cNvPr id="5" name="Shape 3"/>
          <p:cNvSpPr/>
          <p:nvPr/>
        </p:nvSpPr>
        <p:spPr>
          <a:xfrm>
            <a:off x="731520" y="1325880"/>
            <a:ext cx="10744200" cy="4297680"/>
          </a:xfrm>
          <a:prstGeom prst="rect">
            <a:avLst/>
          </a:prstGeom>
          <a:solidFill>
            <a:srgbClr val="FFFFFF">
              <a:alpha val="0"/>
            </a:srgbClr>
          </a:solidFill>
          <a:ln w="19050">
            <a:solidFill>
              <a:srgbClr val="1F77B4"/>
            </a:solidFill>
            <a:prstDash val="solid"/>
          </a:ln>
        </p:spPr>
        <p:txBody>
          <a:bodyPr/>
          <a:lstStyle/>
          <a:p>
            <a:endParaRPr lang="en-US" noProof="1"/>
          </a:p>
        </p:txBody>
      </p:sp>
      <p:sp>
        <p:nvSpPr>
          <p:cNvPr id="6" name="Text 4"/>
          <p:cNvSpPr/>
          <p:nvPr/>
        </p:nvSpPr>
        <p:spPr>
          <a:xfrm>
            <a:off x="868680" y="3140964"/>
            <a:ext cx="10469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noProof="1">
                <a:solidFill>
                  <a:srgbClr val="1F77B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INSERT WEB DASHBOARD SCREENSHOT / MOCKUP</a:t>
            </a:r>
            <a:endParaRPr lang="en-US" sz="1600" noProof="1"/>
          </a:p>
        </p:txBody>
      </p:sp>
      <p:sp>
        <p:nvSpPr>
          <p:cNvPr id="7" name="Text 5"/>
          <p:cNvSpPr/>
          <p:nvPr/>
        </p:nvSpPr>
        <p:spPr>
          <a:xfrm>
            <a:off x="914400" y="3525012"/>
            <a:ext cx="10378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noProof="1">
                <a:solidFill>
                  <a:srgbClr val="5B6472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Insert the final dashboard image, or a mockup if the implementation is not finished.</a:t>
            </a:r>
            <a:endParaRPr lang="en-US" sz="1050" noProof="1"/>
          </a:p>
        </p:txBody>
      </p:sp>
      <p:sp>
        <p:nvSpPr>
          <p:cNvPr id="8" name="Text 6"/>
          <p:cNvSpPr/>
          <p:nvPr/>
        </p:nvSpPr>
        <p:spPr>
          <a:xfrm>
            <a:off x="777240" y="5788152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800" b="1" noProof="1">
                <a:solidFill>
                  <a:srgbClr val="1F77B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Dashboard includes</a:t>
            </a:r>
            <a:endParaRPr lang="en-US" sz="1800" noProof="1"/>
          </a:p>
        </p:txBody>
      </p:sp>
      <p:sp>
        <p:nvSpPr>
          <p:cNvPr id="9" name="Text 7"/>
          <p:cNvSpPr/>
          <p:nvPr/>
        </p:nvSpPr>
        <p:spPr>
          <a:xfrm>
            <a:off x="3429000" y="5779008"/>
            <a:ext cx="7909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50" noProof="1">
                <a:solidFill>
                  <a:srgbClr val="1A1A1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Total vehicles  •  Entries today  •  Exits today  •  Parking logs  •  Latest captured images</a:t>
            </a:r>
            <a:endParaRPr lang="en-US" sz="1450" noProof="1"/>
          </a:p>
        </p:txBody>
      </p:sp>
      <p:sp>
        <p:nvSpPr>
          <p:cNvPr id="10" name="Text 8"/>
          <p:cNvSpPr/>
          <p:nvPr/>
        </p:nvSpPr>
        <p:spPr>
          <a:xfrm>
            <a:off x="502920" y="6547104"/>
            <a:ext cx="11155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/>
            <a:r>
              <a:rPr lang="en-US" sz="850" noProof="1">
                <a:solidFill>
                  <a:srgbClr val="7B849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Smart Parking System  |  14/20</a:t>
            </a:r>
            <a:endParaRPr lang="en-US" sz="850" noProof="1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BF7A1791-30B7-FBC1-1BD7-0152B236F326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20800"/>
          <a:stretch>
            <a:fillRect/>
          </a:stretch>
        </p:blipFill>
        <p:spPr>
          <a:xfrm>
            <a:off x="800100" y="1353312"/>
            <a:ext cx="10591800" cy="4178808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6A6897B2-A190-C30B-DF03-C1FB419B46E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34550" y="44112"/>
            <a:ext cx="2356685" cy="92058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11155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r>
              <a:rPr lang="en-US" sz="3200" b="1" noProof="1"/>
              <a:t>YOLO Model and Experimental Results</a:t>
            </a:r>
            <a:endParaRPr lang="en-US" sz="3000" b="1" noProof="1"/>
          </a:p>
        </p:txBody>
      </p:sp>
      <p:sp>
        <p:nvSpPr>
          <p:cNvPr id="3" name="Text 1"/>
          <p:cNvSpPr/>
          <p:nvPr/>
        </p:nvSpPr>
        <p:spPr>
          <a:xfrm>
            <a:off x="530352" y="777240"/>
            <a:ext cx="10972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noProof="1">
                <a:solidFill>
                  <a:srgbClr val="5B6472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Model used and prototype results</a:t>
            </a:r>
          </a:p>
        </p:txBody>
      </p:sp>
      <p:sp>
        <p:nvSpPr>
          <p:cNvPr id="4" name="Shape 2"/>
          <p:cNvSpPr/>
          <p:nvPr/>
        </p:nvSpPr>
        <p:spPr>
          <a:xfrm>
            <a:off x="502920" y="1078992"/>
            <a:ext cx="11155680" cy="0"/>
          </a:xfrm>
          <a:prstGeom prst="line">
            <a:avLst/>
          </a:prstGeom>
          <a:noFill/>
          <a:ln w="12700">
            <a:solidFill>
              <a:srgbClr val="B9C2CF"/>
            </a:solidFill>
            <a:prstDash val="solid"/>
          </a:ln>
        </p:spPr>
        <p:txBody>
          <a:bodyPr/>
          <a:lstStyle/>
          <a:p>
            <a:endParaRPr lang="en-US" noProof="1"/>
          </a:p>
        </p:txBody>
      </p:sp>
      <p:sp>
        <p:nvSpPr>
          <p:cNvPr id="5" name="Text 3"/>
          <p:cNvSpPr/>
          <p:nvPr/>
        </p:nvSpPr>
        <p:spPr>
          <a:xfrm>
            <a:off x="485950" y="1156335"/>
            <a:ext cx="4892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rPr lang="en-US" sz="1800" b="1" noProof="1">
                <a:solidFill>
                  <a:srgbClr val="1F77B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Model used</a:t>
            </a:r>
            <a:endParaRPr lang="en-US" b="1" noProof="1"/>
          </a:p>
        </p:txBody>
      </p:sp>
      <p:sp>
        <p:nvSpPr>
          <p:cNvPr id="6" name="Text 4"/>
          <p:cNvSpPr/>
          <p:nvPr/>
        </p:nvSpPr>
        <p:spPr>
          <a:xfrm>
            <a:off x="485950" y="1636777"/>
            <a:ext cx="5857816" cy="2455545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r>
              <a:rPr lang="en-US" sz="1600" b="1" noProof="1"/>
              <a:t>YOLO26l</a:t>
            </a:r>
            <a:r>
              <a:rPr lang="en-US" sz="1600" noProof="1"/>
              <a:t> was selected as the final server-side vehicle detection model.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1600" noProof="1"/>
              <a:t>Total Image: </a:t>
            </a:r>
            <a:r>
              <a:rPr lang="en-US" sz="1600" b="1" noProof="1"/>
              <a:t>146</a:t>
            </a:r>
            <a:r>
              <a:rPr lang="en-US" sz="1600" noProof="1"/>
              <a:t> 	Input size: </a:t>
            </a:r>
            <a:r>
              <a:rPr lang="en-US" sz="1600" b="1" noProof="1"/>
              <a:t>640 × 640 pixels</a:t>
            </a:r>
            <a:r>
              <a:rPr lang="en-US" sz="1600" noProof="1"/>
              <a:t>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1600" noProof="1"/>
              <a:t>Open/Close: </a:t>
            </a:r>
            <a:r>
              <a:rPr lang="en-US" sz="1600" b="1" noProof="1"/>
              <a:t>66/80	</a:t>
            </a:r>
            <a:r>
              <a:rPr lang="en-US" sz="1600" noProof="1"/>
              <a:t>Confidence threshold: </a:t>
            </a:r>
            <a:r>
              <a:rPr lang="en-US" sz="1600" b="1" noProof="1"/>
              <a:t>0.45</a:t>
            </a:r>
            <a:r>
              <a:rPr lang="en-US" sz="1600" noProof="1"/>
              <a:t>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1600" noProof="1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1600" noProof="1"/>
              <a:t>Accepted classes: </a:t>
            </a:r>
            <a:r>
              <a:rPr lang="en-US" sz="1600" b="1" noProof="1"/>
              <a:t>car, motorcycle, bus, truck</a:t>
            </a:r>
            <a:r>
              <a:rPr lang="en-US" sz="1600" noProof="1"/>
              <a:t>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1600" noProof="1"/>
              <a:t>Processing location: </a:t>
            </a:r>
            <a:r>
              <a:rPr lang="en-US" sz="1600" b="1" noProof="1"/>
              <a:t>FastAPI backend server</a:t>
            </a:r>
            <a:r>
              <a:rPr lang="en-US" sz="1600" noProof="1"/>
              <a:t> </a:t>
            </a:r>
          </a:p>
          <a:p>
            <a:pPr marL="177800" indent="-177800">
              <a:buSzPct val="100000"/>
              <a:buChar char="•"/>
            </a:pPr>
            <a:r>
              <a:rPr lang="en-US" sz="1600" noProof="1"/>
              <a:t>   Accepted classes: </a:t>
            </a:r>
            <a:r>
              <a:rPr lang="en-US" sz="1600" b="1" noProof="1"/>
              <a:t>43 trucks and 23 cars</a:t>
            </a:r>
          </a:p>
          <a:p>
            <a:pPr marL="177800" indent="-177800">
              <a:buSzPct val="100000"/>
              <a:buFontTx/>
              <a:buChar char="•"/>
            </a:pPr>
            <a:r>
              <a:rPr lang="en-US" sz="1600" noProof="1"/>
              <a:t>   Average inference time: </a:t>
            </a:r>
            <a:r>
              <a:rPr lang="en-US" sz="1600" b="1" noProof="1"/>
              <a:t>432.23 ms</a:t>
            </a:r>
            <a:r>
              <a:rPr lang="en-US" sz="1600" noProof="1"/>
              <a:t> </a:t>
            </a:r>
          </a:p>
          <a:p>
            <a:pPr marL="177800" indent="-177800">
              <a:buSzPct val="100000"/>
              <a:buChar char="•"/>
            </a:pPr>
            <a:endParaRPr lang="en-US" sz="1600" noProof="1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1600" noProof="1"/>
          </a:p>
          <a:p>
            <a:pPr marL="177800" indent="-177800">
              <a:buSzPct val="100000"/>
              <a:buChar char="•"/>
            </a:pPr>
            <a:endParaRPr lang="en-US" sz="1600" noProof="1"/>
          </a:p>
        </p:txBody>
      </p:sp>
      <p:sp>
        <p:nvSpPr>
          <p:cNvPr id="7" name="Shape 5"/>
          <p:cNvSpPr/>
          <p:nvPr/>
        </p:nvSpPr>
        <p:spPr>
          <a:xfrm>
            <a:off x="6790598" y="1463040"/>
            <a:ext cx="0" cy="4526280"/>
          </a:xfrm>
          <a:prstGeom prst="line">
            <a:avLst/>
          </a:prstGeom>
          <a:noFill/>
          <a:ln w="12700">
            <a:solidFill>
              <a:srgbClr val="B9C2CF"/>
            </a:solidFill>
            <a:prstDash val="solid"/>
          </a:ln>
        </p:spPr>
        <p:txBody>
          <a:bodyPr/>
          <a:lstStyle/>
          <a:p>
            <a:endParaRPr lang="en-US" noProof="1"/>
          </a:p>
        </p:txBody>
      </p:sp>
      <p:sp>
        <p:nvSpPr>
          <p:cNvPr id="8" name="Text 6"/>
          <p:cNvSpPr/>
          <p:nvPr/>
        </p:nvSpPr>
        <p:spPr>
          <a:xfrm>
            <a:off x="6939542" y="1152144"/>
            <a:ext cx="4892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rPr lang="en-US" b="1" noProof="1">
                <a:solidFill>
                  <a:srgbClr val="1F77B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YOLO26l annotated result</a:t>
            </a:r>
            <a:endParaRPr lang="en-US" sz="1800" noProof="1"/>
          </a:p>
        </p:txBody>
      </p:sp>
      <p:sp>
        <p:nvSpPr>
          <p:cNvPr id="10" name="Text 8"/>
          <p:cNvSpPr/>
          <p:nvPr/>
        </p:nvSpPr>
        <p:spPr>
          <a:xfrm>
            <a:off x="502920" y="6547104"/>
            <a:ext cx="11155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/>
            <a:r>
              <a:rPr lang="en-US" sz="850" noProof="1">
                <a:solidFill>
                  <a:srgbClr val="7B849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Smart Parking System  |  15/20</a:t>
            </a:r>
            <a:endParaRPr lang="en-US" sz="850" noProof="1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27990DE6-08A3-0434-2522-06F27D84E9D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39543" y="2734129"/>
            <a:ext cx="3192781" cy="1636776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6D66B35D-B7D6-EF3D-C509-52FC6B66852C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38818"/>
          <a:stretch>
            <a:fillRect/>
          </a:stretch>
        </p:blipFill>
        <p:spPr>
          <a:xfrm>
            <a:off x="6939545" y="4719142"/>
            <a:ext cx="3192780" cy="1684020"/>
          </a:xfrm>
          <a:prstGeom prst="rect">
            <a:avLst/>
          </a:prstGeom>
        </p:spPr>
      </p:pic>
      <p:sp>
        <p:nvSpPr>
          <p:cNvPr id="16" name="Text 1">
            <a:extLst>
              <a:ext uri="{FF2B5EF4-FFF2-40B4-BE49-F238E27FC236}">
                <a16:creationId xmlns:a16="http://schemas.microsoft.com/office/drawing/2014/main" id="{47117CA4-7BF5-DBAA-A293-FDDF9A5D0F16}"/>
              </a:ext>
            </a:extLst>
          </p:cNvPr>
          <p:cNvSpPr/>
          <p:nvPr/>
        </p:nvSpPr>
        <p:spPr>
          <a:xfrm>
            <a:off x="6939543" y="2434666"/>
            <a:ext cx="10972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noProof="1">
                <a:solidFill>
                  <a:srgbClr val="5B6472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Test image: detect car with confident: 0.95</a:t>
            </a:r>
            <a:endParaRPr lang="en-US" sz="1250" noProof="1"/>
          </a:p>
        </p:txBody>
      </p:sp>
      <p:sp>
        <p:nvSpPr>
          <p:cNvPr id="18" name="Text 1">
            <a:extLst>
              <a:ext uri="{FF2B5EF4-FFF2-40B4-BE49-F238E27FC236}">
                <a16:creationId xmlns:a16="http://schemas.microsoft.com/office/drawing/2014/main" id="{2C0E7620-6603-23F4-52E0-31D33A131A12}"/>
              </a:ext>
            </a:extLst>
          </p:cNvPr>
          <p:cNvSpPr/>
          <p:nvPr/>
        </p:nvSpPr>
        <p:spPr>
          <a:xfrm>
            <a:off x="6939545" y="4403674"/>
            <a:ext cx="10972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noProof="1">
                <a:solidFill>
                  <a:srgbClr val="5B6472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Prototype income image: detect truck with confident: 0.80</a:t>
            </a:r>
            <a:endParaRPr lang="en-US" sz="1250" noProof="1"/>
          </a:p>
        </p:txBody>
      </p:sp>
      <p:sp>
        <p:nvSpPr>
          <p:cNvPr id="20" name="Text 1">
            <a:extLst>
              <a:ext uri="{FF2B5EF4-FFF2-40B4-BE49-F238E27FC236}">
                <a16:creationId xmlns:a16="http://schemas.microsoft.com/office/drawing/2014/main" id="{9E8EFA82-9943-F0AF-C626-B0E5D9C9A334}"/>
              </a:ext>
            </a:extLst>
          </p:cNvPr>
          <p:cNvSpPr/>
          <p:nvPr/>
        </p:nvSpPr>
        <p:spPr>
          <a:xfrm>
            <a:off x="6939545" y="2138249"/>
            <a:ext cx="10972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50" noProof="1">
                <a:solidFill>
                  <a:srgbClr val="5B6472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Allowed classes for OPEN: ['bus', 'car', 'motorcycle', 'truck’] </a:t>
            </a:r>
          </a:p>
          <a:p>
            <a:r>
              <a:rPr lang="en-US" sz="1250" noProof="1">
                <a:solidFill>
                  <a:srgbClr val="5B6472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Confident threshold: 0.45</a:t>
            </a:r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63CCA8AB-8C83-4563-B015-D8959A1B30A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734550" y="44112"/>
            <a:ext cx="2356685" cy="920580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78EBE615-66A0-1CF9-7532-5F63C38D00B5}"/>
                  </a:ext>
                </a:extLst>
              </p:cNvPr>
              <p:cNvSpPr txBox="1"/>
              <p:nvPr/>
            </p:nvSpPr>
            <p:spPr>
              <a:xfrm>
                <a:off x="337004" y="3579478"/>
                <a:ext cx="5285967" cy="115621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b="1" noProof="1">
                    <a:solidFill>
                      <a:srgbClr val="1F77B4"/>
                    </a:solidFill>
                    <a:latin typeface="Montserrat" pitchFamily="34" charset="0"/>
                    <a:ea typeface="Montserrat" pitchFamily="34" charset="-122"/>
                    <a:cs typeface="Montserrat" pitchFamily="34" charset="-120"/>
                  </a:rPr>
                  <a:t>Calculations</a:t>
                </a:r>
                <a:endParaRPr lang="en-US" b="1" noProof="1"/>
              </a:p>
              <a:p>
                <a:pPr>
                  <a:buNone/>
                </a:pPr>
                <a:r>
                  <a:rPr lang="en-US" noProof="1"/>
                  <a:t>Detection rate 	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i="1" noProof="1" dirty="0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noProof="1" dirty="0" smtClean="0">
                            <a:latin typeface="Cambria Math" panose="02040503050406030204" pitchFamily="18" charset="0"/>
                          </a:rPr>
                          <m:t>66</m:t>
                        </m:r>
                      </m:num>
                      <m:den>
                        <m:r>
                          <a:rPr lang="en-US" i="0" noProof="1" dirty="0" smtClean="0">
                            <a:latin typeface="Cambria Math" panose="02040503050406030204" pitchFamily="18" charset="0"/>
                          </a:rPr>
                          <m:t>146</m:t>
                        </m:r>
                      </m:den>
                    </m:f>
                    <m:r>
                      <a:rPr lang="en-US" i="0" noProof="1" dirty="0" smtClean="0">
                        <a:latin typeface="Cambria Math" panose="02040503050406030204" pitchFamily="18" charset="0"/>
                      </a:rPr>
                      <m:t>×100%=</m:t>
                    </m:r>
                    <m:r>
                      <a:rPr lang="en-US" b="1" i="0" noProof="1" dirty="0" smtClean="0">
                        <a:latin typeface="Cambria Math" panose="02040503050406030204" pitchFamily="18" charset="0"/>
                      </a:rPr>
                      <m:t>𝟒𝟓</m:t>
                    </m:r>
                    <m:r>
                      <a:rPr lang="en-US" b="1" i="0" noProof="1" dirty="0" smtClean="0">
                        <a:latin typeface="Cambria Math" panose="02040503050406030204" pitchFamily="18" charset="0"/>
                      </a:rPr>
                      <m:t>.</m:t>
                    </m:r>
                    <m:r>
                      <a:rPr lang="en-US" b="1" i="0" noProof="1" dirty="0" smtClean="0">
                        <a:latin typeface="Cambria Math" panose="02040503050406030204" pitchFamily="18" charset="0"/>
                      </a:rPr>
                      <m:t>𝟐𝟏</m:t>
                    </m:r>
                    <m:r>
                      <a:rPr lang="en-US" i="0" noProof="1" dirty="0" smtClean="0">
                        <a:latin typeface="Cambria Math" panose="02040503050406030204" pitchFamily="18" charset="0"/>
                      </a:rPr>
                      <m:t>%</m:t>
                    </m:r>
                  </m:oMath>
                </a14:m>
                <a:endParaRPr lang="en-US" noProof="1"/>
              </a:p>
              <a:p>
                <a:pPr>
                  <a:buNone/>
                </a:pPr>
                <a:r>
                  <a:rPr lang="en-US" noProof="1"/>
                  <a:t>Miss rate	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i="1" noProof="1" dirty="0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noProof="1" dirty="0" smtClean="0">
                            <a:latin typeface="Cambria Math" panose="02040503050406030204" pitchFamily="18" charset="0"/>
                          </a:rPr>
                          <m:t>80</m:t>
                        </m:r>
                      </m:num>
                      <m:den>
                        <m:r>
                          <a:rPr lang="en-US" i="0" noProof="1" dirty="0" smtClean="0">
                            <a:latin typeface="Cambria Math" panose="02040503050406030204" pitchFamily="18" charset="0"/>
                          </a:rPr>
                          <m:t>146</m:t>
                        </m:r>
                      </m:den>
                    </m:f>
                    <m:r>
                      <a:rPr lang="en-US" i="0" noProof="1" dirty="0" smtClean="0">
                        <a:latin typeface="Cambria Math" panose="02040503050406030204" pitchFamily="18" charset="0"/>
                      </a:rPr>
                      <m:t>×100%=</m:t>
                    </m:r>
                    <m:r>
                      <a:rPr lang="en-US" b="1" i="0" noProof="1" dirty="0" smtClean="0">
                        <a:latin typeface="Cambria Math" panose="02040503050406030204" pitchFamily="18" charset="0"/>
                      </a:rPr>
                      <m:t>𝟓𝟒</m:t>
                    </m:r>
                    <m:r>
                      <a:rPr lang="en-US" b="1" i="0" noProof="1" dirty="0" smtClean="0">
                        <a:latin typeface="Cambria Math" panose="02040503050406030204" pitchFamily="18" charset="0"/>
                      </a:rPr>
                      <m:t>.</m:t>
                    </m:r>
                    <m:r>
                      <a:rPr lang="en-US" b="1" i="0" noProof="1" dirty="0" smtClean="0">
                        <a:latin typeface="Cambria Math" panose="02040503050406030204" pitchFamily="18" charset="0"/>
                      </a:rPr>
                      <m:t>𝟕𝟗</m:t>
                    </m:r>
                    <m:r>
                      <a:rPr lang="en-US" i="0" noProof="1" dirty="0" smtClean="0">
                        <a:latin typeface="Cambria Math" panose="02040503050406030204" pitchFamily="18" charset="0"/>
                      </a:rPr>
                      <m:t>%</m:t>
                    </m:r>
                  </m:oMath>
                </a14:m>
                <a:endParaRPr lang="en-US" noProof="1"/>
              </a:p>
            </p:txBody>
          </p:sp>
        </mc:Choice>
        <mc:Fallback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78EBE615-66A0-1CF9-7532-5F63C38D00B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7004" y="3579478"/>
                <a:ext cx="5285967" cy="1156214"/>
              </a:xfrm>
              <a:prstGeom prst="rect">
                <a:avLst/>
              </a:prstGeom>
              <a:blipFill>
                <a:blip r:embed="rId6"/>
                <a:stretch>
                  <a:fillRect l="-923" t="-2105" b="-263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17" name="Table 16">
            <a:extLst>
              <a:ext uri="{FF2B5EF4-FFF2-40B4-BE49-F238E27FC236}">
                <a16:creationId xmlns:a16="http://schemas.microsoft.com/office/drawing/2014/main" id="{F9FF6982-BD9E-4CFB-634D-CFE6EB7FD96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55002750"/>
              </p:ext>
            </p:extLst>
          </p:nvPr>
        </p:nvGraphicFramePr>
        <p:xfrm>
          <a:off x="485950" y="5115000"/>
          <a:ext cx="6155704" cy="1249680"/>
        </p:xfrm>
        <a:graphic>
          <a:graphicData uri="http://schemas.openxmlformats.org/drawingml/2006/table">
            <a:tbl>
              <a:tblPr>
                <a:tableStyleId>{793D81CF-94F2-401A-BA57-92F5A7B2D0C5}</a:tableStyleId>
              </a:tblPr>
              <a:tblGrid>
                <a:gridCol w="1538926">
                  <a:extLst>
                    <a:ext uri="{9D8B030D-6E8A-4147-A177-3AD203B41FA5}">
                      <a16:colId xmlns:a16="http://schemas.microsoft.com/office/drawing/2014/main" val="4227023164"/>
                    </a:ext>
                  </a:extLst>
                </a:gridCol>
                <a:gridCol w="1538926">
                  <a:extLst>
                    <a:ext uri="{9D8B030D-6E8A-4147-A177-3AD203B41FA5}">
                      <a16:colId xmlns:a16="http://schemas.microsoft.com/office/drawing/2014/main" val="3364084318"/>
                    </a:ext>
                  </a:extLst>
                </a:gridCol>
                <a:gridCol w="1538926">
                  <a:extLst>
                    <a:ext uri="{9D8B030D-6E8A-4147-A177-3AD203B41FA5}">
                      <a16:colId xmlns:a16="http://schemas.microsoft.com/office/drawing/2014/main" val="1538313437"/>
                    </a:ext>
                  </a:extLst>
                </a:gridCol>
                <a:gridCol w="1538926">
                  <a:extLst>
                    <a:ext uri="{9D8B030D-6E8A-4147-A177-3AD203B41FA5}">
                      <a16:colId xmlns:a16="http://schemas.microsoft.com/office/drawing/2014/main" val="99285087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noProof="1"/>
                        <a:t>Model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noProof="1"/>
                        <a:t>Samples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noProof="1"/>
                        <a:t>Detection Rate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noProof="1"/>
                        <a:t>Mean Inference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38060039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noProof="1"/>
                        <a:t>YOLOv8n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noProof="1"/>
                        <a:t>46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noProof="1"/>
                        <a:t>80.43%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noProof="1"/>
                        <a:t>93.42 ms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0492053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noProof="1"/>
                        <a:t>YOLO26l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noProof="1"/>
                        <a:t>52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noProof="1"/>
                        <a:t>94.23%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noProof="1"/>
                        <a:t>421.39 ms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75372436"/>
                  </a:ext>
                </a:extLst>
              </a:tr>
            </a:tbl>
          </a:graphicData>
        </a:graphic>
      </p:graphicFrame>
      <p:sp>
        <p:nvSpPr>
          <p:cNvPr id="24" name="TextBox 23">
            <a:extLst>
              <a:ext uri="{FF2B5EF4-FFF2-40B4-BE49-F238E27FC236}">
                <a16:creationId xmlns:a16="http://schemas.microsoft.com/office/drawing/2014/main" id="{979EADAB-863E-2562-6774-F55B63475B65}"/>
              </a:ext>
            </a:extLst>
          </p:cNvPr>
          <p:cNvSpPr txBox="1"/>
          <p:nvPr/>
        </p:nvSpPr>
        <p:spPr>
          <a:xfrm>
            <a:off x="337004" y="4680405"/>
            <a:ext cx="89535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noProof="1">
                <a:solidFill>
                  <a:srgbClr val="1F77B4"/>
                </a:solidFill>
                <a:latin typeface="Montserrat" pitchFamily="34" charset="0"/>
              </a:rPr>
              <a:t>Model Comparision</a:t>
            </a:r>
            <a:endParaRPr lang="en-US" b="1" noProof="1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AC6E70-D580-3452-9E10-0EC04A413C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EB9BD1F4-D93E-89FE-6091-F22E9EB4BF2D}"/>
              </a:ext>
            </a:extLst>
          </p:cNvPr>
          <p:cNvSpPr/>
          <p:nvPr/>
        </p:nvSpPr>
        <p:spPr>
          <a:xfrm>
            <a:off x="502920" y="320040"/>
            <a:ext cx="11155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3000" b="1" noProof="1">
                <a:solidFill>
                  <a:srgbClr val="0B1F3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Results and Benefits</a:t>
            </a:r>
            <a:endParaRPr lang="en-US" sz="3000" noProof="1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FAC2EBC8-1AB6-E0A2-8E4C-9CA08666C991}"/>
              </a:ext>
            </a:extLst>
          </p:cNvPr>
          <p:cNvSpPr/>
          <p:nvPr/>
        </p:nvSpPr>
        <p:spPr>
          <a:xfrm>
            <a:off x="530352" y="777240"/>
            <a:ext cx="10972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noProof="1">
                <a:solidFill>
                  <a:srgbClr val="5B6472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Expected technical output and practical value.</a:t>
            </a:r>
            <a:endParaRPr lang="en-US" sz="1250" noProof="1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27CCC94B-5B66-B635-9AD9-D0ECD2BC2153}"/>
              </a:ext>
            </a:extLst>
          </p:cNvPr>
          <p:cNvSpPr/>
          <p:nvPr/>
        </p:nvSpPr>
        <p:spPr>
          <a:xfrm>
            <a:off x="502920" y="1078992"/>
            <a:ext cx="11155680" cy="0"/>
          </a:xfrm>
          <a:prstGeom prst="line">
            <a:avLst/>
          </a:prstGeom>
          <a:noFill/>
          <a:ln w="12700">
            <a:solidFill>
              <a:srgbClr val="B9C2CF"/>
            </a:solidFill>
            <a:prstDash val="solid"/>
          </a:ln>
        </p:spPr>
        <p:txBody>
          <a:bodyPr/>
          <a:lstStyle/>
          <a:p>
            <a:endParaRPr lang="en-US" noProof="1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C35BD503-8C04-F662-F964-2DB3093E1C6C}"/>
              </a:ext>
            </a:extLst>
          </p:cNvPr>
          <p:cNvSpPr/>
          <p:nvPr/>
        </p:nvSpPr>
        <p:spPr>
          <a:xfrm>
            <a:off x="731520" y="1417320"/>
            <a:ext cx="4892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800" b="1" noProof="1">
                <a:solidFill>
                  <a:srgbClr val="1F77B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Technical Results</a:t>
            </a:r>
            <a:endParaRPr lang="en-US" sz="1800" noProof="1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6B94CB4D-A8AE-F71C-EDCA-9ADC28CC59B2}"/>
              </a:ext>
            </a:extLst>
          </p:cNvPr>
          <p:cNvSpPr/>
          <p:nvPr/>
        </p:nvSpPr>
        <p:spPr>
          <a:xfrm>
            <a:off x="731520" y="2145791"/>
            <a:ext cx="5008880" cy="38404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Autofit/>
          </a:bodyPr>
          <a:lstStyle/>
          <a:p>
            <a:pPr marL="177800" indent="-177800" algn="just">
              <a:buSzPct val="100000"/>
              <a:buChar char="•"/>
            </a:pPr>
            <a:r>
              <a:rPr lang="en-US" sz="1400" noProof="1"/>
              <a:t>Successfully detected vehicles using ultrasonic sensors. </a:t>
            </a:r>
          </a:p>
          <a:p>
            <a:pPr marL="177800" indent="-177800" algn="just">
              <a:buSzPct val="100000"/>
              <a:buChar char="•"/>
            </a:pPr>
            <a:endParaRPr lang="en-US" sz="1400" noProof="1"/>
          </a:p>
          <a:p>
            <a:pPr marL="177800" indent="-177800" algn="just">
              <a:buSzPct val="100000"/>
              <a:buChar char="•"/>
            </a:pPr>
            <a:r>
              <a:rPr lang="en-US" sz="1400" noProof="1"/>
              <a:t>ESP32-CAM modules captured and transmitted vehicle images </a:t>
            </a:r>
          </a:p>
          <a:p>
            <a:pPr algn="just">
              <a:buSzPct val="100000"/>
            </a:pPr>
            <a:endParaRPr lang="en-US" sz="1400" noProof="1"/>
          </a:p>
          <a:p>
            <a:pPr marL="177800" indent="-177800" algn="just">
              <a:buSzPct val="100000"/>
              <a:buChar char="•"/>
            </a:pPr>
            <a:r>
              <a:rPr lang="en-US" sz="1400" noProof="1"/>
              <a:t>YOLO26l achieved a </a:t>
            </a:r>
            <a:r>
              <a:rPr lang="en-US" sz="1400" b="1" noProof="1"/>
              <a:t>94.23% positive-sample detection rate</a:t>
            </a:r>
            <a:endParaRPr lang="en-US" sz="1400" noProof="1"/>
          </a:p>
          <a:p>
            <a:pPr marL="177800" indent="-177800" algn="just">
              <a:buSzPct val="100000"/>
              <a:buChar char="•"/>
            </a:pPr>
            <a:endParaRPr lang="en-US" sz="1400" noProof="1"/>
          </a:p>
          <a:p>
            <a:pPr marL="177800" indent="-177800" algn="just">
              <a:buSzPct val="100000"/>
              <a:buChar char="•"/>
            </a:pPr>
            <a:r>
              <a:rPr lang="en-US" sz="1400" noProof="1"/>
              <a:t>Average YOLO26l inference time was approximately </a:t>
            </a:r>
            <a:r>
              <a:rPr lang="en-US" sz="1400" b="1" noProof="1"/>
              <a:t>421.39 ms</a:t>
            </a:r>
            <a:r>
              <a:rPr lang="en-US" sz="1400" noProof="1"/>
              <a:t>. </a:t>
            </a:r>
          </a:p>
          <a:p>
            <a:pPr marL="177800" indent="-177800" algn="just">
              <a:buSzPct val="100000"/>
              <a:buChar char="•"/>
            </a:pPr>
            <a:endParaRPr lang="en-US" sz="1400" noProof="1"/>
          </a:p>
          <a:p>
            <a:pPr marL="177800" indent="-177800" algn="just">
              <a:buSzPct val="100000"/>
              <a:buChar char="•"/>
            </a:pPr>
            <a:r>
              <a:rPr lang="en-US" sz="1400" noProof="1"/>
              <a:t>The system automatically generated </a:t>
            </a:r>
            <a:r>
              <a:rPr lang="en-US" sz="1400" b="1" noProof="1"/>
              <a:t>OPEN/CLOSE</a:t>
            </a:r>
            <a:r>
              <a:rPr lang="en-US" sz="1400" noProof="1"/>
              <a:t> decisions</a:t>
            </a:r>
          </a:p>
          <a:p>
            <a:pPr marL="177800" indent="-177800" algn="just">
              <a:buSzPct val="100000"/>
              <a:buChar char="•"/>
            </a:pPr>
            <a:endParaRPr lang="en-US" sz="1400" noProof="1"/>
          </a:p>
          <a:p>
            <a:pPr marL="177800" indent="-177800" algn="just">
              <a:buSzPct val="100000"/>
              <a:buChar char="•"/>
            </a:pPr>
            <a:r>
              <a:rPr lang="en-US" sz="1400" noProof="1"/>
              <a:t>The servo barrier responded to backend decisions commands. </a:t>
            </a:r>
          </a:p>
          <a:p>
            <a:pPr marL="177800" indent="-177800" algn="just">
              <a:buSzPct val="100000"/>
              <a:buChar char="•"/>
            </a:pPr>
            <a:endParaRPr lang="en-US" sz="1400" noProof="1"/>
          </a:p>
          <a:p>
            <a:pPr marL="177800" indent="-177800" algn="just">
              <a:buSzPct val="100000"/>
              <a:buChar char="•"/>
            </a:pPr>
            <a:r>
              <a:rPr lang="en-US" sz="1400" noProof="1"/>
              <a:t>Entry, exit, gate status, detection results, confidence scores, and images were stored in the database. </a:t>
            </a:r>
          </a:p>
          <a:p>
            <a:pPr marL="177800" indent="-177800" algn="just">
              <a:buSzPct val="100000"/>
              <a:buChar char="•"/>
            </a:pPr>
            <a:endParaRPr lang="en-US" sz="1400" noProof="1"/>
          </a:p>
          <a:p>
            <a:pPr marL="177800" indent="-177800" algn="just">
              <a:buSzPct val="100000"/>
              <a:buChar char="•"/>
            </a:pPr>
            <a:r>
              <a:rPr lang="en-US" sz="1400" noProof="1"/>
              <a:t>The web dashboard displayed current occupancy, latest images, and parking-event history.</a:t>
            </a:r>
          </a:p>
        </p:txBody>
      </p:sp>
      <p:sp>
        <p:nvSpPr>
          <p:cNvPr id="7" name="Shape 5">
            <a:extLst>
              <a:ext uri="{FF2B5EF4-FFF2-40B4-BE49-F238E27FC236}">
                <a16:creationId xmlns:a16="http://schemas.microsoft.com/office/drawing/2014/main" id="{E9CB1336-00EC-066A-49DD-F47E1835A6CA}"/>
              </a:ext>
            </a:extLst>
          </p:cNvPr>
          <p:cNvSpPr/>
          <p:nvPr/>
        </p:nvSpPr>
        <p:spPr>
          <a:xfrm>
            <a:off x="5989320" y="1463040"/>
            <a:ext cx="0" cy="4526280"/>
          </a:xfrm>
          <a:prstGeom prst="line">
            <a:avLst/>
          </a:prstGeom>
          <a:noFill/>
          <a:ln w="12700">
            <a:solidFill>
              <a:srgbClr val="B9C2CF"/>
            </a:solidFill>
            <a:prstDash val="solid"/>
          </a:ln>
        </p:spPr>
        <p:txBody>
          <a:bodyPr/>
          <a:lstStyle/>
          <a:p>
            <a:endParaRPr lang="en-US" noProof="1"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D6BF2DD4-1660-6C9A-A827-5C5E9F34D2E1}"/>
              </a:ext>
            </a:extLst>
          </p:cNvPr>
          <p:cNvSpPr/>
          <p:nvPr/>
        </p:nvSpPr>
        <p:spPr>
          <a:xfrm>
            <a:off x="6355080" y="1417320"/>
            <a:ext cx="4892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800" b="1" noProof="1">
                <a:solidFill>
                  <a:schemeClr val="accent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Practical Benefits</a:t>
            </a:r>
            <a:endParaRPr lang="en-US" sz="1800" noProof="1">
              <a:solidFill>
                <a:schemeClr val="accent6"/>
              </a:solidFill>
            </a:endParaRPr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5BD360A4-5197-4CAF-703F-BBA9D7D6F824}"/>
              </a:ext>
            </a:extLst>
          </p:cNvPr>
          <p:cNvSpPr/>
          <p:nvPr/>
        </p:nvSpPr>
        <p:spPr>
          <a:xfrm>
            <a:off x="6355079" y="2249424"/>
            <a:ext cx="5506719" cy="351129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Autofit/>
          </a:bodyPr>
          <a:lstStyle/>
          <a:p>
            <a:pPr marL="177800" indent="-177800">
              <a:buSzPct val="100000"/>
              <a:buChar char="•"/>
            </a:pPr>
            <a:r>
              <a:rPr lang="en-US" sz="1400" b="1" noProof="1"/>
              <a:t>Reduced manual operation:</a:t>
            </a:r>
            <a:r>
              <a:rPr lang="en-US" sz="1400" noProof="1"/>
              <a:t> Vehicle detection and barrier control are automated. </a:t>
            </a:r>
          </a:p>
          <a:p>
            <a:pPr marL="177800" indent="-177800">
              <a:buSzPct val="100000"/>
              <a:buChar char="•"/>
            </a:pPr>
            <a:endParaRPr lang="en-US" sz="1400" noProof="1"/>
          </a:p>
          <a:p>
            <a:pPr marL="177800" indent="-177800">
              <a:buSzPct val="100000"/>
              <a:buChar char="•"/>
            </a:pPr>
            <a:r>
              <a:rPr lang="en-US" sz="1400" b="1" noProof="1"/>
              <a:t>Improved verification:</a:t>
            </a:r>
            <a:r>
              <a:rPr lang="en-US" sz="1400" noProof="1"/>
              <a:t> Camera and YOLO detection reduce reliance on ultrasonic sensing alone. </a:t>
            </a:r>
          </a:p>
          <a:p>
            <a:pPr marL="177800" indent="-177800">
              <a:buSzPct val="100000"/>
              <a:buChar char="•"/>
            </a:pPr>
            <a:endParaRPr lang="en-US" sz="1400" noProof="1"/>
          </a:p>
          <a:p>
            <a:pPr marL="177800" indent="-177800">
              <a:buSzPct val="100000"/>
              <a:buChar char="•"/>
            </a:pPr>
            <a:r>
              <a:rPr lang="en-US" sz="1400" b="1" noProof="1"/>
              <a:t>Centralized monitoring:</a:t>
            </a:r>
            <a:r>
              <a:rPr lang="en-US" sz="1400" noProof="1"/>
              <a:t> Administrators can view system status and parking events from one dashboard. </a:t>
            </a:r>
          </a:p>
          <a:p>
            <a:pPr marL="177800" indent="-177800">
              <a:buSzPct val="100000"/>
              <a:buChar char="•"/>
            </a:pPr>
            <a:endParaRPr lang="en-US" sz="1400" noProof="1"/>
          </a:p>
          <a:p>
            <a:pPr marL="177800" indent="-177800">
              <a:buSzPct val="100000"/>
              <a:buChar char="•"/>
            </a:pPr>
            <a:r>
              <a:rPr lang="en-US" sz="1400" b="1" noProof="1"/>
              <a:t>Visual evidence:</a:t>
            </a:r>
            <a:r>
              <a:rPr lang="en-US" sz="1400" noProof="1"/>
              <a:t> Captured images support event verification and later review.</a:t>
            </a:r>
          </a:p>
          <a:p>
            <a:pPr marL="177800" indent="-177800">
              <a:buSzPct val="100000"/>
              <a:buChar char="•"/>
            </a:pPr>
            <a:endParaRPr lang="en-US" sz="1400" noProof="1"/>
          </a:p>
          <a:p>
            <a:pPr marL="177800" indent="-177800">
              <a:buSzPct val="100000"/>
              <a:buChar char="•"/>
            </a:pPr>
            <a:r>
              <a:rPr lang="en-US" sz="1400" b="1" noProof="1"/>
              <a:t>Occupancy management:</a:t>
            </a:r>
            <a:r>
              <a:rPr lang="en-US" sz="1400" noProof="1"/>
              <a:t> The system tracks vehicles inside and prevents entry when capacity is full. </a:t>
            </a:r>
          </a:p>
          <a:p>
            <a:pPr marL="177800" indent="-177800">
              <a:buSzPct val="100000"/>
              <a:buChar char="•"/>
            </a:pPr>
            <a:endParaRPr lang="en-US" sz="1400" noProof="1"/>
          </a:p>
          <a:p>
            <a:pPr marL="177800" indent="-177800">
              <a:buSzPct val="100000"/>
              <a:buChar char="•"/>
            </a:pPr>
            <a:r>
              <a:rPr lang="en-US" sz="1400" b="1" noProof="1"/>
              <a:t>Modular architecture:</a:t>
            </a:r>
            <a:r>
              <a:rPr lang="en-US" sz="1400" noProof="1"/>
              <a:t> Entry and exit modules can be maintained or extended independently. </a:t>
            </a:r>
          </a:p>
          <a:p>
            <a:pPr marL="177800" indent="-177800">
              <a:buSzPct val="100000"/>
              <a:buChar char="•"/>
            </a:pPr>
            <a:endParaRPr lang="en-US" sz="1400" noProof="1"/>
          </a:p>
          <a:p>
            <a:pPr marL="177800" indent="-177800">
              <a:buSzPct val="100000"/>
              <a:buChar char="•"/>
            </a:pPr>
            <a:r>
              <a:rPr lang="en-US" sz="1400" b="1" noProof="1"/>
              <a:t>Low-cost implementation:</a:t>
            </a:r>
            <a:r>
              <a:rPr lang="en-US" sz="1400" noProof="1"/>
              <a:t> The prototype uses commonly available Arduino, ESP32-CAM, HC-SR04, and servo components.</a:t>
            </a:r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395286AD-6909-F611-6200-46C2A49FAF13}"/>
              </a:ext>
            </a:extLst>
          </p:cNvPr>
          <p:cNvSpPr/>
          <p:nvPr/>
        </p:nvSpPr>
        <p:spPr>
          <a:xfrm>
            <a:off x="502920" y="6547104"/>
            <a:ext cx="11155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/>
            <a:r>
              <a:rPr lang="en-US" sz="850" noProof="1">
                <a:solidFill>
                  <a:srgbClr val="7B849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Smart Parking System  |  16/20</a:t>
            </a:r>
            <a:endParaRPr lang="en-US" sz="850" noProof="1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FEFADE7D-D596-7288-4400-63E3A738280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34550" y="44112"/>
            <a:ext cx="2356685" cy="9205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622655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6EADC7-9411-56A0-9353-3948BD80CD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EF03BBB0-E0A5-9E49-A2D6-62AE9B59BEB1}"/>
              </a:ext>
            </a:extLst>
          </p:cNvPr>
          <p:cNvSpPr/>
          <p:nvPr/>
        </p:nvSpPr>
        <p:spPr>
          <a:xfrm>
            <a:off x="502920" y="320040"/>
            <a:ext cx="11155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r>
              <a:rPr lang="en-US" sz="3200" b="1" noProof="1"/>
              <a:t>AI Used</a:t>
            </a:r>
            <a:endParaRPr lang="en-US" sz="3000" b="1" noProof="1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4B9E3A98-978C-6540-910E-2604191BE676}"/>
              </a:ext>
            </a:extLst>
          </p:cNvPr>
          <p:cNvSpPr/>
          <p:nvPr/>
        </p:nvSpPr>
        <p:spPr>
          <a:xfrm>
            <a:off x="530352" y="777240"/>
            <a:ext cx="10972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noProof="1">
                <a:solidFill>
                  <a:srgbClr val="5B6472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AI support and human contribution</a:t>
            </a:r>
            <a:endParaRPr lang="en-US" sz="1250" noProof="1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7E8DBA5A-2514-8A06-7281-81D496CB9134}"/>
              </a:ext>
            </a:extLst>
          </p:cNvPr>
          <p:cNvSpPr/>
          <p:nvPr/>
        </p:nvSpPr>
        <p:spPr>
          <a:xfrm>
            <a:off x="502920" y="1078992"/>
            <a:ext cx="11155680" cy="0"/>
          </a:xfrm>
          <a:prstGeom prst="line">
            <a:avLst/>
          </a:prstGeom>
          <a:noFill/>
          <a:ln w="12700">
            <a:solidFill>
              <a:srgbClr val="B9C2CF"/>
            </a:solidFill>
            <a:prstDash val="solid"/>
          </a:ln>
        </p:spPr>
        <p:txBody>
          <a:bodyPr/>
          <a:lstStyle/>
          <a:p>
            <a:endParaRPr lang="en-US" noProof="1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C35DCCCA-9E9F-4DB7-23C5-0902560EDF3F}"/>
              </a:ext>
            </a:extLst>
          </p:cNvPr>
          <p:cNvSpPr/>
          <p:nvPr/>
        </p:nvSpPr>
        <p:spPr>
          <a:xfrm>
            <a:off x="731520" y="1417320"/>
            <a:ext cx="4892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rPr lang="en-US" b="1" noProof="1">
                <a:solidFill>
                  <a:schemeClr val="accent6"/>
                </a:solidFill>
              </a:rPr>
              <a:t>AI Support</a:t>
            </a:r>
          </a:p>
        </p:txBody>
      </p:sp>
      <p:sp>
        <p:nvSpPr>
          <p:cNvPr id="7" name="Shape 5">
            <a:extLst>
              <a:ext uri="{FF2B5EF4-FFF2-40B4-BE49-F238E27FC236}">
                <a16:creationId xmlns:a16="http://schemas.microsoft.com/office/drawing/2014/main" id="{9055FC5B-CE67-A944-3160-F10FAC4B8D87}"/>
              </a:ext>
            </a:extLst>
          </p:cNvPr>
          <p:cNvSpPr/>
          <p:nvPr/>
        </p:nvSpPr>
        <p:spPr>
          <a:xfrm>
            <a:off x="5989320" y="1463040"/>
            <a:ext cx="0" cy="4526280"/>
          </a:xfrm>
          <a:prstGeom prst="line">
            <a:avLst/>
          </a:prstGeom>
          <a:noFill/>
          <a:ln w="12700">
            <a:solidFill>
              <a:srgbClr val="B9C2CF"/>
            </a:solidFill>
            <a:prstDash val="solid"/>
          </a:ln>
        </p:spPr>
        <p:txBody>
          <a:bodyPr/>
          <a:lstStyle/>
          <a:p>
            <a:endParaRPr lang="en-US" noProof="1"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3504CD48-F019-CE4F-615E-7CA2C80CA3F8}"/>
              </a:ext>
            </a:extLst>
          </p:cNvPr>
          <p:cNvSpPr/>
          <p:nvPr/>
        </p:nvSpPr>
        <p:spPr>
          <a:xfrm>
            <a:off x="6355080" y="1417320"/>
            <a:ext cx="4892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800" b="1" noProof="1">
                <a:solidFill>
                  <a:srgbClr val="1F77B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Human verification</a:t>
            </a:r>
            <a:endParaRPr lang="en-US" sz="1800" noProof="1"/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5D89FEA9-F73F-7681-3B39-4CB491F9F218}"/>
              </a:ext>
            </a:extLst>
          </p:cNvPr>
          <p:cNvSpPr/>
          <p:nvPr/>
        </p:nvSpPr>
        <p:spPr>
          <a:xfrm>
            <a:off x="502920" y="6547104"/>
            <a:ext cx="11155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/>
            <a:r>
              <a:rPr lang="en-US" sz="850" noProof="1">
                <a:solidFill>
                  <a:srgbClr val="7B849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Smart Parking System  |  17/20</a:t>
            </a:r>
            <a:endParaRPr lang="en-US" sz="850" noProof="1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DA8057FB-6089-C354-7CE9-313AC198D9D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34550" y="44112"/>
            <a:ext cx="2356685" cy="920580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2BF9A104-6EBB-18CC-1FBB-92D31AF18080}"/>
              </a:ext>
            </a:extLst>
          </p:cNvPr>
          <p:cNvSpPr txBox="1"/>
          <p:nvPr/>
        </p:nvSpPr>
        <p:spPr>
          <a:xfrm>
            <a:off x="731520" y="2029967"/>
            <a:ext cx="5164454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noProof="1"/>
              <a:t>Assisted with literature review, system architecture, metric selection, coding, debugging, and result interpretation.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noProof="1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noProof="1"/>
              <a:t>Suggested YOLO model comparisons and improvements for Arduino, ESP32-CAM, backend, and dashboard modules.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DBE07EA1-C7AB-8D97-35AE-35C34B3B808E}"/>
              </a:ext>
            </a:extLst>
          </p:cNvPr>
          <p:cNvSpPr txBox="1"/>
          <p:nvPr/>
        </p:nvSpPr>
        <p:spPr>
          <a:xfrm>
            <a:off x="6355080" y="2029967"/>
            <a:ext cx="5370195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noProof="1"/>
              <a:t>Verified references and technical claims.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noProof="1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noProof="1"/>
              <a:t>Tested code and hardware changes on the real prototype.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noProof="1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noProof="1"/>
              <a:t>Recalculated experimental results.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noProof="1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noProof="1"/>
              <a:t>Removed unsupported AI-generated assumptions.</a:t>
            </a:r>
          </a:p>
        </p:txBody>
      </p:sp>
    </p:spTree>
    <p:extLst>
      <p:ext uri="{BB962C8B-B14F-4D97-AF65-F5344CB8AC3E}">
        <p14:creationId xmlns:p14="http://schemas.microsoft.com/office/powerpoint/2010/main" val="77786907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11155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3000" b="1" noProof="1">
                <a:solidFill>
                  <a:srgbClr val="0B1F3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Conclusion and Future Work</a:t>
            </a:r>
            <a:endParaRPr lang="en-US" sz="3000" noProof="1"/>
          </a:p>
        </p:txBody>
      </p:sp>
      <p:sp>
        <p:nvSpPr>
          <p:cNvPr id="3" name="Text 1"/>
          <p:cNvSpPr/>
          <p:nvPr/>
        </p:nvSpPr>
        <p:spPr>
          <a:xfrm>
            <a:off x="530352" y="777240"/>
            <a:ext cx="10972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noProof="1">
                <a:solidFill>
                  <a:srgbClr val="5B6472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Summary and possible improvements.</a:t>
            </a:r>
            <a:endParaRPr lang="en-US" sz="1250" noProof="1"/>
          </a:p>
        </p:txBody>
      </p:sp>
      <p:sp>
        <p:nvSpPr>
          <p:cNvPr id="4" name="Shape 2"/>
          <p:cNvSpPr/>
          <p:nvPr/>
        </p:nvSpPr>
        <p:spPr>
          <a:xfrm>
            <a:off x="502920" y="1078992"/>
            <a:ext cx="11155680" cy="0"/>
          </a:xfrm>
          <a:prstGeom prst="line">
            <a:avLst/>
          </a:prstGeom>
          <a:noFill/>
          <a:ln w="12700">
            <a:solidFill>
              <a:srgbClr val="B9C2CF"/>
            </a:solidFill>
            <a:prstDash val="solid"/>
          </a:ln>
        </p:spPr>
        <p:txBody>
          <a:bodyPr/>
          <a:lstStyle/>
          <a:p>
            <a:endParaRPr lang="en-US" noProof="1"/>
          </a:p>
        </p:txBody>
      </p:sp>
      <p:sp>
        <p:nvSpPr>
          <p:cNvPr id="5" name="Text 3"/>
          <p:cNvSpPr/>
          <p:nvPr/>
        </p:nvSpPr>
        <p:spPr>
          <a:xfrm>
            <a:off x="777240" y="1463040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800" b="1" noProof="1">
                <a:solidFill>
                  <a:srgbClr val="1F77B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Conclusion</a:t>
            </a:r>
            <a:endParaRPr lang="en-US" sz="1800" noProof="1"/>
          </a:p>
        </p:txBody>
      </p:sp>
      <p:sp>
        <p:nvSpPr>
          <p:cNvPr id="6" name="Text 4"/>
          <p:cNvSpPr/>
          <p:nvPr/>
        </p:nvSpPr>
        <p:spPr>
          <a:xfrm>
            <a:off x="777240" y="2208276"/>
            <a:ext cx="5120640" cy="18288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Autofit/>
          </a:bodyPr>
          <a:lstStyle/>
          <a:p>
            <a:pPr marL="177800" indent="-177800">
              <a:buSzPct val="100000"/>
              <a:buChar char="•"/>
            </a:pPr>
            <a:r>
              <a:rPr lang="en-US" sz="1400" noProof="1"/>
              <a:t>Developed a low-cost smart parking prototype. </a:t>
            </a:r>
          </a:p>
          <a:p>
            <a:pPr marL="177800" indent="-177800">
              <a:buSzPct val="100000"/>
              <a:buChar char="•"/>
            </a:pPr>
            <a:endParaRPr lang="en-US" sz="1400" noProof="1"/>
          </a:p>
          <a:p>
            <a:pPr marL="177800" indent="-177800">
              <a:buSzPct val="100000"/>
              <a:buChar char="•"/>
            </a:pPr>
            <a:r>
              <a:rPr lang="en-US" sz="1400" noProof="1"/>
              <a:t>Integrated vehicle detection, camera verification, barrier control, occupancy tracking, database storage, and web monitoring. </a:t>
            </a:r>
          </a:p>
          <a:p>
            <a:pPr marL="177800" indent="-177800">
              <a:buSzPct val="100000"/>
              <a:buChar char="•"/>
            </a:pPr>
            <a:endParaRPr lang="en-US" sz="1400" noProof="1"/>
          </a:p>
          <a:p>
            <a:pPr marL="177800" indent="-177800">
              <a:buSzPct val="100000"/>
              <a:buChar char="•"/>
            </a:pPr>
            <a:r>
              <a:rPr lang="en-US" sz="1400" noProof="1"/>
              <a:t>The modular architecture allowed the hardware and software components to operate as one complete system.</a:t>
            </a:r>
          </a:p>
          <a:p>
            <a:pPr marL="177800" indent="-177800">
              <a:buSzPct val="100000"/>
              <a:buChar char="•"/>
            </a:pPr>
            <a:endParaRPr lang="en-US" sz="1400" noProof="1"/>
          </a:p>
          <a:p>
            <a:pPr marL="177800" indent="-177800">
              <a:buSzPct val="100000"/>
              <a:buChar char="•"/>
            </a:pPr>
            <a:r>
              <a:rPr lang="en-US" sz="1400" noProof="1"/>
              <a:t> The system reduced manual operation and improved parking-event monitoring.</a:t>
            </a:r>
          </a:p>
        </p:txBody>
      </p:sp>
      <p:sp>
        <p:nvSpPr>
          <p:cNvPr id="7" name="Shape 5"/>
          <p:cNvSpPr/>
          <p:nvPr/>
        </p:nvSpPr>
        <p:spPr>
          <a:xfrm>
            <a:off x="6126480" y="1417320"/>
            <a:ext cx="0" cy="4251960"/>
          </a:xfrm>
          <a:prstGeom prst="line">
            <a:avLst/>
          </a:prstGeom>
          <a:noFill/>
          <a:ln w="12700">
            <a:solidFill>
              <a:srgbClr val="B9C2CF"/>
            </a:solidFill>
            <a:prstDash val="solid"/>
          </a:ln>
        </p:spPr>
        <p:txBody>
          <a:bodyPr/>
          <a:lstStyle/>
          <a:p>
            <a:endParaRPr lang="en-US" noProof="1"/>
          </a:p>
        </p:txBody>
      </p:sp>
      <p:sp>
        <p:nvSpPr>
          <p:cNvPr id="8" name="Text 6"/>
          <p:cNvSpPr/>
          <p:nvPr/>
        </p:nvSpPr>
        <p:spPr>
          <a:xfrm>
            <a:off x="6537960" y="1463040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800" b="1" noProof="1">
                <a:solidFill>
                  <a:srgbClr val="2E7D3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Future Work</a:t>
            </a:r>
            <a:endParaRPr lang="en-US" sz="1800" noProof="1"/>
          </a:p>
        </p:txBody>
      </p:sp>
      <p:sp>
        <p:nvSpPr>
          <p:cNvPr id="9" name="Text 7"/>
          <p:cNvSpPr/>
          <p:nvPr/>
        </p:nvSpPr>
        <p:spPr>
          <a:xfrm>
            <a:off x="6537960" y="2491741"/>
            <a:ext cx="4754880" cy="21945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Autofit/>
          </a:bodyPr>
          <a:lstStyle/>
          <a:p>
            <a:pPr marL="177800" indent="-177800">
              <a:buSzPct val="100000"/>
              <a:buChar char="•"/>
            </a:pPr>
            <a:r>
              <a:rPr lang="en-US" sz="1600" noProof="1"/>
              <a:t>Add license plate recognition. </a:t>
            </a:r>
          </a:p>
          <a:p>
            <a:pPr marL="177800" indent="-177800">
              <a:buSzPct val="100000"/>
              <a:buChar char="•"/>
            </a:pPr>
            <a:endParaRPr lang="en-US" sz="1600" noProof="1"/>
          </a:p>
          <a:p>
            <a:pPr marL="177800" indent="-177800">
              <a:buSzPct val="100000"/>
              <a:buChar char="•"/>
            </a:pPr>
            <a:r>
              <a:rPr lang="en-US" sz="1600" noProof="1"/>
              <a:t>Improve camera quality and low-light performance. </a:t>
            </a:r>
          </a:p>
          <a:p>
            <a:pPr marL="177800" indent="-177800">
              <a:buSzPct val="100000"/>
              <a:buChar char="•"/>
            </a:pPr>
            <a:endParaRPr lang="en-US" sz="1600" noProof="1"/>
          </a:p>
          <a:p>
            <a:pPr marL="177800" indent="-177800">
              <a:buSzPct val="100000"/>
              <a:buChar char="•"/>
            </a:pPr>
            <a:r>
              <a:rPr lang="en-US" sz="1600" noProof="1"/>
              <a:t>Reduce YOLO inference and gate response time. </a:t>
            </a:r>
          </a:p>
          <a:p>
            <a:pPr marL="177800" indent="-177800">
              <a:buSzPct val="100000"/>
              <a:buChar char="•"/>
            </a:pPr>
            <a:endParaRPr lang="en-US" sz="1600" noProof="1"/>
          </a:p>
          <a:p>
            <a:pPr marL="177800" indent="-177800">
              <a:buSzPct val="100000"/>
              <a:buChar char="•"/>
            </a:pPr>
            <a:r>
              <a:rPr lang="en-US" sz="1600" noProof="1"/>
              <a:t>Improve communication and offline reliability. </a:t>
            </a:r>
          </a:p>
          <a:p>
            <a:pPr marL="177800" indent="-177800">
              <a:buSzPct val="100000"/>
              <a:buChar char="•"/>
            </a:pPr>
            <a:endParaRPr lang="en-US" sz="1600" noProof="1"/>
          </a:p>
          <a:p>
            <a:pPr marL="177800" indent="-177800">
              <a:buSzPct val="100000"/>
              <a:buChar char="•"/>
            </a:pPr>
            <a:r>
              <a:rPr lang="en-US" sz="1600" noProof="1"/>
              <a:t>Test with more vehicles, objects, lighting conditions, and camera angles.</a:t>
            </a:r>
          </a:p>
          <a:p>
            <a:pPr marL="177800" indent="-177800">
              <a:buSzPct val="100000"/>
              <a:buChar char="•"/>
            </a:pPr>
            <a:endParaRPr lang="en-US" sz="1600" noProof="1"/>
          </a:p>
          <a:p>
            <a:pPr marL="177800" indent="-177800">
              <a:buSzPct val="100000"/>
              <a:buChar char="•"/>
            </a:pPr>
            <a:r>
              <a:rPr lang="en-US" sz="1600" noProof="1"/>
              <a:t> Extend the system with slot management, reservations, and payment.</a:t>
            </a:r>
          </a:p>
        </p:txBody>
      </p:sp>
      <p:sp>
        <p:nvSpPr>
          <p:cNvPr id="10" name="Text 8"/>
          <p:cNvSpPr/>
          <p:nvPr/>
        </p:nvSpPr>
        <p:spPr>
          <a:xfrm>
            <a:off x="777240" y="5742432"/>
            <a:ext cx="10607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85000" lnSpcReduction="10000"/>
          </a:bodyPr>
          <a:lstStyle/>
          <a:p>
            <a:pPr marL="0" indent="0" algn="ctr">
              <a:buNone/>
            </a:pPr>
            <a:r>
              <a:rPr lang="en-US" sz="1550" b="1" noProof="1">
                <a:solidFill>
                  <a:srgbClr val="0B1F3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The proposed system provides a </a:t>
            </a:r>
            <a:r>
              <a:rPr lang="en-US" sz="1550" b="1" noProof="1">
                <a:solidFill>
                  <a:srgbClr val="FF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practical foundation</a:t>
            </a:r>
            <a:r>
              <a:rPr lang="en-US" sz="1550" b="1" noProof="1">
                <a:solidFill>
                  <a:srgbClr val="0B1F3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for smart parking automation and future AI-based expansion.</a:t>
            </a:r>
            <a:endParaRPr lang="en-US" sz="1550" noProof="1"/>
          </a:p>
        </p:txBody>
      </p:sp>
      <p:sp>
        <p:nvSpPr>
          <p:cNvPr id="11" name="Text 9"/>
          <p:cNvSpPr/>
          <p:nvPr/>
        </p:nvSpPr>
        <p:spPr>
          <a:xfrm>
            <a:off x="502920" y="6547104"/>
            <a:ext cx="11155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/>
            <a:r>
              <a:rPr lang="en-US" sz="850" noProof="1">
                <a:solidFill>
                  <a:srgbClr val="7B849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Smart Parking System  |  18/20</a:t>
            </a:r>
            <a:endParaRPr lang="en-US" sz="850" noProof="1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86CECF1D-79CA-F355-5E2B-0B0DF4C6F8D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34550" y="44112"/>
            <a:ext cx="2356685" cy="92058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9BA262-3486-6711-E79D-6C0B34B254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345091F1-588D-EDD0-A8A5-705F4775E96E}"/>
              </a:ext>
            </a:extLst>
          </p:cNvPr>
          <p:cNvSpPr/>
          <p:nvPr/>
        </p:nvSpPr>
        <p:spPr>
          <a:xfrm>
            <a:off x="502920" y="320040"/>
            <a:ext cx="11155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3000" b="1" noProof="1">
                <a:solidFill>
                  <a:srgbClr val="0B1F3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Complete hardware prototype </a:t>
            </a:r>
            <a:endParaRPr lang="en-US" sz="3000" noProof="1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5F31122F-35B4-BA7E-E9C0-67C3A4B7612C}"/>
              </a:ext>
            </a:extLst>
          </p:cNvPr>
          <p:cNvSpPr/>
          <p:nvPr/>
        </p:nvSpPr>
        <p:spPr>
          <a:xfrm>
            <a:off x="530352" y="777240"/>
            <a:ext cx="10972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50" noProof="1">
                <a:solidFill>
                  <a:srgbClr val="5B6472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Complete wiring and functional prototype </a:t>
            </a:r>
            <a:endParaRPr lang="en-US" sz="1250" noProof="1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E7705E8B-BFC1-8322-5AF8-1A4FC49DDEB2}"/>
              </a:ext>
            </a:extLst>
          </p:cNvPr>
          <p:cNvSpPr/>
          <p:nvPr/>
        </p:nvSpPr>
        <p:spPr>
          <a:xfrm>
            <a:off x="502920" y="1078992"/>
            <a:ext cx="11155680" cy="0"/>
          </a:xfrm>
          <a:prstGeom prst="line">
            <a:avLst/>
          </a:prstGeom>
          <a:noFill/>
          <a:ln w="12700">
            <a:solidFill>
              <a:srgbClr val="B9C2CF"/>
            </a:solidFill>
            <a:prstDash val="solid"/>
          </a:ln>
        </p:spPr>
        <p:txBody>
          <a:bodyPr/>
          <a:lstStyle/>
          <a:p>
            <a:endParaRPr lang="en-US" noProof="1"/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97899FD2-D77A-7039-F78E-8208F7CED933}"/>
              </a:ext>
            </a:extLst>
          </p:cNvPr>
          <p:cNvSpPr/>
          <p:nvPr/>
        </p:nvSpPr>
        <p:spPr>
          <a:xfrm>
            <a:off x="731520" y="1325880"/>
            <a:ext cx="10744200" cy="4297680"/>
          </a:xfrm>
          <a:prstGeom prst="rect">
            <a:avLst/>
          </a:prstGeom>
          <a:solidFill>
            <a:srgbClr val="FFFFFF">
              <a:alpha val="0"/>
            </a:srgbClr>
          </a:solidFill>
          <a:ln w="19050">
            <a:solidFill>
              <a:srgbClr val="1F77B4"/>
            </a:solidFill>
            <a:prstDash val="solid"/>
          </a:ln>
        </p:spPr>
        <p:txBody>
          <a:bodyPr/>
          <a:lstStyle/>
          <a:p>
            <a:endParaRPr lang="en-US" noProof="1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87E11D54-B39B-D817-C75C-E79B5437C515}"/>
              </a:ext>
            </a:extLst>
          </p:cNvPr>
          <p:cNvSpPr/>
          <p:nvPr/>
        </p:nvSpPr>
        <p:spPr>
          <a:xfrm>
            <a:off x="868680" y="3140964"/>
            <a:ext cx="10469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noProof="1">
                <a:solidFill>
                  <a:srgbClr val="1F77B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INSERT WEB DASHBOARD SCREENSHOT / MOCKUP</a:t>
            </a:r>
            <a:endParaRPr lang="en-US" sz="1600" noProof="1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15B89FE4-AEF4-D370-8203-DD09FAB188F0}"/>
              </a:ext>
            </a:extLst>
          </p:cNvPr>
          <p:cNvSpPr/>
          <p:nvPr/>
        </p:nvSpPr>
        <p:spPr>
          <a:xfrm>
            <a:off x="914400" y="3525012"/>
            <a:ext cx="10378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noProof="1">
                <a:solidFill>
                  <a:srgbClr val="5B6472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Insert the final dashboard image, or a mockup if the implementation is not finished.</a:t>
            </a:r>
            <a:endParaRPr lang="en-US" sz="1050" noProof="1"/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66191108-3FE1-BBCA-9E81-E9E7753758FA}"/>
              </a:ext>
            </a:extLst>
          </p:cNvPr>
          <p:cNvSpPr/>
          <p:nvPr/>
        </p:nvSpPr>
        <p:spPr>
          <a:xfrm>
            <a:off x="530352" y="6547104"/>
            <a:ext cx="11155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/>
            <a:r>
              <a:rPr lang="en-US" sz="850" noProof="1">
                <a:solidFill>
                  <a:srgbClr val="7B849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Smart Parking System  |  19/20</a:t>
            </a:r>
            <a:endParaRPr lang="en-US" sz="850" noProof="1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6A2A7D17-02D6-1087-CB48-6643D409C56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3440" y="1426465"/>
            <a:ext cx="10485120" cy="4105655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4F2EC055-109D-FEA3-96F7-BF3B3CFB4262}"/>
              </a:ext>
            </a:extLst>
          </p:cNvPr>
          <p:cNvSpPr txBox="1"/>
          <p:nvPr/>
        </p:nvSpPr>
        <p:spPr>
          <a:xfrm>
            <a:off x="600075" y="5765792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b="1" noProof="1">
                <a:solidFill>
                  <a:srgbClr val="1F77B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Prototype</a:t>
            </a:r>
            <a:r>
              <a:rPr lang="en-US" sz="1800" b="1" noProof="1">
                <a:solidFill>
                  <a:srgbClr val="1F77B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includes</a:t>
            </a:r>
            <a:endParaRPr lang="en-US" sz="1800" noProof="1"/>
          </a:p>
        </p:txBody>
      </p:sp>
      <p:sp>
        <p:nvSpPr>
          <p:cNvPr id="17" name="Text 7">
            <a:extLst>
              <a:ext uri="{FF2B5EF4-FFF2-40B4-BE49-F238E27FC236}">
                <a16:creationId xmlns:a16="http://schemas.microsoft.com/office/drawing/2014/main" id="{57A45F9E-F279-1CD7-13C1-DF965F0EED4B}"/>
              </a:ext>
            </a:extLst>
          </p:cNvPr>
          <p:cNvSpPr/>
          <p:nvPr/>
        </p:nvSpPr>
        <p:spPr>
          <a:xfrm>
            <a:off x="3429000" y="5779008"/>
            <a:ext cx="7909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50" noProof="1">
                <a:solidFill>
                  <a:srgbClr val="1A1A1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Master module, Slave modules + ESP32-Cam</a:t>
            </a:r>
            <a:endParaRPr lang="en-US" sz="1450" noProof="1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76993B82-F066-1210-1D73-91EC1CF1DE5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34550" y="44112"/>
            <a:ext cx="2356685" cy="9205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8587477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771D10-D5D5-B790-E3EE-FEC7041C29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F173177D-045F-4A9E-3176-61E18967A11E}"/>
              </a:ext>
            </a:extLst>
          </p:cNvPr>
          <p:cNvSpPr/>
          <p:nvPr/>
        </p:nvSpPr>
        <p:spPr>
          <a:xfrm>
            <a:off x="502920" y="320040"/>
            <a:ext cx="11155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3000" b="1" noProof="1">
                <a:solidFill>
                  <a:srgbClr val="0B1F3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Demonstration</a:t>
            </a:r>
            <a:endParaRPr lang="en-US" sz="3000" noProof="1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7162ACA6-4282-000B-6EDF-715523D60D18}"/>
              </a:ext>
            </a:extLst>
          </p:cNvPr>
          <p:cNvSpPr/>
          <p:nvPr/>
        </p:nvSpPr>
        <p:spPr>
          <a:xfrm>
            <a:off x="530352" y="777240"/>
            <a:ext cx="10972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50" noProof="1">
                <a:solidFill>
                  <a:srgbClr val="5B6472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Full function demonstration</a:t>
            </a:r>
            <a:endParaRPr lang="en-US" sz="1250" noProof="1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FB52FE3E-949C-EE64-F0ED-19A906D50B9B}"/>
              </a:ext>
            </a:extLst>
          </p:cNvPr>
          <p:cNvSpPr/>
          <p:nvPr/>
        </p:nvSpPr>
        <p:spPr>
          <a:xfrm>
            <a:off x="502920" y="1078992"/>
            <a:ext cx="11155680" cy="0"/>
          </a:xfrm>
          <a:prstGeom prst="line">
            <a:avLst/>
          </a:prstGeom>
          <a:noFill/>
          <a:ln w="12700">
            <a:solidFill>
              <a:srgbClr val="B9C2CF"/>
            </a:solidFill>
            <a:prstDash val="solid"/>
          </a:ln>
        </p:spPr>
        <p:txBody>
          <a:bodyPr/>
          <a:lstStyle/>
          <a:p>
            <a:endParaRPr lang="en-US" noProof="1"/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E5E503FA-70CF-98EA-E818-4A881628FA29}"/>
              </a:ext>
            </a:extLst>
          </p:cNvPr>
          <p:cNvSpPr/>
          <p:nvPr/>
        </p:nvSpPr>
        <p:spPr>
          <a:xfrm>
            <a:off x="530352" y="6547104"/>
            <a:ext cx="11155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/>
            <a:r>
              <a:rPr lang="en-US" sz="850" noProof="1">
                <a:solidFill>
                  <a:srgbClr val="7B849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Smart Parking System  |  20/20</a:t>
            </a:r>
            <a:endParaRPr lang="en-US" sz="850" noProof="1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2BEFB98E-F211-8B00-3232-77F3866A487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34550" y="44112"/>
            <a:ext cx="2356685" cy="920580"/>
          </a:xfrm>
          <a:prstGeom prst="rect">
            <a:avLst/>
          </a:prstGeom>
        </p:spPr>
      </p:pic>
      <p:grpSp>
        <p:nvGrpSpPr>
          <p:cNvPr id="23" name="Group 22">
            <a:extLst>
              <a:ext uri="{FF2B5EF4-FFF2-40B4-BE49-F238E27FC236}">
                <a16:creationId xmlns:a16="http://schemas.microsoft.com/office/drawing/2014/main" id="{E28058F6-0509-6152-F649-B768E568CA81}"/>
              </a:ext>
            </a:extLst>
          </p:cNvPr>
          <p:cNvGrpSpPr/>
          <p:nvPr/>
        </p:nvGrpSpPr>
        <p:grpSpPr>
          <a:xfrm>
            <a:off x="723900" y="1300231"/>
            <a:ext cx="6096000" cy="3258731"/>
            <a:chOff x="400050" y="1300231"/>
            <a:chExt cx="6096000" cy="3258731"/>
          </a:xfrm>
        </p:grpSpPr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6A04EC33-072C-4ED9-B9AF-1BF672F9F0F0}"/>
                </a:ext>
              </a:extLst>
            </p:cNvPr>
            <p:cNvSpPr txBox="1"/>
            <p:nvPr/>
          </p:nvSpPr>
          <p:spPr>
            <a:xfrm>
              <a:off x="400050" y="1300231"/>
              <a:ext cx="6096000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indent="0">
                <a:buNone/>
              </a:pPr>
              <a:r>
                <a:rPr lang="en-US" b="1" noProof="1">
                  <a:solidFill>
                    <a:srgbClr val="1F77B4"/>
                  </a:solidFill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Demo flow</a:t>
              </a:r>
              <a:endParaRPr lang="en-US" sz="1800" noProof="1"/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830E6BB4-3996-2CC5-3176-958E8985D959}"/>
                </a:ext>
              </a:extLst>
            </p:cNvPr>
            <p:cNvSpPr txBox="1"/>
            <p:nvPr/>
          </p:nvSpPr>
          <p:spPr>
            <a:xfrm>
              <a:off x="502920" y="2527637"/>
              <a:ext cx="4412625" cy="203132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342900" indent="-342900">
                <a:buFont typeface="+mj-lt"/>
                <a:buAutoNum type="arabicPeriod"/>
              </a:pPr>
              <a:r>
                <a:rPr lang="en-US" noProof="1"/>
                <a:t>Vehicle detected  </a:t>
              </a:r>
            </a:p>
            <a:p>
              <a:pPr marL="342900" indent="-342900">
                <a:buFont typeface="+mj-lt"/>
                <a:buAutoNum type="arabicPeriod"/>
              </a:pPr>
              <a:r>
                <a:rPr lang="en-US" noProof="1"/>
                <a:t>Image captured  </a:t>
              </a:r>
            </a:p>
            <a:p>
              <a:pPr marL="342900" indent="-342900">
                <a:buFont typeface="+mj-lt"/>
                <a:buAutoNum type="arabicPeriod"/>
              </a:pPr>
              <a:r>
                <a:rPr lang="en-US" noProof="1"/>
                <a:t>YOLO verification  </a:t>
              </a:r>
            </a:p>
            <a:p>
              <a:pPr marL="342900" indent="-342900">
                <a:buFont typeface="+mj-lt"/>
                <a:buAutoNum type="arabicPeriod"/>
              </a:pPr>
              <a:r>
                <a:rPr lang="en-US" noProof="1"/>
                <a:t>Gate decision </a:t>
              </a:r>
            </a:p>
            <a:p>
              <a:pPr marL="342900" indent="-342900">
                <a:buFont typeface="+mj-lt"/>
                <a:buAutoNum type="arabicPeriod"/>
              </a:pPr>
              <a:r>
                <a:rPr lang="en-US" noProof="1"/>
                <a:t>Barrier control </a:t>
              </a:r>
            </a:p>
            <a:p>
              <a:pPr marL="342900" indent="-342900">
                <a:buFont typeface="+mj-lt"/>
                <a:buAutoNum type="arabicPeriod"/>
              </a:pPr>
              <a:r>
                <a:rPr lang="en-US" noProof="1"/>
                <a:t>Database update </a:t>
              </a:r>
            </a:p>
            <a:p>
              <a:pPr marL="342900" indent="-342900">
                <a:buFont typeface="+mj-lt"/>
                <a:buAutoNum type="arabicPeriod"/>
              </a:pPr>
              <a:r>
                <a:rPr lang="en-US" noProof="1"/>
                <a:t>Dashboard display</a:t>
              </a:r>
            </a:p>
          </p:txBody>
        </p:sp>
      </p:grpSp>
      <p:grpSp>
        <p:nvGrpSpPr>
          <p:cNvPr id="20" name="Group 19">
            <a:extLst>
              <a:ext uri="{FF2B5EF4-FFF2-40B4-BE49-F238E27FC236}">
                <a16:creationId xmlns:a16="http://schemas.microsoft.com/office/drawing/2014/main" id="{502C7A0A-A6D2-0E06-9C0E-34831AF0B25C}"/>
              </a:ext>
            </a:extLst>
          </p:cNvPr>
          <p:cNvGrpSpPr/>
          <p:nvPr/>
        </p:nvGrpSpPr>
        <p:grpSpPr>
          <a:xfrm>
            <a:off x="6231916" y="1300231"/>
            <a:ext cx="5664097" cy="3258731"/>
            <a:chOff x="502920" y="3694200"/>
            <a:chExt cx="9850958" cy="3258731"/>
          </a:xfrm>
        </p:grpSpPr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CA50E960-E8B0-3302-C02A-0D39C40557DE}"/>
                </a:ext>
              </a:extLst>
            </p:cNvPr>
            <p:cNvSpPr txBox="1"/>
            <p:nvPr/>
          </p:nvSpPr>
          <p:spPr>
            <a:xfrm>
              <a:off x="530351" y="4921606"/>
              <a:ext cx="9823527" cy="203132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342900" indent="-342900">
                <a:buFont typeface="+mj-lt"/>
                <a:buAutoNum type="arabicPeriod"/>
              </a:pPr>
              <a:r>
                <a:rPr lang="en-US" noProof="1"/>
                <a:t> Detect the vehicle at the entry or exit gate. </a:t>
              </a:r>
            </a:p>
            <a:p>
              <a:pPr marL="342900" indent="-342900">
                <a:buFont typeface="+mj-lt"/>
                <a:buAutoNum type="arabicPeriod"/>
              </a:pPr>
              <a:r>
                <a:rPr lang="en-US" noProof="1"/>
                <a:t> Capture and process the vehicle image. </a:t>
              </a:r>
            </a:p>
            <a:p>
              <a:pPr marL="342900" indent="-342900">
                <a:buFont typeface="+mj-lt"/>
                <a:buAutoNum type="arabicPeriod"/>
              </a:pPr>
              <a:r>
                <a:rPr lang="en-US" noProof="1"/>
                <a:t> Open or close the barrier based on the detection result. </a:t>
              </a:r>
            </a:p>
            <a:p>
              <a:pPr marL="342900" indent="-342900">
                <a:buFont typeface="+mj-lt"/>
                <a:buAutoNum type="arabicPeriod"/>
              </a:pPr>
              <a:r>
                <a:rPr lang="en-US" noProof="1"/>
                <a:t> Update parking occupancy. </a:t>
              </a:r>
            </a:p>
            <a:p>
              <a:pPr marL="342900" indent="-342900">
                <a:buFont typeface="+mj-lt"/>
                <a:buAutoNum type="arabicPeriod"/>
              </a:pPr>
              <a:r>
                <a:rPr lang="en-US" noProof="1"/>
                <a:t> Store and display the latest event on the dashboard.</a:t>
              </a:r>
            </a:p>
          </p:txBody>
        </p: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DA94EFE4-31A6-462A-96BB-7AF8A38D42E1}"/>
                </a:ext>
              </a:extLst>
            </p:cNvPr>
            <p:cNvSpPr txBox="1"/>
            <p:nvPr/>
          </p:nvSpPr>
          <p:spPr>
            <a:xfrm>
              <a:off x="502920" y="3694200"/>
              <a:ext cx="6096000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indent="0">
                <a:buNone/>
              </a:pPr>
              <a:r>
                <a:rPr lang="en-US" b="1" noProof="1">
                  <a:solidFill>
                    <a:schemeClr val="accent6"/>
                  </a:solidFill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Demo result expectation</a:t>
              </a:r>
              <a:endParaRPr lang="en-US" sz="1800" noProof="1">
                <a:solidFill>
                  <a:schemeClr val="accent6"/>
                </a:solidFill>
              </a:endParaRPr>
            </a:p>
          </p:txBody>
        </p:sp>
      </p:grpSp>
      <p:sp>
        <p:nvSpPr>
          <p:cNvPr id="22" name="Shape 5">
            <a:extLst>
              <a:ext uri="{FF2B5EF4-FFF2-40B4-BE49-F238E27FC236}">
                <a16:creationId xmlns:a16="http://schemas.microsoft.com/office/drawing/2014/main" id="{EEBEA62F-BDB0-A585-55EA-EFE7501033C2}"/>
              </a:ext>
            </a:extLst>
          </p:cNvPr>
          <p:cNvSpPr/>
          <p:nvPr/>
        </p:nvSpPr>
        <p:spPr>
          <a:xfrm>
            <a:off x="6126480" y="1417320"/>
            <a:ext cx="0" cy="4251960"/>
          </a:xfrm>
          <a:prstGeom prst="line">
            <a:avLst/>
          </a:prstGeom>
          <a:noFill/>
          <a:ln w="12700">
            <a:solidFill>
              <a:srgbClr val="B9C2CF"/>
            </a:solidFill>
            <a:prstDash val="solid"/>
          </a:ln>
        </p:spPr>
        <p:txBody>
          <a:bodyPr/>
          <a:lstStyle/>
          <a:p>
            <a:endParaRPr lang="en-US" noProof="1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98725116-9E7E-88DF-1235-021D4F6C8645}"/>
              </a:ext>
            </a:extLst>
          </p:cNvPr>
          <p:cNvSpPr txBox="1"/>
          <p:nvPr/>
        </p:nvSpPr>
        <p:spPr>
          <a:xfrm>
            <a:off x="599363" y="5787257"/>
            <a:ext cx="1129665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b="1" noProof="1"/>
              <a:t>The demonstration shows the complete operation from vehicle detection to automatic gate control and web monitoring.</a:t>
            </a:r>
          </a:p>
        </p:txBody>
      </p:sp>
    </p:spTree>
    <p:extLst>
      <p:ext uri="{BB962C8B-B14F-4D97-AF65-F5344CB8AC3E}">
        <p14:creationId xmlns:p14="http://schemas.microsoft.com/office/powerpoint/2010/main" val="43277323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1F4117F-02B5-5E5E-976B-55AAF97F24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2B406549-B99B-54C4-EF00-FF3D05EA2616}"/>
              </a:ext>
            </a:extLst>
          </p:cNvPr>
          <p:cNvSpPr/>
          <p:nvPr/>
        </p:nvSpPr>
        <p:spPr>
          <a:xfrm>
            <a:off x="685800" y="1417320"/>
            <a:ext cx="58521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3600" b="1" noProof="1">
                <a:solidFill>
                  <a:srgbClr val="0B1F3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Thanks for listening</a:t>
            </a:r>
          </a:p>
          <a:p>
            <a:pPr marL="0" indent="0" algn="ctr">
              <a:buNone/>
            </a:pPr>
            <a:endParaRPr lang="en-US" sz="3600" b="1" noProof="1">
              <a:solidFill>
                <a:srgbClr val="0B1F3A"/>
              </a:solidFill>
              <a:latin typeface="Montserrat" pitchFamily="34" charset="0"/>
              <a:ea typeface="Montserrat" pitchFamily="34" charset="-122"/>
              <a:cs typeface="Montserrat" pitchFamily="34" charset="-120"/>
            </a:endParaRPr>
          </a:p>
          <a:p>
            <a:pPr marL="0" indent="0" algn="ctr">
              <a:buNone/>
            </a:pPr>
            <a:r>
              <a:rPr lang="en-US" sz="3600" b="1" noProof="1">
                <a:solidFill>
                  <a:srgbClr val="0B1F3A"/>
                </a:solidFill>
                <a:latin typeface="Montserrat" pitchFamily="34" charset="0"/>
              </a:rPr>
              <a:t>Q&amp;A</a:t>
            </a:r>
            <a:endParaRPr lang="en-US" sz="3600" noProof="1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FC29804E-007E-647E-EA39-FE6000D53D0B}"/>
              </a:ext>
            </a:extLst>
          </p:cNvPr>
          <p:cNvSpPr/>
          <p:nvPr/>
        </p:nvSpPr>
        <p:spPr>
          <a:xfrm>
            <a:off x="685800" y="3685049"/>
            <a:ext cx="5303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noProof="1">
                <a:solidFill>
                  <a:srgbClr val="1F77B4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IoT102 Project – Group 7</a:t>
            </a:r>
            <a:endParaRPr lang="en-US" sz="2000" noProof="1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D5322191-609C-5CCC-012B-1776BB662BB0}"/>
              </a:ext>
            </a:extLst>
          </p:cNvPr>
          <p:cNvSpPr/>
          <p:nvPr/>
        </p:nvSpPr>
        <p:spPr>
          <a:xfrm>
            <a:off x="713232" y="5532120"/>
            <a:ext cx="5715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noProof="1">
                <a:solidFill>
                  <a:srgbClr val="5B6472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Members: </a:t>
            </a:r>
            <a:r>
              <a:rPr lang="en-US" sz="1250" b="1" noProof="1">
                <a:solidFill>
                  <a:srgbClr val="5B6472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Nguyễn Sỹ Minh Mẫn, Đỗ Thành Triết, Trần Đăng Khoa, Bùi Đình Long</a:t>
            </a:r>
            <a:endParaRPr lang="en-US" sz="1250" b="1" noProof="1"/>
          </a:p>
          <a:p>
            <a:r>
              <a:rPr lang="en-US" sz="1250" noProof="1">
                <a:solidFill>
                  <a:srgbClr val="5B6472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Instructor: </a:t>
            </a:r>
            <a:r>
              <a:rPr lang="en-US" sz="1250" noProof="1"/>
              <a:t>Nguyễn Đức Lợi – Class: SE2045</a:t>
            </a:r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CAE76E11-B506-6ABF-47A0-2A1064775BAD}"/>
              </a:ext>
            </a:extLst>
          </p:cNvPr>
          <p:cNvSpPr/>
          <p:nvPr/>
        </p:nvSpPr>
        <p:spPr>
          <a:xfrm>
            <a:off x="6720840" y="960120"/>
            <a:ext cx="4663440" cy="4160520"/>
          </a:xfrm>
          <a:prstGeom prst="rect">
            <a:avLst/>
          </a:prstGeom>
          <a:solidFill>
            <a:srgbClr val="FFFFFF">
              <a:alpha val="0"/>
            </a:srgbClr>
          </a:solidFill>
          <a:ln w="19050">
            <a:solidFill>
              <a:srgbClr val="1F77B4"/>
            </a:solidFill>
            <a:prstDash val="solid"/>
          </a:ln>
        </p:spPr>
        <p:txBody>
          <a:bodyPr/>
          <a:lstStyle/>
          <a:p>
            <a:endParaRPr lang="en-US" noProof="1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2123930B-1468-E1A7-5CA0-056350161C80}"/>
              </a:ext>
            </a:extLst>
          </p:cNvPr>
          <p:cNvSpPr/>
          <p:nvPr/>
        </p:nvSpPr>
        <p:spPr>
          <a:xfrm>
            <a:off x="6858000" y="2820924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noProof="1">
                <a:solidFill>
                  <a:srgbClr val="1F77B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INSERT PARKING / BARRIER IMAGE</a:t>
            </a:r>
            <a:endParaRPr lang="en-US" sz="1600" noProof="1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9EAB2052-ABA1-428A-FD20-56C0C5E8A309}"/>
              </a:ext>
            </a:extLst>
          </p:cNvPr>
          <p:cNvSpPr/>
          <p:nvPr/>
        </p:nvSpPr>
        <p:spPr>
          <a:xfrm>
            <a:off x="6903720" y="3204972"/>
            <a:ext cx="4297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noProof="1">
                <a:solidFill>
                  <a:srgbClr val="5B6472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Use a clean image of a parking gate, barrier, or smart parking system.</a:t>
            </a:r>
            <a:endParaRPr lang="en-US" sz="1050" noProof="1"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3F539341-B79E-0DD5-E9CC-260A4790AB51}"/>
              </a:ext>
            </a:extLst>
          </p:cNvPr>
          <p:cNvSpPr/>
          <p:nvPr/>
        </p:nvSpPr>
        <p:spPr>
          <a:xfrm>
            <a:off x="713232" y="6263640"/>
            <a:ext cx="10789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noProof="1">
                <a:solidFill>
                  <a:srgbClr val="7B849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Smart Parking System</a:t>
            </a:r>
            <a:endParaRPr lang="en-US" sz="900" noProof="1"/>
          </a:p>
        </p:txBody>
      </p:sp>
      <p:pic>
        <p:nvPicPr>
          <p:cNvPr id="9" name="Picture 8" descr="44,671 Vehicle Barriers Royalty-Free Images, Stock Photos ...">
            <a:extLst>
              <a:ext uri="{FF2B5EF4-FFF2-40B4-BE49-F238E27FC236}">
                <a16:creationId xmlns:a16="http://schemas.microsoft.com/office/drawing/2014/main" id="{E4B525D6-1824-9936-5878-D9E7F30CEACE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25593" b="7286"/>
          <a:stretch>
            <a:fillRect/>
          </a:stretch>
        </p:blipFill>
        <p:spPr>
          <a:xfrm>
            <a:off x="6782867" y="1005839"/>
            <a:ext cx="4526363" cy="4049239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C8E6CF45-6665-C424-8F35-DB41702B699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" y="4444019"/>
            <a:ext cx="2356685" cy="9205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2079944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Montserra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Roboto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229</TotalTime>
  <Words>4139</Words>
  <Application>Microsoft Office PowerPoint</Application>
  <PresentationFormat>Widescreen</PresentationFormat>
  <Paragraphs>594</Paragraphs>
  <Slides>21</Slides>
  <Notes>21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9" baseType="lpstr">
      <vt:lpstr>Arial</vt:lpstr>
      <vt:lpstr>Cambria Math</vt:lpstr>
      <vt:lpstr>Courier New</vt:lpstr>
      <vt:lpstr>Georgia</vt:lpstr>
      <vt:lpstr>Montserrat</vt:lpstr>
      <vt:lpstr>Roboto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OpenAI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 Smart Parking System with Vehicle Detection and Barrier Control</dc:title>
  <dc:subject>Smart Parking System Presentation</dc:subject>
  <dc:creator>OpenAI</dc:creator>
  <cp:lastModifiedBy>Ryuga Shirakami</cp:lastModifiedBy>
  <cp:revision>523</cp:revision>
  <dcterms:created xsi:type="dcterms:W3CDTF">2026-06-26T06:34:30Z</dcterms:created>
  <dcterms:modified xsi:type="dcterms:W3CDTF">2026-07-18T13:43:30Z</dcterms:modified>
</cp:coreProperties>
</file>