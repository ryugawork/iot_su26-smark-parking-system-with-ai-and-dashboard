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7" r:id="rId13"/>
    <p:sldId id="265" r:id="rId14"/>
    <p:sldId id="268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83" autoAdjust="0"/>
    <p:restoredTop sz="94552" autoAdjust="0"/>
  </p:normalViewPr>
  <p:slideViewPr>
    <p:cSldViewPr snapToGrid="0" snapToObjects="1">
      <p:cViewPr varScale="1">
        <p:scale>
          <a:sx n="57" d="100"/>
          <a:sy n="57" d="100"/>
        </p:scale>
        <p:origin x="10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26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7564-7012-DC00-6C0A-9B4CB004D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A9524-E6B9-4605-6448-9D28C57B2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75F81-A4AE-D9F4-50AE-011275330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1905D-A5CF-6D6C-4C4A-197B0140BD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1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F452F-E252-68EE-0F69-9D334A85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99262-529F-3ED4-0656-30630D06B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919B3-E244-9606-CD70-F07E501D8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56652-7239-2D4B-FF78-C3E0E94B0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26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F4BC-B121-3781-8081-AC569735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49B0A-9C04-84D4-73A6-714380103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E17A2-C641-4C91-3C7D-7AC0AFC7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FF4B-342D-F286-2543-BD88BA3F7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49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9C50-AA79-3502-EEFB-10201212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F9AD7-D86F-8C7F-E18C-42BDB108B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299F7-1DFB-9CB7-A576-2F11B0FC7B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0B4A6-9957-27B8-DEC3-1D2AA9D168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058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Parking System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Vehicle Detection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Barrier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3232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IoT102 Project – Group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553212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Đỗ Thành Triết, Trần Đăng Khoa, Bùi Đình Long</a:t>
            </a:r>
            <a:endParaRPr lang="en-US" sz="1250" b="1" dirty="0"/>
          </a:p>
          <a:p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</a:t>
            </a:r>
            <a:r>
              <a:rPr lang="en-US" sz="1250" dirty="0"/>
              <a:t>Nguyễn </a:t>
            </a:r>
            <a:r>
              <a:rPr lang="en-US" sz="1250"/>
              <a:t>Đức Lợi – Class: SE2045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720840" y="960120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626364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</a:t>
            </a:r>
            <a:endParaRPr lang="en-US" sz="900" dirty="0"/>
          </a:p>
        </p:txBody>
      </p:sp>
      <p:pic>
        <p:nvPicPr>
          <p:cNvPr id="9" name="Picture 8" descr="44,671 Vehicle Barriers Royalty-Free Images, Stock Photos ...">
            <a:extLst>
              <a:ext uri="{FF2B5EF4-FFF2-40B4-BE49-F238E27FC236}">
                <a16:creationId xmlns:a16="http://schemas.microsoft.com/office/drawing/2014/main" id="{34ABDC93-9FC1-DD5A-3C04-797647E789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93" b="7286"/>
          <a:stretch>
            <a:fillRect/>
          </a:stretch>
        </p:blipFill>
        <p:spPr>
          <a:xfrm>
            <a:off x="6782867" y="1005839"/>
            <a:ext cx="4526363" cy="40492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B7053D-E9B6-6809-7A1A-122AF571359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B3E397-EE3F-D7D1-195F-6316A93A5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44019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members and their main roles, sub roles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2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6F1882-743C-6DFB-2881-ABCEC2B96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5" name="Text 2">
            <a:extLst>
              <a:ext uri="{FF2B5EF4-FFF2-40B4-BE49-F238E27FC236}">
                <a16:creationId xmlns:a16="http://schemas.microsoft.com/office/drawing/2014/main" id="{16AD224E-A3C8-59E9-AF5D-EEC4F77DF3EC}"/>
              </a:ext>
            </a:extLst>
          </p:cNvPr>
          <p:cNvSpPr/>
          <p:nvPr/>
        </p:nvSpPr>
        <p:spPr>
          <a:xfrm>
            <a:off x="530352" y="608076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Members: </a:t>
            </a:r>
            <a:r>
              <a:rPr lang="en-US" sz="1250" b="1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Sỹ Minh Mẫn, Đỗ Thành Triết, Trần Đăng Khoa, Bùi Đình Long</a:t>
            </a:r>
            <a:endParaRPr lang="en-US" sz="1250" b="1" dirty="0"/>
          </a:p>
          <a:p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 </a:t>
            </a:r>
            <a:r>
              <a:rPr lang="en-US" sz="1250" dirty="0"/>
              <a:t>Nguyễn Đức Lợi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C1F5E9-FA58-3CD5-ECA8-ADC384D24066}"/>
              </a:ext>
            </a:extLst>
          </p:cNvPr>
          <p:cNvSpPr txBox="1"/>
          <p:nvPr/>
        </p:nvSpPr>
        <p:spPr>
          <a:xfrm>
            <a:off x="487680" y="1338212"/>
            <a:ext cx="57576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SE201643 Bùi </a:t>
            </a:r>
            <a:r>
              <a:rPr lang="en-US" b="1" dirty="0" err="1">
                <a:solidFill>
                  <a:srgbClr val="0070C0"/>
                </a:solidFill>
              </a:rPr>
              <a:t>Đình</a:t>
            </a:r>
            <a:r>
              <a:rPr lang="en-US" b="1" dirty="0">
                <a:solidFill>
                  <a:srgbClr val="0070C0"/>
                </a:solidFill>
              </a:rPr>
              <a:t> Long 	</a:t>
            </a:r>
          </a:p>
          <a:p>
            <a:pPr algn="r"/>
            <a:r>
              <a:rPr lang="en-US" i="1" dirty="0"/>
              <a:t>Hardware &amp; Arduino</a:t>
            </a:r>
          </a:p>
          <a:p>
            <a:pPr algn="r"/>
            <a:r>
              <a:rPr lang="en-US" i="1" dirty="0"/>
              <a:t>Report writing</a:t>
            </a:r>
          </a:p>
          <a:p>
            <a:endParaRPr lang="en-US" dirty="0"/>
          </a:p>
          <a:p>
            <a:r>
              <a:rPr lang="en-US" b="1" dirty="0"/>
              <a:t>SE201632 </a:t>
            </a:r>
            <a:r>
              <a:rPr lang="en-US" b="1" dirty="0" err="1"/>
              <a:t>Đỗ</a:t>
            </a:r>
            <a:r>
              <a:rPr lang="en-US" b="1" dirty="0"/>
              <a:t> Thanh </a:t>
            </a:r>
            <a:r>
              <a:rPr lang="en-US" b="1" dirty="0" err="1"/>
              <a:t>Triết</a:t>
            </a:r>
            <a:endParaRPr lang="en-US" b="1" dirty="0"/>
          </a:p>
          <a:p>
            <a:pPr algn="r"/>
            <a:r>
              <a:rPr lang="en-US" i="1" dirty="0"/>
              <a:t>Hardware &amp; Arduino</a:t>
            </a:r>
          </a:p>
          <a:p>
            <a:pPr algn="r"/>
            <a:r>
              <a:rPr lang="en-US" i="1" dirty="0"/>
              <a:t>Server &amp; Yolo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SE201631 Nguyễn </a:t>
            </a:r>
            <a:r>
              <a:rPr lang="en-US" b="1" dirty="0" err="1"/>
              <a:t>Sỹ</a:t>
            </a:r>
            <a:r>
              <a:rPr lang="en-US" b="1" dirty="0"/>
              <a:t> Minh Mẫn</a:t>
            </a:r>
          </a:p>
          <a:p>
            <a:pPr algn="r"/>
            <a:r>
              <a:rPr lang="en-US" i="1" dirty="0"/>
              <a:t>Web Dashboard &amp; SQL </a:t>
            </a:r>
          </a:p>
          <a:p>
            <a:pPr algn="r"/>
            <a:r>
              <a:rPr lang="en-US" i="1" dirty="0"/>
              <a:t>Server</a:t>
            </a:r>
          </a:p>
          <a:p>
            <a:pPr algn="r"/>
            <a:endParaRPr lang="en-US" dirty="0"/>
          </a:p>
          <a:p>
            <a:r>
              <a:rPr lang="en-US" b="1" dirty="0"/>
              <a:t>SE201635 </a:t>
            </a:r>
            <a:r>
              <a:rPr lang="en-US" b="1" dirty="0" err="1"/>
              <a:t>Trần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Khoa</a:t>
            </a:r>
          </a:p>
          <a:p>
            <a:pPr algn="r"/>
            <a:r>
              <a:rPr lang="en-US" i="1" dirty="0"/>
              <a:t>Web Dashboard &amp; SQL </a:t>
            </a:r>
          </a:p>
          <a:p>
            <a:pPr algn="r"/>
            <a:r>
              <a:rPr lang="en-US" i="1" dirty="0"/>
              <a:t>Report writing</a:t>
            </a:r>
          </a:p>
          <a:p>
            <a:endParaRPr lang="en-US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7DC5212C-AAB7-1F91-2CBE-DDFBA201EA9B}"/>
              </a:ext>
            </a:extLst>
          </p:cNvPr>
          <p:cNvSpPr/>
          <p:nvPr/>
        </p:nvSpPr>
        <p:spPr>
          <a:xfrm>
            <a:off x="6995160" y="1732788"/>
            <a:ext cx="4663440" cy="41605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8DE1EEE-CC08-DC8B-45AB-3CAE47EA7AA9}"/>
              </a:ext>
            </a:extLst>
          </p:cNvPr>
          <p:cNvSpPr/>
          <p:nvPr/>
        </p:nvSpPr>
        <p:spPr>
          <a:xfrm>
            <a:off x="6858000" y="28209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/ BARRIER IMAGE</a:t>
            </a:r>
            <a:endParaRPr lang="en-US" sz="16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A42DD4DF-8574-CF58-2015-B3D574A63523}"/>
              </a:ext>
            </a:extLst>
          </p:cNvPr>
          <p:cNvSpPr/>
          <p:nvPr/>
        </p:nvSpPr>
        <p:spPr>
          <a:xfrm>
            <a:off x="6903720" y="32049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 clean image of a parking gate, barrier, or smart parking system.</a:t>
            </a:r>
            <a:endParaRPr lang="en-US" sz="1050" dirty="0"/>
          </a:p>
        </p:txBody>
      </p:sp>
      <p:pic>
        <p:nvPicPr>
          <p:cNvPr id="27" name="Picture 26" descr="44,671 Vehicle Barriers Royalty-Free Images, Stock Photos ...">
            <a:extLst>
              <a:ext uri="{FF2B5EF4-FFF2-40B4-BE49-F238E27FC236}">
                <a16:creationId xmlns:a16="http://schemas.microsoft.com/office/drawing/2014/main" id="{CAE73288-8493-B9EB-C403-711B18221F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593" b="7286"/>
          <a:stretch>
            <a:fillRect/>
          </a:stretch>
        </p:blipFill>
        <p:spPr>
          <a:xfrm>
            <a:off x="7057187" y="1778507"/>
            <a:ext cx="4526363" cy="4049239"/>
          </a:xfrm>
          <a:prstGeom prst="rect">
            <a:avLst/>
          </a:prstGeom>
        </p:spPr>
      </p:pic>
      <p:sp>
        <p:nvSpPr>
          <p:cNvPr id="28" name="Text 1">
            <a:extLst>
              <a:ext uri="{FF2B5EF4-FFF2-40B4-BE49-F238E27FC236}">
                <a16:creationId xmlns:a16="http://schemas.microsoft.com/office/drawing/2014/main" id="{325FDB6D-D0B2-4283-FA0E-B4C77689DB09}"/>
              </a:ext>
            </a:extLst>
          </p:cNvPr>
          <p:cNvSpPr/>
          <p:nvPr/>
        </p:nvSpPr>
        <p:spPr>
          <a:xfrm>
            <a:off x="4778807" y="1355174"/>
            <a:ext cx="2124913" cy="408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role &amp; sub role</a:t>
            </a:r>
            <a:endParaRPr lang="en-US" sz="125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A1566CCE-831B-2156-F5CE-5F5FFBDA90F8}"/>
              </a:ext>
            </a:extLst>
          </p:cNvPr>
          <p:cNvSpPr/>
          <p:nvPr/>
        </p:nvSpPr>
        <p:spPr>
          <a:xfrm>
            <a:off x="6995160" y="131178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77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IoT102 Project – Group 7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BD235-BA0D-5660-C591-E48628A5E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809201D-52AB-EB83-4196-A7D86AD49096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 / Problem Context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6DC3D2-AF50-7350-ACA1-2442C1C52840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is this system needed?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2DD7025-6C57-DD0E-39C2-F66CF77CC72A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F941954-B725-E012-2C52-2F9DEDCC552D}"/>
              </a:ext>
            </a:extLst>
          </p:cNvPr>
          <p:cNvSpPr/>
          <p:nvPr/>
        </p:nvSpPr>
        <p:spPr>
          <a:xfrm>
            <a:off x="777240" y="1508760"/>
            <a:ext cx="5394960" cy="3794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control is still mostly manual.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Entry and exit checking can be slow.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is limited.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 records are difficult to manage.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and efficiency can be improved.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52A642-D180-C665-FA9D-5974BDABC184}"/>
              </a:ext>
            </a:extLst>
          </p:cNvPr>
          <p:cNvSpPr/>
          <p:nvPr/>
        </p:nvSpPr>
        <p:spPr>
          <a:xfrm>
            <a:off x="777240" y="557784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Therefore, a smart parking system is needed to automate detection, barrier control, and monitoring.</a:t>
            </a:r>
            <a:endParaRPr lang="en-US" sz="17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D9A2074-F1FD-EA9D-1886-81C5A671513E}"/>
              </a:ext>
            </a:extLst>
          </p:cNvPr>
          <p:cNvSpPr/>
          <p:nvPr/>
        </p:nvSpPr>
        <p:spPr>
          <a:xfrm>
            <a:off x="6492240" y="1417320"/>
            <a:ext cx="4983480" cy="3794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3C23AB-9539-3160-95FB-1AB659FF3648}"/>
              </a:ext>
            </a:extLst>
          </p:cNvPr>
          <p:cNvSpPr/>
          <p:nvPr/>
        </p:nvSpPr>
        <p:spPr>
          <a:xfrm>
            <a:off x="6629400" y="30952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PARKING CONTEXT IMAGE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9B270D-3F34-B6D6-467F-714046F0C5B6}"/>
              </a:ext>
            </a:extLst>
          </p:cNvPr>
          <p:cNvSpPr/>
          <p:nvPr/>
        </p:nvSpPr>
        <p:spPr>
          <a:xfrm>
            <a:off x="6675120" y="347929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crowded parking gate, manual checkpoint, or parking entrance.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5EA1F9-F5AB-BBE6-1967-A03F09AB9A92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3</a:t>
            </a:r>
            <a:endParaRPr lang="en-US" sz="850" dirty="0"/>
          </a:p>
        </p:txBody>
      </p:sp>
      <p:pic>
        <p:nvPicPr>
          <p:cNvPr id="12" name="Picture 11" descr="TOP 10 BEST 24 Hour Parking Garage in Annapolis, MD - Updated 2026 -  Quality &amp; Affordability - Yelp">
            <a:extLst>
              <a:ext uri="{FF2B5EF4-FFF2-40B4-BE49-F238E27FC236}">
                <a16:creationId xmlns:a16="http://schemas.microsoft.com/office/drawing/2014/main" id="{99510C22-8209-62DC-E475-43D97A113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941"/>
          <a:stretch>
            <a:fillRect/>
          </a:stretch>
        </p:blipFill>
        <p:spPr>
          <a:xfrm>
            <a:off x="6572250" y="1508760"/>
            <a:ext cx="4842510" cy="3634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DEE5E7-CB53-47F5-9F59-26D76EB85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2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of the Old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parking control creates operational and management problems.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Old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checking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 response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image verification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Difficult record management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dashboard monitoring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 Caused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congestion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error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Weak security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to review incidents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management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 message: the old system lacks automation, storage, and remote monitoring.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4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8B821E-CC90-C740-875D-2CB5EEC5C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 and Key Functions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can the proposed system do?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084832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vehicle by HC-SR04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image by ESP32-CAM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931920" y="1490472"/>
            <a:ext cx="0" cy="329184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2084832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 image to YOLO server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 OPEN/CLOSE decision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0" y="1490472"/>
            <a:ext cx="0" cy="329184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18120" y="2084832"/>
            <a:ext cx="29718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barrier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logs to SQL Server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on dashboard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4892040"/>
            <a:ext cx="1078992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results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43400" y="5178437"/>
            <a:ext cx="69494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gate operation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manual workload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monitoring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security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management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5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69D156-12D4-D183-F1A6-BDC036288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  <p:sp>
        <p:nvSpPr>
          <p:cNvPr id="19" name="Text 1">
            <a:extLst>
              <a:ext uri="{FF2B5EF4-FFF2-40B4-BE49-F238E27FC236}">
                <a16:creationId xmlns:a16="http://schemas.microsoft.com/office/drawing/2014/main" id="{4C3B1BA0-8A95-1107-657D-D0A14E3E4CAF}"/>
              </a:ext>
            </a:extLst>
          </p:cNvPr>
          <p:cNvSpPr/>
          <p:nvPr/>
        </p:nvSpPr>
        <p:spPr>
          <a:xfrm>
            <a:off x="4265630" y="4434759"/>
            <a:ext cx="2971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/>
              <a:t>car, motorcycle, bus and truck</a:t>
            </a:r>
          </a:p>
          <a:p>
            <a:r>
              <a:rPr lang="en-US" sz="1400" i="1" dirty="0"/>
              <a:t>confidence threshold 0.45</a:t>
            </a:r>
          </a:p>
          <a:p>
            <a:endParaRPr lang="en-US" sz="14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Block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modules and communication paths.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720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61004"/>
            <a:ext cx="6446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HARDWARE BLOCK DIAGRAM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45052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Master Arduino, Slave Arduino, HC-SR04, ESP32-CAM, Servo SG90, LCD1602, LED.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2668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26680" y="2057400"/>
            <a:ext cx="370332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Slave handles sensor and camera.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controls output devices.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I2C is used between Master and Slave.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UART is used between Slave and ESP32-CAM.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Servo opens/closes the barrier.</a:t>
            </a:r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LCD is used for debug only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6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61140B-A38D-60F5-58C9-735FC1F10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29855"/>
            <a:ext cx="6472724" cy="38654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B7AA69-F7F5-B933-C4D5-A971A995E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Hardware, AI server, database, and dashboard integration.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53312"/>
            <a:ext cx="10835640" cy="42062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36976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OVERALL SYSTEM ARCHITECTURE DIAGRAM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62102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full architecture diagram showing Device Layer, Server Layer, and Application Layer.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580644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connects embedded hardware, AI image processing, SQL Server database, and a web dashboard.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7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0C498B-2F97-7ED4-7D92-FF1A6AB80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19902"/>
            <a:ext cx="10561320" cy="3891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4DEB5A-CD3A-D23B-CFB1-E4CF4AF2C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Circuit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wiring and electrical connections.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1018520" cy="4800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90772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your final circuit image as PNG/JPG.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8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00ACFD-71CC-7778-8DE7-939AC439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16" y="1426464"/>
            <a:ext cx="10772136" cy="45308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5C3610-92D2-A978-5770-4144C6496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operation from detection to gate control.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C8F556-8934-A902-10FE-5DC43ED56CBE}"/>
              </a:ext>
            </a:extLst>
          </p:cNvPr>
          <p:cNvGrpSpPr/>
          <p:nvPr/>
        </p:nvGrpSpPr>
        <p:grpSpPr>
          <a:xfrm>
            <a:off x="673895" y="1267048"/>
            <a:ext cx="2743200" cy="3803904"/>
            <a:chOff x="8869680" y="1536192"/>
            <a:chExt cx="2743200" cy="3803904"/>
          </a:xfrm>
        </p:grpSpPr>
        <p:sp>
          <p:nvSpPr>
            <p:cNvPr id="8" name="Text 6"/>
            <p:cNvSpPr/>
            <p:nvPr/>
          </p:nvSpPr>
          <p:spPr>
            <a:xfrm>
              <a:off x="8869680" y="1536192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F77B4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Decision logic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887968" y="213969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E7D3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OPEN</a:t>
              </a:r>
              <a:endParaRPr lang="en-US" sz="17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869680" y="2514600"/>
              <a:ext cx="2651760" cy="10058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Open barrier</a:t>
              </a:r>
              <a:endParaRPr lang="en-US" sz="1550" dirty="0"/>
            </a:p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Update LCD</a:t>
              </a:r>
              <a:endParaRPr lang="en-US" sz="1550" dirty="0"/>
            </a:p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log</a:t>
              </a:r>
              <a:endParaRPr lang="en-US" sz="15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8887968" y="3959352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6282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CLOSE</a:t>
              </a:r>
              <a:endParaRPr lang="en-US" sz="17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8869680" y="4334256"/>
              <a:ext cx="2651760" cy="100584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Keep gate closed</a:t>
              </a:r>
              <a:endParaRPr lang="en-US" sz="1550" dirty="0"/>
            </a:p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Show status</a:t>
              </a:r>
              <a:endParaRPr lang="en-US" sz="1550" dirty="0"/>
            </a:p>
            <a:p>
              <a:pPr marL="177800" indent="-177800">
                <a:buSzPct val="100000"/>
                <a:buChar char="•"/>
              </a:pPr>
              <a:r>
                <a:rPr lang="en-US" sz="1550" dirty="0">
                  <a:solidFill>
                    <a:srgbClr val="1A1A1A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Save log</a:t>
              </a:r>
              <a:endParaRPr lang="en-US" sz="155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9</a:t>
            </a:r>
            <a:endParaRPr lang="en-US" sz="8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71B820D-9F6A-ED13-BA9F-E92FC73725CC}"/>
              </a:ext>
            </a:extLst>
          </p:cNvPr>
          <p:cNvGrpSpPr/>
          <p:nvPr/>
        </p:nvGrpSpPr>
        <p:grpSpPr>
          <a:xfrm>
            <a:off x="5167222" y="1195450"/>
            <a:ext cx="6008298" cy="5029198"/>
            <a:chOff x="8107036" y="128016"/>
            <a:chExt cx="3919864" cy="6601968"/>
          </a:xfrm>
        </p:grpSpPr>
        <p:sp>
          <p:nvSpPr>
            <p:cNvPr id="5" name="Shape 3"/>
            <p:cNvSpPr/>
            <p:nvPr/>
          </p:nvSpPr>
          <p:spPr>
            <a:xfrm flipH="1">
              <a:off x="8107036" y="128016"/>
              <a:ext cx="3919864" cy="660196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9050">
              <a:solidFill>
                <a:srgbClr val="1F77B4"/>
              </a:solidFill>
              <a:prstDash val="solid"/>
            </a:ln>
          </p:spPr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E9A458-9BC5-89D8-3C32-351669DD5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8476" y="221856"/>
              <a:ext cx="3721902" cy="6436119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A4B5E3C-1453-E31E-BB60-2F9649D54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4933-0581-C9C9-3F85-121DBEEB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8B6EA9-84E9-4150-3325-B333B1279095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ERD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A5E8256-557B-7D70-E80C-120E1ED5E5B3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Step-by-step operation from detection to gate control.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BCB63A-9E65-D013-DD65-98A045DC5F91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79D8D6E-4D78-6D70-C111-21A14F64B675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10</a:t>
            </a:r>
            <a:endParaRPr lang="en-US" sz="8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B52A22-B25B-51F5-6667-5F63B65BD74F}"/>
              </a:ext>
            </a:extLst>
          </p:cNvPr>
          <p:cNvSpPr/>
          <p:nvPr/>
        </p:nvSpPr>
        <p:spPr>
          <a:xfrm flipH="1">
            <a:off x="5167222" y="1195450"/>
            <a:ext cx="6008298" cy="5029198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A4E7C9-2549-A838-2179-5774C793C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662" y="1328296"/>
            <a:ext cx="5894361" cy="47524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FA41B1-A470-B775-4A0A-763EA693A10F}"/>
              </a:ext>
            </a:extLst>
          </p:cNvPr>
          <p:cNvSpPr txBox="1"/>
          <p:nvPr/>
        </p:nvSpPr>
        <p:spPr>
          <a:xfrm>
            <a:off x="502920" y="1285854"/>
            <a:ext cx="60960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accent5"/>
                </a:solidFill>
              </a:rPr>
              <a:t>Gates</a:t>
            </a:r>
          </a:p>
          <a:p>
            <a:pPr>
              <a:buNone/>
            </a:pPr>
            <a:r>
              <a:rPr lang="en-US" sz="1400" dirty="0"/>
              <a:t>Stores the current status of each parking gate.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Identifies ENTRY and EXIT gates.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Stores the current gate state.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Records the latest </a:t>
            </a:r>
            <a:r>
              <a:rPr lang="en-US" sz="1200" i="1" dirty="0">
                <a:latin typeface="Courier New" panose="02070309020205020404" pitchFamily="49" charset="0"/>
              </a:rPr>
              <a:t>OPEN</a:t>
            </a:r>
            <a:r>
              <a:rPr lang="en-US" sz="1200" i="1" dirty="0"/>
              <a:t> or </a:t>
            </a:r>
            <a:r>
              <a:rPr lang="en-US" sz="1200" i="1" dirty="0">
                <a:latin typeface="Courier New" panose="02070309020205020404" pitchFamily="49" charset="0"/>
              </a:rPr>
              <a:t>CLOSE</a:t>
            </a:r>
            <a:r>
              <a:rPr lang="en-US" sz="1200" i="1" dirty="0"/>
              <a:t> decision.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Tracks the most recent update time.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/>
                </a:solidFill>
              </a:rPr>
              <a:t>Detection Events</a:t>
            </a:r>
          </a:p>
          <a:p>
            <a:pPr>
              <a:buNone/>
            </a:pPr>
            <a:r>
              <a:rPr lang="en-US" sz="1400" dirty="0"/>
              <a:t>Stores the history of every vehicle-detection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Sensor distance and object-detection result.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Raw and YOLO-annotated image paths.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Detected vehicle class and confidence score.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Final gate decision and processing status.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Vehicle count before and after each event.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Error details when processing fails. 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/>
                </a:solidFill>
              </a:rPr>
              <a:t>Parking Occupancy</a:t>
            </a:r>
          </a:p>
          <a:p>
            <a:pPr>
              <a:buNone/>
            </a:pPr>
            <a:r>
              <a:rPr lang="en-US" sz="1400" dirty="0"/>
              <a:t>Stores the current parking-space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Maximum parking capacity.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Current number of vehicles inside.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i="1" dirty="0"/>
              <a:t>Last occupancy update time.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B1DB73-1BA5-BCF4-2C7F-9CE3AD0A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309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Dashboard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 for parking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7442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14096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WEB DASHBOARD SCREENSHOT / MOCKUP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525012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the final dashboard image, or a mockup if the implementation is not finished.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5788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includes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577900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vehicles  •  Entries today  •  Exits today  •  Parking logs  •  Latest captured images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11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7A1791-30B7-FBC1-1BD7-0152B236F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800"/>
          <a:stretch>
            <a:fillRect/>
          </a:stretch>
        </p:blipFill>
        <p:spPr>
          <a:xfrm>
            <a:off x="800100" y="1353312"/>
            <a:ext cx="10591800" cy="4178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6897B2-A190-C30B-DF03-C1FB419B4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A262-3486-6711-E79D-6C0B34B2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5091F1-588D-EDD0-A8A5-705F4775E96E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hardware prototype 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31122F-35B4-BA7E-E9C0-67C3A4B7612C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wiring and functional prototype &amp; demonstrate 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705E8B-BFC1-8322-5AF8-1A4FC49DDEB2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899FD2-D77A-7039-F78E-8208F7CED933}"/>
              </a:ext>
            </a:extLst>
          </p:cNvPr>
          <p:cNvSpPr/>
          <p:nvPr/>
        </p:nvSpPr>
        <p:spPr>
          <a:xfrm>
            <a:off x="731520" y="1325880"/>
            <a:ext cx="10744200" cy="4297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F77B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E11D54-B39B-D817-C75C-E79B5437C515}"/>
              </a:ext>
            </a:extLst>
          </p:cNvPr>
          <p:cNvSpPr/>
          <p:nvPr/>
        </p:nvSpPr>
        <p:spPr>
          <a:xfrm>
            <a:off x="868680" y="3140964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WEB DASHBOARD SCREENSHOT / MOCKUP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B89FE4-AEF4-D370-8203-DD09FAB188F0}"/>
              </a:ext>
            </a:extLst>
          </p:cNvPr>
          <p:cNvSpPr/>
          <p:nvPr/>
        </p:nvSpPr>
        <p:spPr>
          <a:xfrm>
            <a:off x="914400" y="3525012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 the final dashboard image, or a mockup if the implementation is not finished.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191108-3FE1-BBCA-9E81-E9E7753758FA}"/>
              </a:ext>
            </a:extLst>
          </p:cNvPr>
          <p:cNvSpPr/>
          <p:nvPr/>
        </p:nvSpPr>
        <p:spPr>
          <a:xfrm>
            <a:off x="530352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12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2A7D17-02D6-1087-CB48-6643D409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426465"/>
            <a:ext cx="10485120" cy="41056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2EC055-109D-FEA3-96F7-BF3B3CFB4262}"/>
              </a:ext>
            </a:extLst>
          </p:cNvPr>
          <p:cNvSpPr txBox="1"/>
          <p:nvPr/>
        </p:nvSpPr>
        <p:spPr>
          <a:xfrm>
            <a:off x="600075" y="5765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</a:t>
            </a: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includes</a:t>
            </a:r>
            <a:endParaRPr lang="en-US" sz="18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7A45F9E-F279-1CD7-13C1-DF965F0EED4B}"/>
              </a:ext>
            </a:extLst>
          </p:cNvPr>
          <p:cNvSpPr/>
          <p:nvPr/>
        </p:nvSpPr>
        <p:spPr>
          <a:xfrm>
            <a:off x="3429000" y="5779008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module, Slave modules + ESP32-Cam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993B82-F066-1210-1D73-91EC1CF1D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74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3200" b="1" dirty="0"/>
              <a:t>Testing Method and Conditions</a:t>
            </a:r>
            <a:endParaRPr lang="en-US" sz="3000" b="1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Experimental and prototype results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Experimental Results</a:t>
            </a:r>
            <a:endParaRPr lang="en-US" b="1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857816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/>
              <a:t>Total input images: </a:t>
            </a:r>
            <a:r>
              <a:rPr lang="en-US" sz="2000" b="1" dirty="0"/>
              <a:t>146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dirty="0"/>
              <a:t>OPEN</a:t>
            </a:r>
            <a:r>
              <a:rPr lang="en-US" sz="2000" dirty="0"/>
              <a:t> decisions: </a:t>
            </a:r>
            <a:r>
              <a:rPr lang="en-US" sz="2000" b="1" dirty="0"/>
              <a:t>66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dirty="0"/>
              <a:t>CLOSE</a:t>
            </a:r>
            <a:r>
              <a:rPr lang="en-US" sz="2000" dirty="0"/>
              <a:t> decisions: </a:t>
            </a:r>
            <a:r>
              <a:rPr lang="en-US" sz="2000" b="1" dirty="0"/>
              <a:t>80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Positive-sample detection rate: </a:t>
            </a:r>
            <a:r>
              <a:rPr lang="en-US" sz="2000" b="1" dirty="0"/>
              <a:t>45.21%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Miss rate: </a:t>
            </a:r>
            <a:r>
              <a:rPr lang="en-US" sz="2000" b="1" dirty="0"/>
              <a:t>54.79%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Average inference time: </a:t>
            </a:r>
            <a:r>
              <a:rPr lang="en-US" sz="2000" b="1" dirty="0"/>
              <a:t>432.23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Median inference time: </a:t>
            </a:r>
            <a:r>
              <a:rPr lang="en-US" sz="2000" b="1" dirty="0"/>
              <a:t>415.76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Maximum inference time: </a:t>
            </a:r>
            <a:r>
              <a:rPr lang="en-US" sz="2000" b="1" dirty="0"/>
              <a:t>837.82 </a:t>
            </a:r>
            <a:r>
              <a:rPr lang="en-US" sz="2000" b="1" dirty="0" err="1"/>
              <a:t>ms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Mean confidence of accepted detections: </a:t>
            </a:r>
            <a:r>
              <a:rPr lang="en-US" sz="2000" b="1" dirty="0"/>
              <a:t>72.63%</a:t>
            </a:r>
            <a:r>
              <a:rPr lang="en-US" sz="2000" dirty="0"/>
              <a:t> </a:t>
            </a:r>
          </a:p>
          <a:p>
            <a:pPr marL="177800" indent="-177800">
              <a:buSzPct val="100000"/>
              <a:buChar char="•"/>
            </a:pPr>
            <a:r>
              <a:rPr lang="en-US" sz="2000" dirty="0"/>
              <a:t>Accepted classes: </a:t>
            </a:r>
            <a:r>
              <a:rPr lang="en-US" sz="2000" b="1" dirty="0"/>
              <a:t>43 trucks and 23 cars</a:t>
            </a:r>
          </a:p>
          <a:p>
            <a:pPr marL="177800" indent="-177800">
              <a:buSzPct val="100000"/>
              <a:buFontTx/>
              <a:buChar char="•"/>
            </a:pPr>
            <a:r>
              <a:rPr lang="en-US" dirty="0"/>
              <a:t>image size </a:t>
            </a:r>
            <a:r>
              <a:rPr lang="en-US" b="1" dirty="0"/>
              <a:t>640</a:t>
            </a:r>
          </a:p>
          <a:p>
            <a:pPr marL="177800" indent="-177800">
              <a:buSzPct val="100000"/>
              <a:buChar char="•"/>
            </a:pP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90598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9542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YOLO26l annotated result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13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90DE6-08A3-0434-2522-06F27D84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41" y="2320287"/>
            <a:ext cx="3192781" cy="16367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66B35D-B7D6-EF3D-C509-52FC6B6685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818"/>
          <a:stretch>
            <a:fillRect/>
          </a:stretch>
        </p:blipFill>
        <p:spPr>
          <a:xfrm>
            <a:off x="6939543" y="4305300"/>
            <a:ext cx="3192780" cy="1684020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47117CA4-7BF5-DBAA-A293-FDDF9A5D0F16}"/>
              </a:ext>
            </a:extLst>
          </p:cNvPr>
          <p:cNvSpPr/>
          <p:nvPr/>
        </p:nvSpPr>
        <p:spPr>
          <a:xfrm>
            <a:off x="6939541" y="2020824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image: detect car with confident: 0.95</a:t>
            </a:r>
            <a:endParaRPr lang="en-US" sz="12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C0E7620-6603-23F4-52E0-31D33A131A12}"/>
              </a:ext>
            </a:extLst>
          </p:cNvPr>
          <p:cNvSpPr/>
          <p:nvPr/>
        </p:nvSpPr>
        <p:spPr>
          <a:xfrm>
            <a:off x="6939543" y="39898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 income image: detect truck with confident: 0.80</a:t>
            </a:r>
            <a:endParaRPr lang="en-US" sz="125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E8EFA82-9943-F0AF-C626-B0E5D9C9A334}"/>
              </a:ext>
            </a:extLst>
          </p:cNvPr>
          <p:cNvSpPr/>
          <p:nvPr/>
        </p:nvSpPr>
        <p:spPr>
          <a:xfrm>
            <a:off x="6939543" y="1724407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Allowed classes for OPEN: ['bus', 'car', 'motorcycle', 'truck’] </a:t>
            </a:r>
          </a:p>
          <a:p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Confident threshold: 0.45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CCA8AB-8C83-4563-B015-D8959A1B3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C6E70-D580-3452-9E10-0EC04A41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9BD1F4-D93E-89FE-6091-F22E9EB4BF2D}"/>
              </a:ext>
            </a:extLst>
          </p:cNvPr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Benefits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C2EBC8-1AB6-E0A2-8E4C-9CA08666C991}"/>
              </a:ext>
            </a:extLst>
          </p:cNvPr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 technical output and practical value.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CCC94B-5B66-B635-9AD9-D0ECD2BC2153}"/>
              </a:ext>
            </a:extLst>
          </p:cNvPr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5BD503-8C04-F662-F964-2DB3093E1C6C}"/>
              </a:ext>
            </a:extLst>
          </p:cNvPr>
          <p:cNvSpPr/>
          <p:nvPr/>
        </p:nvSpPr>
        <p:spPr>
          <a:xfrm>
            <a:off x="73152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Results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94CB4D-A8AE-F71C-EDCA-9ADC28CC59B2}"/>
              </a:ext>
            </a:extLst>
          </p:cNvPr>
          <p:cNvSpPr/>
          <p:nvPr/>
        </p:nvSpPr>
        <p:spPr>
          <a:xfrm>
            <a:off x="73152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Vehicle detection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capture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processing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Barrier control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logging</a:t>
            </a:r>
            <a:endParaRPr lang="en-US" sz="1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CB1336-00EC-066A-49DD-F47E1835A6CA}"/>
              </a:ext>
            </a:extLst>
          </p:cNvPr>
          <p:cNvSpPr/>
          <p:nvPr/>
        </p:nvSpPr>
        <p:spPr>
          <a:xfrm>
            <a:off x="5989320" y="1463040"/>
            <a:ext cx="0" cy="452628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BF2DD4-1660-6C9A-A827-5C5E9F34D2E1}"/>
              </a:ext>
            </a:extLst>
          </p:cNvPr>
          <p:cNvSpPr/>
          <p:nvPr/>
        </p:nvSpPr>
        <p:spPr>
          <a:xfrm>
            <a:off x="6355080" y="1417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Benefits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D360A4-5197-4CAF-703F-BBA9D7D6F824}"/>
              </a:ext>
            </a:extLst>
          </p:cNvPr>
          <p:cNvSpPr/>
          <p:nvPr/>
        </p:nvSpPr>
        <p:spPr>
          <a:xfrm>
            <a:off x="6355080" y="1920240"/>
            <a:ext cx="4892040" cy="3840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manual work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gate operation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monitoring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security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Easier management</a:t>
            </a:r>
            <a:endParaRPr lang="en-US" sz="1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5286AD-6909-F611-6200-46C2A49FAF13}"/>
              </a:ext>
            </a:extLst>
          </p:cNvPr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14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FADE7D-D596-7288-4400-63E3A7382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6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 and possible improvements.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Low-cost IoT-based parking solution.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sensors, camera, AI server, and dashboard.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automation and monitoring.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0" cy="4251960"/>
          </a:xfrm>
          <a:prstGeom prst="line">
            <a:avLst/>
          </a:prstGeom>
          <a:noFill/>
          <a:ln w="12700">
            <a:solidFill>
              <a:srgbClr val="B9C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7548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License plate recognition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parking slots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deployment</a:t>
            </a:r>
            <a:endParaRPr lang="en-US" sz="1900" dirty="0"/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integration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system provides a practical foundation for smart parking automation and future AI-based expansion.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B849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Parking System  |  15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CECF1D-79CA-F355-5E2B-0B0DF4C6F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4550" y="44112"/>
            <a:ext cx="2356685" cy="920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1049</Words>
  <Application>Microsoft Office PowerPoint</Application>
  <PresentationFormat>Widescreen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Courier New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Smart Parking System with Vehicle Detection and Barrier Control</dc:title>
  <dc:subject>Smart Parking System Presentation</dc:subject>
  <dc:creator>OpenAI</dc:creator>
  <cp:lastModifiedBy>Ryuga Shirakami</cp:lastModifiedBy>
  <cp:revision>184</cp:revision>
  <dcterms:created xsi:type="dcterms:W3CDTF">2026-06-26T06:34:30Z</dcterms:created>
  <dcterms:modified xsi:type="dcterms:W3CDTF">2026-07-16T13:52:03Z</dcterms:modified>
</cp:coreProperties>
</file>